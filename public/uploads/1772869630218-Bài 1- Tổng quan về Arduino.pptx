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handoutMasterIdLst>
    <p:handoutMasterId r:id="rId36"/>
  </p:handoutMasterIdLst>
  <p:sldIdLst>
    <p:sldId id="256" r:id="rId2"/>
    <p:sldId id="268" r:id="rId3"/>
    <p:sldId id="269" r:id="rId4"/>
    <p:sldId id="270" r:id="rId5"/>
    <p:sldId id="271" r:id="rId6"/>
    <p:sldId id="280" r:id="rId7"/>
    <p:sldId id="272" r:id="rId8"/>
    <p:sldId id="286" r:id="rId9"/>
    <p:sldId id="287" r:id="rId10"/>
    <p:sldId id="273" r:id="rId11"/>
    <p:sldId id="293" r:id="rId12"/>
    <p:sldId id="274" r:id="rId13"/>
    <p:sldId id="275" r:id="rId14"/>
    <p:sldId id="282" r:id="rId15"/>
    <p:sldId id="276" r:id="rId16"/>
    <p:sldId id="277" r:id="rId17"/>
    <p:sldId id="278" r:id="rId18"/>
    <p:sldId id="283" r:id="rId19"/>
    <p:sldId id="284" r:id="rId20"/>
    <p:sldId id="285" r:id="rId21"/>
    <p:sldId id="289" r:id="rId22"/>
    <p:sldId id="288" r:id="rId23"/>
    <p:sldId id="291" r:id="rId24"/>
    <p:sldId id="290" r:id="rId25"/>
    <p:sldId id="292" r:id="rId26"/>
    <p:sldId id="298" r:id="rId27"/>
    <p:sldId id="294" r:id="rId28"/>
    <p:sldId id="296" r:id="rId29"/>
    <p:sldId id="295" r:id="rId30"/>
    <p:sldId id="299" r:id="rId31"/>
    <p:sldId id="301" r:id="rId32"/>
    <p:sldId id="300" r:id="rId33"/>
    <p:sldId id="26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1BC3"/>
    <a:srgbClr val="3430AA"/>
    <a:srgbClr val="FF7617"/>
    <a:srgbClr val="C27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60"/>
    <p:restoredTop sz="83658" autoAdjust="0"/>
  </p:normalViewPr>
  <p:slideViewPr>
    <p:cSldViewPr snapToGrid="0" snapToObjects="1">
      <p:cViewPr varScale="1">
        <p:scale>
          <a:sx n="66" d="100"/>
          <a:sy n="66" d="100"/>
        </p:scale>
        <p:origin x="324" y="48"/>
      </p:cViewPr>
      <p:guideLst/>
    </p:cSldViewPr>
  </p:slideViewPr>
  <p:outlineViewPr>
    <p:cViewPr>
      <p:scale>
        <a:sx n="33" d="100"/>
        <a:sy n="33" d="100"/>
      </p:scale>
      <p:origin x="0" y="-9208"/>
    </p:cViewPr>
  </p:outlineViewPr>
  <p:notesTextViewPr>
    <p:cViewPr>
      <p:scale>
        <a:sx n="1" d="1"/>
        <a:sy n="1" d="1"/>
      </p:scale>
      <p:origin x="0" y="0"/>
    </p:cViewPr>
  </p:notesTextViewPr>
  <p:notesViewPr>
    <p:cSldViewPr snapToGrid="0" snapToObjects="1">
      <p:cViewPr varScale="1">
        <p:scale>
          <a:sx n="87" d="100"/>
          <a:sy n="87" d="100"/>
        </p:scale>
        <p:origin x="269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901B2F-D23D-4E22-A83F-94B9E5AF143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EFCB8A-B231-4358-8F4A-5842B04D2169}">
      <dgm:prSet/>
      <dgm:spPr/>
      <dgm:t>
        <a:bodyPr/>
        <a:lstStyle/>
        <a:p>
          <a:r>
            <a:rPr lang="en-US" b="1" dirty="0"/>
            <a:t>1. </a:t>
          </a:r>
          <a:r>
            <a:rPr lang="en-US" b="1" dirty="0" err="1"/>
            <a:t>Giới</a:t>
          </a:r>
          <a:r>
            <a:rPr lang="en-US" b="1" dirty="0"/>
            <a:t> </a:t>
          </a:r>
          <a:r>
            <a:rPr lang="en-US" b="1" dirty="0" err="1"/>
            <a:t>thiệu</a:t>
          </a:r>
          <a:r>
            <a:rPr lang="en-US" b="1" dirty="0"/>
            <a:t> </a:t>
          </a:r>
          <a:r>
            <a:rPr lang="en-US" b="1" dirty="0" err="1"/>
            <a:t>về</a:t>
          </a:r>
          <a:r>
            <a:rPr lang="en-US" b="1" dirty="0"/>
            <a:t> Arduino</a:t>
          </a:r>
          <a:endParaRPr lang="en-US" dirty="0"/>
        </a:p>
      </dgm:t>
    </dgm:pt>
    <dgm:pt modelId="{7B7DB045-2231-41A2-ACC0-18576EF64CDE}" type="parTrans" cxnId="{9AB0E467-BD04-4C87-97F4-C17CBE25178F}">
      <dgm:prSet/>
      <dgm:spPr/>
      <dgm:t>
        <a:bodyPr/>
        <a:lstStyle/>
        <a:p>
          <a:endParaRPr lang="en-US"/>
        </a:p>
      </dgm:t>
    </dgm:pt>
    <dgm:pt modelId="{EABEC492-8CE1-48DC-8E16-DB3085A18B5A}" type="sibTrans" cxnId="{9AB0E467-BD04-4C87-97F4-C17CBE25178F}">
      <dgm:prSet/>
      <dgm:spPr/>
      <dgm:t>
        <a:bodyPr/>
        <a:lstStyle/>
        <a:p>
          <a:endParaRPr lang="en-US"/>
        </a:p>
      </dgm:t>
    </dgm:pt>
    <dgm:pt modelId="{03CF2804-73FE-4C21-BCFD-536FB575F47B}">
      <dgm:prSet/>
      <dgm:spPr/>
      <dgm:t>
        <a:bodyPr/>
        <a:lstStyle/>
        <a:p>
          <a:r>
            <a:rPr lang="en-US" b="1" dirty="0"/>
            <a:t>2. </a:t>
          </a:r>
          <a:r>
            <a:rPr lang="en-US" b="1" dirty="0" err="1"/>
            <a:t>Cấu</a:t>
          </a:r>
          <a:r>
            <a:rPr lang="en-US" b="1" dirty="0"/>
            <a:t> </a:t>
          </a:r>
          <a:r>
            <a:rPr lang="en-US" b="1" dirty="0" err="1"/>
            <a:t>trúc</a:t>
          </a:r>
          <a:r>
            <a:rPr lang="en-US" b="1" dirty="0"/>
            <a:t> </a:t>
          </a:r>
          <a:r>
            <a:rPr lang="en-US" b="1" dirty="0" err="1"/>
            <a:t>bảng</a:t>
          </a:r>
          <a:r>
            <a:rPr lang="en-US" b="1" dirty="0"/>
            <a:t> </a:t>
          </a:r>
          <a:r>
            <a:rPr lang="en-US" b="1" dirty="0" err="1"/>
            <a:t>mạch</a:t>
          </a:r>
          <a:r>
            <a:rPr lang="en-US" b="1" dirty="0"/>
            <a:t> Arduino</a:t>
          </a:r>
          <a:endParaRPr lang="en-US" dirty="0"/>
        </a:p>
      </dgm:t>
    </dgm:pt>
    <dgm:pt modelId="{B07B01C2-F870-42B3-9D99-039D34061B37}" type="parTrans" cxnId="{34ED4FA3-4A3A-462A-BDD1-10039C5E8393}">
      <dgm:prSet/>
      <dgm:spPr/>
      <dgm:t>
        <a:bodyPr/>
        <a:lstStyle/>
        <a:p>
          <a:endParaRPr lang="en-US"/>
        </a:p>
      </dgm:t>
    </dgm:pt>
    <dgm:pt modelId="{94B0BED7-3B96-4BAF-9A56-6EE403F290A4}" type="sibTrans" cxnId="{34ED4FA3-4A3A-462A-BDD1-10039C5E8393}">
      <dgm:prSet/>
      <dgm:spPr/>
      <dgm:t>
        <a:bodyPr/>
        <a:lstStyle/>
        <a:p>
          <a:endParaRPr lang="en-US"/>
        </a:p>
      </dgm:t>
    </dgm:pt>
    <dgm:pt modelId="{1E2CCCA7-DF74-49FD-AD15-94001C622A3A}">
      <dgm:prSet/>
      <dgm:spPr/>
      <dgm:t>
        <a:bodyPr/>
        <a:lstStyle/>
        <a:p>
          <a:r>
            <a:rPr lang="en-US" b="1" dirty="0"/>
            <a:t>3. </a:t>
          </a:r>
          <a:r>
            <a:rPr lang="en-US" b="1" dirty="0" err="1"/>
            <a:t>Hướng</a:t>
          </a:r>
          <a:r>
            <a:rPr lang="en-US" b="1" dirty="0"/>
            <a:t> </a:t>
          </a:r>
          <a:r>
            <a:rPr lang="en-US" b="1" dirty="0" err="1"/>
            <a:t>dẫn</a:t>
          </a:r>
          <a:r>
            <a:rPr lang="en-US" b="1" dirty="0"/>
            <a:t> </a:t>
          </a:r>
          <a:r>
            <a:rPr lang="en-US" b="1" dirty="0" err="1"/>
            <a:t>cài</a:t>
          </a:r>
          <a:r>
            <a:rPr lang="en-US" b="1" dirty="0"/>
            <a:t> </a:t>
          </a:r>
          <a:r>
            <a:rPr lang="en-US" b="1" dirty="0" err="1"/>
            <a:t>đặt</a:t>
          </a:r>
          <a:r>
            <a:rPr lang="en-US" b="1" dirty="0"/>
            <a:t> </a:t>
          </a:r>
          <a:r>
            <a:rPr lang="en-US" b="1" dirty="0" err="1"/>
            <a:t>và</a:t>
          </a:r>
          <a:r>
            <a:rPr lang="en-US" b="1" dirty="0"/>
            <a:t> </a:t>
          </a:r>
          <a:r>
            <a:rPr lang="en-US" b="1" dirty="0" err="1"/>
            <a:t>sử</a:t>
          </a:r>
          <a:r>
            <a:rPr lang="en-US" b="1" dirty="0"/>
            <a:t> </a:t>
          </a:r>
          <a:r>
            <a:rPr lang="en-US" b="1" dirty="0" err="1"/>
            <a:t>dụng</a:t>
          </a:r>
          <a:r>
            <a:rPr lang="en-US" b="1" dirty="0"/>
            <a:t> Arduino IDE</a:t>
          </a:r>
          <a:endParaRPr lang="en-US" dirty="0"/>
        </a:p>
      </dgm:t>
    </dgm:pt>
    <dgm:pt modelId="{CB77C4C7-F0D9-4B3D-A4A4-003556EDFCE7}" type="parTrans" cxnId="{FBBE74E1-2592-4DCA-A82F-EBC630D39758}">
      <dgm:prSet/>
      <dgm:spPr/>
      <dgm:t>
        <a:bodyPr/>
        <a:lstStyle/>
        <a:p>
          <a:endParaRPr lang="en-US"/>
        </a:p>
      </dgm:t>
    </dgm:pt>
    <dgm:pt modelId="{5D380924-6FD5-4505-938A-92C6FC326D6E}" type="sibTrans" cxnId="{FBBE74E1-2592-4DCA-A82F-EBC630D39758}">
      <dgm:prSet/>
      <dgm:spPr/>
      <dgm:t>
        <a:bodyPr/>
        <a:lstStyle/>
        <a:p>
          <a:endParaRPr lang="en-US"/>
        </a:p>
      </dgm:t>
    </dgm:pt>
    <dgm:pt modelId="{F188A677-2047-48DB-9C7A-BCBA78DCA5AB}">
      <dgm:prSet/>
      <dgm:spPr/>
      <dgm:t>
        <a:bodyPr/>
        <a:lstStyle/>
        <a:p>
          <a:r>
            <a:rPr lang="en-US" b="1" dirty="0"/>
            <a:t>4. </a:t>
          </a:r>
          <a:r>
            <a:rPr lang="en-US" b="1" dirty="0" err="1"/>
            <a:t>Hướng</a:t>
          </a:r>
          <a:r>
            <a:rPr lang="en-US" b="1" dirty="0"/>
            <a:t> </a:t>
          </a:r>
          <a:r>
            <a:rPr lang="en-US" b="1" dirty="0" err="1"/>
            <a:t>dẫn</a:t>
          </a:r>
          <a:r>
            <a:rPr lang="en-US" b="1" dirty="0"/>
            <a:t> </a:t>
          </a:r>
          <a:r>
            <a:rPr lang="en-US" b="1" dirty="0" err="1"/>
            <a:t>sử</a:t>
          </a:r>
          <a:r>
            <a:rPr lang="en-US" b="1" dirty="0"/>
            <a:t> </a:t>
          </a:r>
          <a:r>
            <a:rPr lang="en-US" b="1" dirty="0" err="1"/>
            <a:t>dụng</a:t>
          </a:r>
          <a:r>
            <a:rPr lang="en-US" b="1" dirty="0"/>
            <a:t> </a:t>
          </a:r>
          <a:r>
            <a:rPr lang="en-US" b="1" dirty="0" err="1"/>
            <a:t>phần</a:t>
          </a:r>
          <a:r>
            <a:rPr lang="en-US" b="1" dirty="0"/>
            <a:t> </a:t>
          </a:r>
          <a:r>
            <a:rPr lang="en-US" b="1" dirty="0" err="1"/>
            <a:t>mềm</a:t>
          </a:r>
          <a:r>
            <a:rPr lang="en-US" b="1" dirty="0"/>
            <a:t> </a:t>
          </a:r>
          <a:r>
            <a:rPr lang="en-US" b="1" dirty="0" err="1"/>
            <a:t>mô</a:t>
          </a:r>
          <a:r>
            <a:rPr lang="en-US" b="1" dirty="0"/>
            <a:t> </a:t>
          </a:r>
          <a:r>
            <a:rPr lang="en-US" b="1" dirty="0" err="1"/>
            <a:t>phỏng</a:t>
          </a:r>
          <a:r>
            <a:rPr lang="en-US" b="1" dirty="0"/>
            <a:t> Proteus</a:t>
          </a:r>
          <a:endParaRPr lang="en-US" dirty="0"/>
        </a:p>
      </dgm:t>
    </dgm:pt>
    <dgm:pt modelId="{90070474-37C4-4F05-B303-534AFE947B18}" type="parTrans" cxnId="{1A742FBF-461A-4F57-86F0-2748031A7804}">
      <dgm:prSet/>
      <dgm:spPr/>
      <dgm:t>
        <a:bodyPr/>
        <a:lstStyle/>
        <a:p>
          <a:endParaRPr lang="en-US"/>
        </a:p>
      </dgm:t>
    </dgm:pt>
    <dgm:pt modelId="{7FF86063-71D8-4FA6-B99B-8D0B48E42EEE}" type="sibTrans" cxnId="{1A742FBF-461A-4F57-86F0-2748031A7804}">
      <dgm:prSet/>
      <dgm:spPr/>
      <dgm:t>
        <a:bodyPr/>
        <a:lstStyle/>
        <a:p>
          <a:endParaRPr lang="en-US"/>
        </a:p>
      </dgm:t>
    </dgm:pt>
    <dgm:pt modelId="{AF331FF4-063D-4369-B2B1-763B1D8A395D}">
      <dgm:prSet/>
      <dgm:spPr/>
      <dgm:t>
        <a:bodyPr/>
        <a:lstStyle/>
        <a:p>
          <a:r>
            <a:rPr lang="en-US" b="1" dirty="0"/>
            <a:t>5. L</a:t>
          </a:r>
          <a:r>
            <a:rPr lang="vi-VN" b="1" dirty="0">
              <a:latin typeface="Calibri" panose="020F0502020204030204" pitchFamily="34" charset="0"/>
              <a:ea typeface="Calibri" panose="020F0502020204030204" pitchFamily="34" charset="0"/>
              <a:cs typeface="Calibri" panose="020F0502020204030204" pitchFamily="34" charset="0"/>
            </a:rPr>
            <a:t>ập trình và chạy chương trình với Arduino</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8923F10D-C4EE-4C4B-BCEF-553D04FA35E0}" type="parTrans" cxnId="{AF2F8EFA-B4FA-4C50-BE37-7D6EB7207F6E}">
      <dgm:prSet/>
      <dgm:spPr/>
      <dgm:t>
        <a:bodyPr/>
        <a:lstStyle/>
        <a:p>
          <a:endParaRPr lang="en-US"/>
        </a:p>
      </dgm:t>
    </dgm:pt>
    <dgm:pt modelId="{04083932-6EC5-461E-9354-7EA6332ED548}" type="sibTrans" cxnId="{AF2F8EFA-B4FA-4C50-BE37-7D6EB7207F6E}">
      <dgm:prSet/>
      <dgm:spPr/>
      <dgm:t>
        <a:bodyPr/>
        <a:lstStyle/>
        <a:p>
          <a:endParaRPr lang="en-US"/>
        </a:p>
      </dgm:t>
    </dgm:pt>
    <dgm:pt modelId="{21C6B104-2069-40BA-836C-4159A8C3D676}" type="pres">
      <dgm:prSet presAssocID="{5E901B2F-D23D-4E22-A83F-94B9E5AF1437}" presName="linear" presStyleCnt="0">
        <dgm:presLayoutVars>
          <dgm:animLvl val="lvl"/>
          <dgm:resizeHandles val="exact"/>
        </dgm:presLayoutVars>
      </dgm:prSet>
      <dgm:spPr/>
    </dgm:pt>
    <dgm:pt modelId="{CAFCC045-1371-479A-8471-D5F0449EABC6}" type="pres">
      <dgm:prSet presAssocID="{8DEFCB8A-B231-4358-8F4A-5842B04D2169}" presName="parentText" presStyleLbl="node1" presStyleIdx="0" presStyleCnt="5">
        <dgm:presLayoutVars>
          <dgm:chMax val="0"/>
          <dgm:bulletEnabled val="1"/>
        </dgm:presLayoutVars>
      </dgm:prSet>
      <dgm:spPr/>
    </dgm:pt>
    <dgm:pt modelId="{0CE74DFF-0652-4B07-AF24-02671343C8A1}" type="pres">
      <dgm:prSet presAssocID="{EABEC492-8CE1-48DC-8E16-DB3085A18B5A}" presName="spacer" presStyleCnt="0"/>
      <dgm:spPr/>
    </dgm:pt>
    <dgm:pt modelId="{4F1E1F22-3367-4FA0-B09C-F88617B3DA75}" type="pres">
      <dgm:prSet presAssocID="{03CF2804-73FE-4C21-BCFD-536FB575F47B}" presName="parentText" presStyleLbl="node1" presStyleIdx="1" presStyleCnt="5">
        <dgm:presLayoutVars>
          <dgm:chMax val="0"/>
          <dgm:bulletEnabled val="1"/>
        </dgm:presLayoutVars>
      </dgm:prSet>
      <dgm:spPr/>
    </dgm:pt>
    <dgm:pt modelId="{5A60F938-CFF5-412C-B04A-D7E12DFAC17B}" type="pres">
      <dgm:prSet presAssocID="{94B0BED7-3B96-4BAF-9A56-6EE403F290A4}" presName="spacer" presStyleCnt="0"/>
      <dgm:spPr/>
    </dgm:pt>
    <dgm:pt modelId="{4CE0E04F-1E3C-40AE-AC3C-83DDFA047E3B}" type="pres">
      <dgm:prSet presAssocID="{1E2CCCA7-DF74-49FD-AD15-94001C622A3A}" presName="parentText" presStyleLbl="node1" presStyleIdx="2" presStyleCnt="5">
        <dgm:presLayoutVars>
          <dgm:chMax val="0"/>
          <dgm:bulletEnabled val="1"/>
        </dgm:presLayoutVars>
      </dgm:prSet>
      <dgm:spPr/>
    </dgm:pt>
    <dgm:pt modelId="{22C87E1C-12C0-4DBC-8D8A-2BC3333E3711}" type="pres">
      <dgm:prSet presAssocID="{5D380924-6FD5-4505-938A-92C6FC326D6E}" presName="spacer" presStyleCnt="0"/>
      <dgm:spPr/>
    </dgm:pt>
    <dgm:pt modelId="{B651CB5B-B7B5-4DC1-8EC3-C6F2B8EA6F21}" type="pres">
      <dgm:prSet presAssocID="{F188A677-2047-48DB-9C7A-BCBA78DCA5AB}" presName="parentText" presStyleLbl="node1" presStyleIdx="3" presStyleCnt="5">
        <dgm:presLayoutVars>
          <dgm:chMax val="0"/>
          <dgm:bulletEnabled val="1"/>
        </dgm:presLayoutVars>
      </dgm:prSet>
      <dgm:spPr/>
    </dgm:pt>
    <dgm:pt modelId="{60A741A0-BC9B-494A-8190-4490A9736024}" type="pres">
      <dgm:prSet presAssocID="{7FF86063-71D8-4FA6-B99B-8D0B48E42EEE}" presName="spacer" presStyleCnt="0"/>
      <dgm:spPr/>
    </dgm:pt>
    <dgm:pt modelId="{74588846-6D65-499F-B9B7-3040DDFE83C7}" type="pres">
      <dgm:prSet presAssocID="{AF331FF4-063D-4369-B2B1-763B1D8A395D}" presName="parentText" presStyleLbl="node1" presStyleIdx="4" presStyleCnt="5">
        <dgm:presLayoutVars>
          <dgm:chMax val="0"/>
          <dgm:bulletEnabled val="1"/>
        </dgm:presLayoutVars>
      </dgm:prSet>
      <dgm:spPr/>
    </dgm:pt>
  </dgm:ptLst>
  <dgm:cxnLst>
    <dgm:cxn modelId="{1480F043-FD70-4220-A167-3B1A38B58598}" type="presOf" srcId="{1E2CCCA7-DF74-49FD-AD15-94001C622A3A}" destId="{4CE0E04F-1E3C-40AE-AC3C-83DDFA047E3B}" srcOrd="0" destOrd="0" presId="urn:microsoft.com/office/officeart/2005/8/layout/vList2"/>
    <dgm:cxn modelId="{9AB0E467-BD04-4C87-97F4-C17CBE25178F}" srcId="{5E901B2F-D23D-4E22-A83F-94B9E5AF1437}" destId="{8DEFCB8A-B231-4358-8F4A-5842B04D2169}" srcOrd="0" destOrd="0" parTransId="{7B7DB045-2231-41A2-ACC0-18576EF64CDE}" sibTransId="{EABEC492-8CE1-48DC-8E16-DB3085A18B5A}"/>
    <dgm:cxn modelId="{D2B26B87-5715-49D0-8E99-4C8C108ACF98}" type="presOf" srcId="{03CF2804-73FE-4C21-BCFD-536FB575F47B}" destId="{4F1E1F22-3367-4FA0-B09C-F88617B3DA75}" srcOrd="0" destOrd="0" presId="urn:microsoft.com/office/officeart/2005/8/layout/vList2"/>
    <dgm:cxn modelId="{34ED4FA3-4A3A-462A-BDD1-10039C5E8393}" srcId="{5E901B2F-D23D-4E22-A83F-94B9E5AF1437}" destId="{03CF2804-73FE-4C21-BCFD-536FB575F47B}" srcOrd="1" destOrd="0" parTransId="{B07B01C2-F870-42B3-9D99-039D34061B37}" sibTransId="{94B0BED7-3B96-4BAF-9A56-6EE403F290A4}"/>
    <dgm:cxn modelId="{1A742FBF-461A-4F57-86F0-2748031A7804}" srcId="{5E901B2F-D23D-4E22-A83F-94B9E5AF1437}" destId="{F188A677-2047-48DB-9C7A-BCBA78DCA5AB}" srcOrd="3" destOrd="0" parTransId="{90070474-37C4-4F05-B303-534AFE947B18}" sibTransId="{7FF86063-71D8-4FA6-B99B-8D0B48E42EEE}"/>
    <dgm:cxn modelId="{FCC6E1CA-CD8D-4313-85C2-B4E28CC22FDC}" type="presOf" srcId="{8DEFCB8A-B231-4358-8F4A-5842B04D2169}" destId="{CAFCC045-1371-479A-8471-D5F0449EABC6}" srcOrd="0" destOrd="0" presId="urn:microsoft.com/office/officeart/2005/8/layout/vList2"/>
    <dgm:cxn modelId="{F6D8CCD8-B90F-403D-A58D-3DD5DDEBABBF}" type="presOf" srcId="{F188A677-2047-48DB-9C7A-BCBA78DCA5AB}" destId="{B651CB5B-B7B5-4DC1-8EC3-C6F2B8EA6F21}" srcOrd="0" destOrd="0" presId="urn:microsoft.com/office/officeart/2005/8/layout/vList2"/>
    <dgm:cxn modelId="{1F9BFADB-1477-443F-A400-64B3DDCA36C8}" type="presOf" srcId="{5E901B2F-D23D-4E22-A83F-94B9E5AF1437}" destId="{21C6B104-2069-40BA-836C-4159A8C3D676}" srcOrd="0" destOrd="0" presId="urn:microsoft.com/office/officeart/2005/8/layout/vList2"/>
    <dgm:cxn modelId="{FBBE74E1-2592-4DCA-A82F-EBC630D39758}" srcId="{5E901B2F-D23D-4E22-A83F-94B9E5AF1437}" destId="{1E2CCCA7-DF74-49FD-AD15-94001C622A3A}" srcOrd="2" destOrd="0" parTransId="{CB77C4C7-F0D9-4B3D-A4A4-003556EDFCE7}" sibTransId="{5D380924-6FD5-4505-938A-92C6FC326D6E}"/>
    <dgm:cxn modelId="{8F740AEB-2E6D-4ABC-8A31-18702F35E4DB}" type="presOf" srcId="{AF331FF4-063D-4369-B2B1-763B1D8A395D}" destId="{74588846-6D65-499F-B9B7-3040DDFE83C7}" srcOrd="0" destOrd="0" presId="urn:microsoft.com/office/officeart/2005/8/layout/vList2"/>
    <dgm:cxn modelId="{AF2F8EFA-B4FA-4C50-BE37-7D6EB7207F6E}" srcId="{5E901B2F-D23D-4E22-A83F-94B9E5AF1437}" destId="{AF331FF4-063D-4369-B2B1-763B1D8A395D}" srcOrd="4" destOrd="0" parTransId="{8923F10D-C4EE-4C4B-BCEF-553D04FA35E0}" sibTransId="{04083932-6EC5-461E-9354-7EA6332ED548}"/>
    <dgm:cxn modelId="{615BC89A-ABA3-4B99-AD3B-FE3A94872262}" type="presParOf" srcId="{21C6B104-2069-40BA-836C-4159A8C3D676}" destId="{CAFCC045-1371-479A-8471-D5F0449EABC6}" srcOrd="0" destOrd="0" presId="urn:microsoft.com/office/officeart/2005/8/layout/vList2"/>
    <dgm:cxn modelId="{B71F4824-6C1D-43EA-824F-8B7E537FEA72}" type="presParOf" srcId="{21C6B104-2069-40BA-836C-4159A8C3D676}" destId="{0CE74DFF-0652-4B07-AF24-02671343C8A1}" srcOrd="1" destOrd="0" presId="urn:microsoft.com/office/officeart/2005/8/layout/vList2"/>
    <dgm:cxn modelId="{E5321AB2-895E-4643-92BD-5133380375DF}" type="presParOf" srcId="{21C6B104-2069-40BA-836C-4159A8C3D676}" destId="{4F1E1F22-3367-4FA0-B09C-F88617B3DA75}" srcOrd="2" destOrd="0" presId="urn:microsoft.com/office/officeart/2005/8/layout/vList2"/>
    <dgm:cxn modelId="{A9B5C502-53F3-41A5-BEE2-646713DA5CC7}" type="presParOf" srcId="{21C6B104-2069-40BA-836C-4159A8C3D676}" destId="{5A60F938-CFF5-412C-B04A-D7E12DFAC17B}" srcOrd="3" destOrd="0" presId="urn:microsoft.com/office/officeart/2005/8/layout/vList2"/>
    <dgm:cxn modelId="{51F7A40E-0007-4CFC-BE94-2B05AC8C91B7}" type="presParOf" srcId="{21C6B104-2069-40BA-836C-4159A8C3D676}" destId="{4CE0E04F-1E3C-40AE-AC3C-83DDFA047E3B}" srcOrd="4" destOrd="0" presId="urn:microsoft.com/office/officeart/2005/8/layout/vList2"/>
    <dgm:cxn modelId="{C7661E69-5E6D-4113-B2CB-E40079BF07DD}" type="presParOf" srcId="{21C6B104-2069-40BA-836C-4159A8C3D676}" destId="{22C87E1C-12C0-4DBC-8D8A-2BC3333E3711}" srcOrd="5" destOrd="0" presId="urn:microsoft.com/office/officeart/2005/8/layout/vList2"/>
    <dgm:cxn modelId="{B2F14A6F-163D-44C4-A3E6-AD7CDF7D4AC2}" type="presParOf" srcId="{21C6B104-2069-40BA-836C-4159A8C3D676}" destId="{B651CB5B-B7B5-4DC1-8EC3-C6F2B8EA6F21}" srcOrd="6" destOrd="0" presId="urn:microsoft.com/office/officeart/2005/8/layout/vList2"/>
    <dgm:cxn modelId="{24742F1D-0A23-418A-A4AD-EFF590A915BA}" type="presParOf" srcId="{21C6B104-2069-40BA-836C-4159A8C3D676}" destId="{60A741A0-BC9B-494A-8190-4490A9736024}" srcOrd="7" destOrd="0" presId="urn:microsoft.com/office/officeart/2005/8/layout/vList2"/>
    <dgm:cxn modelId="{64EF5E5C-A3AC-4AC2-89BB-5E22FED87BB5}" type="presParOf" srcId="{21C6B104-2069-40BA-836C-4159A8C3D676}" destId="{74588846-6D65-499F-B9B7-3040DDFE83C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CC045-1371-479A-8471-D5F0449EABC6}">
      <dsp:nvSpPr>
        <dsp:cNvPr id="0" name=""/>
        <dsp:cNvSpPr/>
      </dsp:nvSpPr>
      <dsp:spPr>
        <a:xfrm>
          <a:off x="0" y="166833"/>
          <a:ext cx="114300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1. </a:t>
          </a:r>
          <a:r>
            <a:rPr lang="en-US" sz="3900" b="1" kern="1200" dirty="0" err="1"/>
            <a:t>Giới</a:t>
          </a:r>
          <a:r>
            <a:rPr lang="en-US" sz="3900" b="1" kern="1200" dirty="0"/>
            <a:t> </a:t>
          </a:r>
          <a:r>
            <a:rPr lang="en-US" sz="3900" b="1" kern="1200" dirty="0" err="1"/>
            <a:t>thiệu</a:t>
          </a:r>
          <a:r>
            <a:rPr lang="en-US" sz="3900" b="1" kern="1200" dirty="0"/>
            <a:t> </a:t>
          </a:r>
          <a:r>
            <a:rPr lang="en-US" sz="3900" b="1" kern="1200" dirty="0" err="1"/>
            <a:t>về</a:t>
          </a:r>
          <a:r>
            <a:rPr lang="en-US" sz="3900" b="1" kern="1200" dirty="0"/>
            <a:t> Arduino</a:t>
          </a:r>
          <a:endParaRPr lang="en-US" sz="3900" kern="1200" dirty="0"/>
        </a:p>
      </dsp:txBody>
      <dsp:txXfrm>
        <a:off x="45663" y="212496"/>
        <a:ext cx="11338674" cy="844089"/>
      </dsp:txXfrm>
    </dsp:sp>
    <dsp:sp modelId="{4F1E1F22-3367-4FA0-B09C-F88617B3DA75}">
      <dsp:nvSpPr>
        <dsp:cNvPr id="0" name=""/>
        <dsp:cNvSpPr/>
      </dsp:nvSpPr>
      <dsp:spPr>
        <a:xfrm>
          <a:off x="0" y="1214568"/>
          <a:ext cx="114300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2. </a:t>
          </a:r>
          <a:r>
            <a:rPr lang="en-US" sz="3900" b="1" kern="1200" dirty="0" err="1"/>
            <a:t>Cấu</a:t>
          </a:r>
          <a:r>
            <a:rPr lang="en-US" sz="3900" b="1" kern="1200" dirty="0"/>
            <a:t> </a:t>
          </a:r>
          <a:r>
            <a:rPr lang="en-US" sz="3900" b="1" kern="1200" dirty="0" err="1"/>
            <a:t>trúc</a:t>
          </a:r>
          <a:r>
            <a:rPr lang="en-US" sz="3900" b="1" kern="1200" dirty="0"/>
            <a:t> </a:t>
          </a:r>
          <a:r>
            <a:rPr lang="en-US" sz="3900" b="1" kern="1200" dirty="0" err="1"/>
            <a:t>bảng</a:t>
          </a:r>
          <a:r>
            <a:rPr lang="en-US" sz="3900" b="1" kern="1200" dirty="0"/>
            <a:t> </a:t>
          </a:r>
          <a:r>
            <a:rPr lang="en-US" sz="3900" b="1" kern="1200" dirty="0" err="1"/>
            <a:t>mạch</a:t>
          </a:r>
          <a:r>
            <a:rPr lang="en-US" sz="3900" b="1" kern="1200" dirty="0"/>
            <a:t> Arduino</a:t>
          </a:r>
          <a:endParaRPr lang="en-US" sz="3900" kern="1200" dirty="0"/>
        </a:p>
      </dsp:txBody>
      <dsp:txXfrm>
        <a:off x="45663" y="1260231"/>
        <a:ext cx="11338674" cy="844089"/>
      </dsp:txXfrm>
    </dsp:sp>
    <dsp:sp modelId="{4CE0E04F-1E3C-40AE-AC3C-83DDFA047E3B}">
      <dsp:nvSpPr>
        <dsp:cNvPr id="0" name=""/>
        <dsp:cNvSpPr/>
      </dsp:nvSpPr>
      <dsp:spPr>
        <a:xfrm>
          <a:off x="0" y="2262303"/>
          <a:ext cx="114300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3. </a:t>
          </a:r>
          <a:r>
            <a:rPr lang="en-US" sz="3900" b="1" kern="1200" dirty="0" err="1"/>
            <a:t>Hướng</a:t>
          </a:r>
          <a:r>
            <a:rPr lang="en-US" sz="3900" b="1" kern="1200" dirty="0"/>
            <a:t> </a:t>
          </a:r>
          <a:r>
            <a:rPr lang="en-US" sz="3900" b="1" kern="1200" dirty="0" err="1"/>
            <a:t>dẫn</a:t>
          </a:r>
          <a:r>
            <a:rPr lang="en-US" sz="3900" b="1" kern="1200" dirty="0"/>
            <a:t> </a:t>
          </a:r>
          <a:r>
            <a:rPr lang="en-US" sz="3900" b="1" kern="1200" dirty="0" err="1"/>
            <a:t>cài</a:t>
          </a:r>
          <a:r>
            <a:rPr lang="en-US" sz="3900" b="1" kern="1200" dirty="0"/>
            <a:t> </a:t>
          </a:r>
          <a:r>
            <a:rPr lang="en-US" sz="3900" b="1" kern="1200" dirty="0" err="1"/>
            <a:t>đặt</a:t>
          </a:r>
          <a:r>
            <a:rPr lang="en-US" sz="3900" b="1" kern="1200" dirty="0"/>
            <a:t> </a:t>
          </a:r>
          <a:r>
            <a:rPr lang="en-US" sz="3900" b="1" kern="1200" dirty="0" err="1"/>
            <a:t>và</a:t>
          </a:r>
          <a:r>
            <a:rPr lang="en-US" sz="3900" b="1" kern="1200" dirty="0"/>
            <a:t> </a:t>
          </a:r>
          <a:r>
            <a:rPr lang="en-US" sz="3900" b="1" kern="1200" dirty="0" err="1"/>
            <a:t>sử</a:t>
          </a:r>
          <a:r>
            <a:rPr lang="en-US" sz="3900" b="1" kern="1200" dirty="0"/>
            <a:t> </a:t>
          </a:r>
          <a:r>
            <a:rPr lang="en-US" sz="3900" b="1" kern="1200" dirty="0" err="1"/>
            <a:t>dụng</a:t>
          </a:r>
          <a:r>
            <a:rPr lang="en-US" sz="3900" b="1" kern="1200" dirty="0"/>
            <a:t> Arduino IDE</a:t>
          </a:r>
          <a:endParaRPr lang="en-US" sz="3900" kern="1200" dirty="0"/>
        </a:p>
      </dsp:txBody>
      <dsp:txXfrm>
        <a:off x="45663" y="2307966"/>
        <a:ext cx="11338674" cy="844089"/>
      </dsp:txXfrm>
    </dsp:sp>
    <dsp:sp modelId="{B651CB5B-B7B5-4DC1-8EC3-C6F2B8EA6F21}">
      <dsp:nvSpPr>
        <dsp:cNvPr id="0" name=""/>
        <dsp:cNvSpPr/>
      </dsp:nvSpPr>
      <dsp:spPr>
        <a:xfrm>
          <a:off x="0" y="3310038"/>
          <a:ext cx="114300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4. </a:t>
          </a:r>
          <a:r>
            <a:rPr lang="en-US" sz="3900" b="1" kern="1200" dirty="0" err="1"/>
            <a:t>Hướng</a:t>
          </a:r>
          <a:r>
            <a:rPr lang="en-US" sz="3900" b="1" kern="1200" dirty="0"/>
            <a:t> </a:t>
          </a:r>
          <a:r>
            <a:rPr lang="en-US" sz="3900" b="1" kern="1200" dirty="0" err="1"/>
            <a:t>dẫn</a:t>
          </a:r>
          <a:r>
            <a:rPr lang="en-US" sz="3900" b="1" kern="1200" dirty="0"/>
            <a:t> </a:t>
          </a:r>
          <a:r>
            <a:rPr lang="en-US" sz="3900" b="1" kern="1200" dirty="0" err="1"/>
            <a:t>sử</a:t>
          </a:r>
          <a:r>
            <a:rPr lang="en-US" sz="3900" b="1" kern="1200" dirty="0"/>
            <a:t> </a:t>
          </a:r>
          <a:r>
            <a:rPr lang="en-US" sz="3900" b="1" kern="1200" dirty="0" err="1"/>
            <a:t>dụng</a:t>
          </a:r>
          <a:r>
            <a:rPr lang="en-US" sz="3900" b="1" kern="1200" dirty="0"/>
            <a:t> </a:t>
          </a:r>
          <a:r>
            <a:rPr lang="en-US" sz="3900" b="1" kern="1200" dirty="0" err="1"/>
            <a:t>phần</a:t>
          </a:r>
          <a:r>
            <a:rPr lang="en-US" sz="3900" b="1" kern="1200" dirty="0"/>
            <a:t> </a:t>
          </a:r>
          <a:r>
            <a:rPr lang="en-US" sz="3900" b="1" kern="1200" dirty="0" err="1"/>
            <a:t>mềm</a:t>
          </a:r>
          <a:r>
            <a:rPr lang="en-US" sz="3900" b="1" kern="1200" dirty="0"/>
            <a:t> </a:t>
          </a:r>
          <a:r>
            <a:rPr lang="en-US" sz="3900" b="1" kern="1200" dirty="0" err="1"/>
            <a:t>mô</a:t>
          </a:r>
          <a:r>
            <a:rPr lang="en-US" sz="3900" b="1" kern="1200" dirty="0"/>
            <a:t> </a:t>
          </a:r>
          <a:r>
            <a:rPr lang="en-US" sz="3900" b="1" kern="1200" dirty="0" err="1"/>
            <a:t>phỏng</a:t>
          </a:r>
          <a:r>
            <a:rPr lang="en-US" sz="3900" b="1" kern="1200" dirty="0"/>
            <a:t> Proteus</a:t>
          </a:r>
          <a:endParaRPr lang="en-US" sz="3900" kern="1200" dirty="0"/>
        </a:p>
      </dsp:txBody>
      <dsp:txXfrm>
        <a:off x="45663" y="3355701"/>
        <a:ext cx="11338674" cy="844089"/>
      </dsp:txXfrm>
    </dsp:sp>
    <dsp:sp modelId="{74588846-6D65-499F-B9B7-3040DDFE83C7}">
      <dsp:nvSpPr>
        <dsp:cNvPr id="0" name=""/>
        <dsp:cNvSpPr/>
      </dsp:nvSpPr>
      <dsp:spPr>
        <a:xfrm>
          <a:off x="0" y="4357774"/>
          <a:ext cx="114300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5. L</a:t>
          </a:r>
          <a:r>
            <a:rPr lang="vi-VN" sz="3900" b="1" kern="1200" dirty="0">
              <a:latin typeface="Calibri" panose="020F0502020204030204" pitchFamily="34" charset="0"/>
              <a:ea typeface="Calibri" panose="020F0502020204030204" pitchFamily="34" charset="0"/>
              <a:cs typeface="Calibri" panose="020F0502020204030204" pitchFamily="34" charset="0"/>
            </a:rPr>
            <a:t>ập trình và chạy chương trình với Arduino</a:t>
          </a:r>
          <a:endParaRPr lang="en-US" sz="3900" kern="1200" dirty="0">
            <a:latin typeface="Calibri" panose="020F0502020204030204" pitchFamily="34" charset="0"/>
            <a:ea typeface="Calibri" panose="020F0502020204030204" pitchFamily="34" charset="0"/>
            <a:cs typeface="Calibri" panose="020F0502020204030204" pitchFamily="34" charset="0"/>
          </a:endParaRPr>
        </a:p>
      </dsp:txBody>
      <dsp:txXfrm>
        <a:off x="45663" y="4403437"/>
        <a:ext cx="11338674" cy="8440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9B3D1D-70E8-0003-C571-EC168D13AA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ABFE63B2-B748-58EA-2C59-7B8A39FFB2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30246C-F8BD-D54D-A16C-6D015C8EA6F5}" type="datetimeFigureOut">
              <a:t>10/05/2025</a:t>
            </a:fld>
            <a:endParaRPr lang="en-VN"/>
          </a:p>
        </p:txBody>
      </p:sp>
      <p:sp>
        <p:nvSpPr>
          <p:cNvPr id="4" name="Footer Placeholder 3">
            <a:extLst>
              <a:ext uri="{FF2B5EF4-FFF2-40B4-BE49-F238E27FC236}">
                <a16:creationId xmlns:a16="http://schemas.microsoft.com/office/drawing/2014/main" id="{02A93E61-8D52-2D00-FF27-21FAB2A985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CS703023-Computer Achitecture</a:t>
            </a:r>
            <a:endParaRPr lang="en-VN"/>
          </a:p>
        </p:txBody>
      </p:sp>
      <p:sp>
        <p:nvSpPr>
          <p:cNvPr id="5" name="Slide Number Placeholder 4">
            <a:extLst>
              <a:ext uri="{FF2B5EF4-FFF2-40B4-BE49-F238E27FC236}">
                <a16:creationId xmlns:a16="http://schemas.microsoft.com/office/drawing/2014/main" id="{23A147E0-312E-7809-688B-14B400060F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778C92-35C0-6E45-A9D1-CFD03D318A9B}" type="slidenum">
              <a:t>‹#›</a:t>
            </a:fld>
            <a:endParaRPr lang="en-VN"/>
          </a:p>
        </p:txBody>
      </p:sp>
    </p:spTree>
    <p:extLst>
      <p:ext uri="{BB962C8B-B14F-4D97-AF65-F5344CB8AC3E}">
        <p14:creationId xmlns:p14="http://schemas.microsoft.com/office/powerpoint/2010/main" val="77064483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B089A2-F8F5-0544-8114-DF290E663C1E}" type="datetimeFigureOut">
              <a:t>10/05/2025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CS703023-Computer Achitecture</a:t>
            </a:r>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3F4A65-186F-844C-A6F0-7DDCAB60B659}" type="slidenum">
              <a:t>‹#›</a:t>
            </a:fld>
            <a:endParaRPr lang="en-VN"/>
          </a:p>
        </p:txBody>
      </p:sp>
    </p:spTree>
    <p:extLst>
      <p:ext uri="{BB962C8B-B14F-4D97-AF65-F5344CB8AC3E}">
        <p14:creationId xmlns:p14="http://schemas.microsoft.com/office/powerpoint/2010/main" val="64892392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rduino.vn/reference/xung-pw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arduino.vn/reference/xung-pw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Arduino phát triển thông qua việc cho phép người dùng trên toàn thế giới có thể xây dựng, phát triển và đóng góp vào dự án.</a:t>
            </a:r>
          </a:p>
          <a:p>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4</a:t>
            </a:fld>
            <a:endParaRPr lang="en-US"/>
          </a:p>
        </p:txBody>
      </p:sp>
    </p:spTree>
    <p:extLst>
      <p:ext uri="{BB962C8B-B14F-4D97-AF65-F5344CB8AC3E}">
        <p14:creationId xmlns:p14="http://schemas.microsoft.com/office/powerpoint/2010/main" val="1259368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dirty="0"/>
              <a:t>ICSP pin</a:t>
            </a:r>
            <a:r>
              <a:rPr lang="vi-VN" sz="1200" dirty="0"/>
              <a:t> viết tắt của In Circuit Serial Programming. </a:t>
            </a:r>
            <a:endParaRPr lang="en-US" sz="1200" dirty="0"/>
          </a:p>
          <a:p>
            <a:pPr marL="0" indent="0">
              <a:buNone/>
            </a:pPr>
            <a:r>
              <a:rPr lang="vi-VN" sz="1200" dirty="0"/>
              <a:t>Đó là chân lập trình nối tiếp cho phép người lập trình sử dụng một vài phương thức có sẵn trong firmware của Arduino.</a:t>
            </a:r>
          </a:p>
          <a:p>
            <a:r>
              <a:rPr lang="vi-VN" sz="1200" b="1" dirty="0"/>
              <a:t>Power LED Indicator</a:t>
            </a:r>
            <a:r>
              <a:rPr lang="vi-VN" sz="1200" dirty="0"/>
              <a:t> báo nguồn của Arduino. Đèn sáng thì có nguồn, đèn tắt thì mất nguồn.</a:t>
            </a:r>
          </a:p>
          <a:p>
            <a:r>
              <a:rPr lang="vi-VN" sz="1200" b="1" dirty="0"/>
              <a:t>Digital I/O pins</a:t>
            </a:r>
            <a:r>
              <a:rPr lang="vi-VN" sz="1200" dirty="0"/>
              <a:t> là những chân có giá trị nhị phân: HIGH (1) hoặc LOW (0). Có các chân từ D0 đến D13. Một số chân có thể xuất </a:t>
            </a:r>
            <a:r>
              <a:rPr lang="vi-VN" sz="1200" dirty="0">
                <a:hlinkClick r:id="rId3"/>
              </a:rPr>
              <a:t>xung PWM</a:t>
            </a:r>
            <a:r>
              <a:rPr lang="vi-VN" sz="1200" dirty="0"/>
              <a:t> là ~D3, ~ D5, ~ D6, ~ D9, ~ D10, ~ D11.</a:t>
            </a:r>
          </a:p>
          <a:p>
            <a:r>
              <a:rPr lang="en-US" sz="1400" b="1" dirty="0"/>
              <a:t>TX and RX LED’s</a:t>
            </a:r>
            <a:r>
              <a:rPr lang="en-US" sz="1400" dirty="0"/>
              <a:t> </a:t>
            </a:r>
            <a:r>
              <a:rPr lang="en-US" sz="1400" dirty="0" err="1"/>
              <a:t>báo</a:t>
            </a:r>
            <a:r>
              <a:rPr lang="en-US" sz="1400" dirty="0"/>
              <a:t> </a:t>
            </a:r>
            <a:r>
              <a:rPr lang="en-US" sz="1400" dirty="0" err="1"/>
              <a:t>có</a:t>
            </a:r>
            <a:r>
              <a:rPr lang="en-US" sz="1400" dirty="0"/>
              <a:t> </a:t>
            </a:r>
            <a:r>
              <a:rPr lang="en-US" sz="1400" dirty="0" err="1"/>
              <a:t>luồng</a:t>
            </a:r>
            <a:r>
              <a:rPr lang="en-US" sz="1400" dirty="0"/>
              <a:t> </a:t>
            </a:r>
            <a:r>
              <a:rPr lang="en-US" sz="1400" dirty="0" err="1"/>
              <a:t>dữ</a:t>
            </a:r>
            <a:r>
              <a:rPr lang="en-US" sz="1400" dirty="0"/>
              <a:t> </a:t>
            </a:r>
            <a:r>
              <a:rPr lang="en-US" sz="1400" dirty="0" err="1"/>
              <a:t>liệu</a:t>
            </a:r>
            <a:r>
              <a:rPr lang="en-US" sz="1400" dirty="0"/>
              <a:t> </a:t>
            </a:r>
            <a:r>
              <a:rPr lang="en-US" sz="1400" b="1" dirty="0" err="1"/>
              <a:t>truyền</a:t>
            </a:r>
            <a:r>
              <a:rPr lang="en-US" sz="1400" b="1" dirty="0"/>
              <a:t> (Transmit – TX)</a:t>
            </a:r>
            <a:r>
              <a:rPr lang="en-US" sz="1400" dirty="0"/>
              <a:t> </a:t>
            </a:r>
            <a:r>
              <a:rPr lang="en-US" sz="1400" dirty="0" err="1"/>
              <a:t>và</a:t>
            </a:r>
            <a:r>
              <a:rPr lang="en-US" sz="1400" dirty="0"/>
              <a:t> </a:t>
            </a:r>
            <a:r>
              <a:rPr lang="en-US" sz="1400" b="1" dirty="0" err="1"/>
              <a:t>nhận</a:t>
            </a:r>
            <a:r>
              <a:rPr lang="en-US" sz="1400" b="1" dirty="0"/>
              <a:t> (Receive – RX)</a:t>
            </a:r>
            <a:r>
              <a:rPr lang="en-US" sz="1400" dirty="0"/>
              <a:t> </a:t>
            </a:r>
            <a:r>
              <a:rPr lang="en-US" sz="1400" dirty="0" err="1"/>
              <a:t>của</a:t>
            </a:r>
            <a:r>
              <a:rPr lang="en-US" sz="1400" dirty="0"/>
              <a:t> Arduino qua </a:t>
            </a:r>
            <a:r>
              <a:rPr lang="en-US" sz="1400" dirty="0" err="1"/>
              <a:t>cổng</a:t>
            </a:r>
            <a:r>
              <a:rPr lang="en-US" sz="1400" dirty="0"/>
              <a:t> </a:t>
            </a:r>
            <a:r>
              <a:rPr lang="en-US" sz="1400" dirty="0" err="1"/>
              <a:t>nối</a:t>
            </a:r>
            <a:r>
              <a:rPr lang="en-US" sz="1400" dirty="0"/>
              <a:t> </a:t>
            </a:r>
            <a:r>
              <a:rPr lang="en-US" sz="1400" dirty="0" err="1"/>
              <a:t>tiếp</a:t>
            </a:r>
            <a:r>
              <a:rPr lang="en-US" sz="1400" dirty="0"/>
              <a:t> (Serial) </a:t>
            </a:r>
            <a:r>
              <a:rPr lang="en-US" sz="1400" dirty="0" err="1"/>
              <a:t>với</a:t>
            </a:r>
            <a:r>
              <a:rPr lang="en-US" sz="1400" dirty="0"/>
              <a:t> </a:t>
            </a:r>
            <a:r>
              <a:rPr lang="en-US" sz="1400" dirty="0" err="1"/>
              <a:t>các</a:t>
            </a:r>
            <a:r>
              <a:rPr lang="en-US" sz="1400" dirty="0"/>
              <a:t> </a:t>
            </a:r>
            <a:r>
              <a:rPr lang="en-US" sz="1400" dirty="0" err="1"/>
              <a:t>thiết</a:t>
            </a:r>
            <a:r>
              <a:rPr lang="en-US" sz="1400" dirty="0"/>
              <a:t> </a:t>
            </a:r>
            <a:r>
              <a:rPr lang="en-US" sz="1400" dirty="0" err="1"/>
              <a:t>bị</a:t>
            </a:r>
            <a:r>
              <a:rPr lang="en-US" sz="1400" dirty="0"/>
              <a:t> </a:t>
            </a:r>
            <a:r>
              <a:rPr lang="en-US" sz="1400" dirty="0" err="1"/>
              <a:t>khác</a:t>
            </a:r>
            <a:r>
              <a:rPr lang="en-US" sz="1400" dirty="0"/>
              <a:t>.</a:t>
            </a:r>
          </a:p>
          <a:p>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10</a:t>
            </a:fld>
            <a:endParaRPr lang="en-US"/>
          </a:p>
        </p:txBody>
      </p:sp>
    </p:spTree>
    <p:extLst>
      <p:ext uri="{BB962C8B-B14F-4D97-AF65-F5344CB8AC3E}">
        <p14:creationId xmlns:p14="http://schemas.microsoft.com/office/powerpoint/2010/main" val="431774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dirty="0"/>
              <a:t>ICSP pin</a:t>
            </a:r>
            <a:r>
              <a:rPr lang="vi-VN" sz="1200" dirty="0"/>
              <a:t> viết tắt của In Circuit Serial Programming. </a:t>
            </a:r>
            <a:endParaRPr lang="en-US" sz="1200" dirty="0"/>
          </a:p>
          <a:p>
            <a:pPr marL="0" indent="0">
              <a:buNone/>
            </a:pPr>
            <a:r>
              <a:rPr lang="vi-VN" sz="1200" dirty="0"/>
              <a:t>Đó là chân lập trình nối tiếp cho phép người lập trình sử dụng một vài phương thức có sẵn trong firmware của Arduino.</a:t>
            </a:r>
          </a:p>
          <a:p>
            <a:r>
              <a:rPr lang="vi-VN" sz="1200" b="1" dirty="0"/>
              <a:t>Power LED Indicator</a:t>
            </a:r>
            <a:r>
              <a:rPr lang="vi-VN" sz="1200" dirty="0"/>
              <a:t> báo nguồn của Arduino. Đèn sáng thì có nguồn, đèn tắt thì mất nguồn.</a:t>
            </a:r>
          </a:p>
          <a:p>
            <a:r>
              <a:rPr lang="vi-VN" sz="1200" b="1" dirty="0"/>
              <a:t>Digital I/O pins</a:t>
            </a:r>
            <a:r>
              <a:rPr lang="vi-VN" sz="1200" dirty="0"/>
              <a:t> là những chân có giá trị nhị phân: HIGH (1) hoặc LOW (0). Có các chân từ D0 đến D13. Một số chân có thể xuất </a:t>
            </a:r>
            <a:r>
              <a:rPr lang="vi-VN" sz="1200" dirty="0">
                <a:hlinkClick r:id="rId3"/>
              </a:rPr>
              <a:t>xung PWM</a:t>
            </a:r>
            <a:r>
              <a:rPr lang="vi-VN" sz="1200" dirty="0"/>
              <a:t> là ~D3, ~ D5, ~ D6, ~ D9, ~ D10, ~ D11.</a:t>
            </a:r>
          </a:p>
          <a:p>
            <a:r>
              <a:rPr lang="en-US" sz="1400" b="1" dirty="0"/>
              <a:t>TX and RX LED’s</a:t>
            </a:r>
            <a:r>
              <a:rPr lang="en-US" sz="1400" dirty="0"/>
              <a:t> </a:t>
            </a:r>
            <a:r>
              <a:rPr lang="en-US" sz="1400" dirty="0" err="1"/>
              <a:t>báo</a:t>
            </a:r>
            <a:r>
              <a:rPr lang="en-US" sz="1400" dirty="0"/>
              <a:t> </a:t>
            </a:r>
            <a:r>
              <a:rPr lang="en-US" sz="1400" dirty="0" err="1"/>
              <a:t>có</a:t>
            </a:r>
            <a:r>
              <a:rPr lang="en-US" sz="1400" dirty="0"/>
              <a:t> </a:t>
            </a:r>
            <a:r>
              <a:rPr lang="en-US" sz="1400" dirty="0" err="1"/>
              <a:t>luồng</a:t>
            </a:r>
            <a:r>
              <a:rPr lang="en-US" sz="1400" dirty="0"/>
              <a:t> </a:t>
            </a:r>
            <a:r>
              <a:rPr lang="en-US" sz="1400" dirty="0" err="1"/>
              <a:t>dữ</a:t>
            </a:r>
            <a:r>
              <a:rPr lang="en-US" sz="1400" dirty="0"/>
              <a:t> </a:t>
            </a:r>
            <a:r>
              <a:rPr lang="en-US" sz="1400" dirty="0" err="1"/>
              <a:t>liệu</a:t>
            </a:r>
            <a:r>
              <a:rPr lang="en-US" sz="1400" dirty="0"/>
              <a:t> </a:t>
            </a:r>
            <a:r>
              <a:rPr lang="en-US" sz="1400" b="1" dirty="0" err="1"/>
              <a:t>truyền</a:t>
            </a:r>
            <a:r>
              <a:rPr lang="en-US" sz="1400" b="1" dirty="0"/>
              <a:t> (Transmit – TX)</a:t>
            </a:r>
            <a:r>
              <a:rPr lang="en-US" sz="1400" dirty="0"/>
              <a:t> </a:t>
            </a:r>
            <a:r>
              <a:rPr lang="en-US" sz="1400" dirty="0" err="1"/>
              <a:t>và</a:t>
            </a:r>
            <a:r>
              <a:rPr lang="en-US" sz="1400" dirty="0"/>
              <a:t> </a:t>
            </a:r>
            <a:r>
              <a:rPr lang="en-US" sz="1400" b="1" dirty="0" err="1"/>
              <a:t>nhận</a:t>
            </a:r>
            <a:r>
              <a:rPr lang="en-US" sz="1400" b="1" dirty="0"/>
              <a:t> (Receive – RX)</a:t>
            </a:r>
            <a:r>
              <a:rPr lang="en-US" sz="1400" dirty="0"/>
              <a:t> </a:t>
            </a:r>
            <a:r>
              <a:rPr lang="en-US" sz="1400" dirty="0" err="1"/>
              <a:t>của</a:t>
            </a:r>
            <a:r>
              <a:rPr lang="en-US" sz="1400" dirty="0"/>
              <a:t> Arduino qua </a:t>
            </a:r>
            <a:r>
              <a:rPr lang="en-US" sz="1400" dirty="0" err="1"/>
              <a:t>cổng</a:t>
            </a:r>
            <a:r>
              <a:rPr lang="en-US" sz="1400" dirty="0"/>
              <a:t> </a:t>
            </a:r>
            <a:r>
              <a:rPr lang="en-US" sz="1400" dirty="0" err="1"/>
              <a:t>nối</a:t>
            </a:r>
            <a:r>
              <a:rPr lang="en-US" sz="1400" dirty="0"/>
              <a:t> </a:t>
            </a:r>
            <a:r>
              <a:rPr lang="en-US" sz="1400" dirty="0" err="1"/>
              <a:t>tiếp</a:t>
            </a:r>
            <a:r>
              <a:rPr lang="en-US" sz="1400" dirty="0"/>
              <a:t> (Serial) </a:t>
            </a:r>
            <a:r>
              <a:rPr lang="en-US" sz="1400" dirty="0" err="1"/>
              <a:t>với</a:t>
            </a:r>
            <a:r>
              <a:rPr lang="en-US" sz="1400" dirty="0"/>
              <a:t> </a:t>
            </a:r>
            <a:r>
              <a:rPr lang="en-US" sz="1400" dirty="0" err="1"/>
              <a:t>các</a:t>
            </a:r>
            <a:r>
              <a:rPr lang="en-US" sz="1400" dirty="0"/>
              <a:t> </a:t>
            </a:r>
            <a:r>
              <a:rPr lang="en-US" sz="1400" dirty="0" err="1"/>
              <a:t>thiết</a:t>
            </a:r>
            <a:r>
              <a:rPr lang="en-US" sz="1400" dirty="0"/>
              <a:t> </a:t>
            </a:r>
            <a:r>
              <a:rPr lang="en-US" sz="1400" dirty="0" err="1"/>
              <a:t>bị</a:t>
            </a:r>
            <a:r>
              <a:rPr lang="en-US" sz="1400" dirty="0"/>
              <a:t> </a:t>
            </a:r>
            <a:r>
              <a:rPr lang="en-US" sz="1400" dirty="0" err="1"/>
              <a:t>khác</a:t>
            </a:r>
            <a:r>
              <a:rPr lang="en-US" sz="1400" dirty="0"/>
              <a:t>.</a:t>
            </a:r>
          </a:p>
          <a:p>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11</a:t>
            </a:fld>
            <a:endParaRPr lang="en-US"/>
          </a:p>
        </p:txBody>
      </p:sp>
    </p:spTree>
    <p:extLst>
      <p:ext uri="{BB962C8B-B14F-4D97-AF65-F5344CB8AC3E}">
        <p14:creationId xmlns:p14="http://schemas.microsoft.com/office/powerpoint/2010/main" val="1755347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vi-VN" sz="1200" b="1" dirty="0"/>
              <a:t>AREF (Analog Reference) pin</a:t>
            </a:r>
            <a:r>
              <a:rPr lang="vi-VN" sz="1200" dirty="0"/>
              <a:t> là chân cấp điện áp tham chiếu từ bên ngoài cho Arduino.</a:t>
            </a:r>
          </a:p>
          <a:p>
            <a:pPr>
              <a:lnSpc>
                <a:spcPct val="100000"/>
              </a:lnSpc>
            </a:pPr>
            <a:r>
              <a:rPr lang="vi-VN" sz="1200" b="1" dirty="0"/>
              <a:t>Reset button</a:t>
            </a:r>
            <a:r>
              <a:rPr lang="vi-VN" sz="1200" dirty="0"/>
              <a:t> để reset lại board mạch Arduino.</a:t>
            </a:r>
          </a:p>
          <a:p>
            <a:pPr>
              <a:lnSpc>
                <a:spcPct val="100000"/>
              </a:lnSpc>
            </a:pPr>
            <a:r>
              <a:rPr lang="vi-VN" sz="1200" b="1" dirty="0"/>
              <a:t>USB</a:t>
            </a:r>
            <a:r>
              <a:rPr lang="vi-VN" sz="1200" dirty="0"/>
              <a:t> cho phép kết nối với máy tính, thường dùng nạp mã code từ máy tính sang board mạch Arduino.</a:t>
            </a:r>
          </a:p>
          <a:p>
            <a:pPr>
              <a:lnSpc>
                <a:spcPct val="100000"/>
              </a:lnSpc>
            </a:pPr>
            <a:r>
              <a:rPr lang="vi-VN" sz="1200" b="1" dirty="0"/>
              <a:t>Crystal Oscillator</a:t>
            </a:r>
            <a:r>
              <a:rPr lang="vi-VN" sz="1200" dirty="0"/>
              <a:t> là thạch anh, có tần số 16MHz.</a:t>
            </a:r>
          </a:p>
          <a:p>
            <a:pPr>
              <a:lnSpc>
                <a:spcPct val="100000"/>
              </a:lnSpc>
            </a:pPr>
            <a:r>
              <a:rPr lang="vi-VN" sz="1200" b="1" dirty="0"/>
              <a:t>Voltage Regulator</a:t>
            </a:r>
            <a:r>
              <a:rPr lang="vi-VN" sz="1200" dirty="0"/>
              <a:t> là mạch ổn áp chuyển đổi nguồn vào thành 5V cấp cho Arduino.</a:t>
            </a:r>
          </a:p>
          <a:p>
            <a:pPr>
              <a:lnSpc>
                <a:spcPct val="100000"/>
              </a:lnSpc>
            </a:pPr>
            <a:r>
              <a:rPr lang="vi-VN" sz="1200" b="1" dirty="0"/>
              <a:t>GND</a:t>
            </a:r>
            <a:r>
              <a:rPr lang="vi-VN" sz="1200" dirty="0"/>
              <a:t> là chân ground, có hiệu điện thế 0V.</a:t>
            </a:r>
          </a:p>
          <a:p>
            <a:pPr>
              <a:lnSpc>
                <a:spcPct val="100000"/>
              </a:lnSpc>
            </a:pPr>
            <a:r>
              <a:rPr lang="vi-VN" sz="1200" b="1" dirty="0"/>
              <a:t>Vin</a:t>
            </a:r>
            <a:r>
              <a:rPr lang="vi-VN" sz="1200" dirty="0"/>
              <a:t> là nguồn đầu vào của board mạch Arduino.</a:t>
            </a:r>
          </a:p>
          <a:p>
            <a:pPr>
              <a:lnSpc>
                <a:spcPct val="100000"/>
              </a:lnSpc>
            </a:pPr>
            <a:r>
              <a:rPr lang="vi-VN" sz="1200" b="1" dirty="0"/>
              <a:t>Analog Pins</a:t>
            </a:r>
            <a:r>
              <a:rPr lang="vi-VN" sz="1200" dirty="0"/>
              <a:t> là các chân xử lý tín hiệu Analog khi kết nối với các thiết bị khác. Có các chân được đánh số từ A0 đến A5.</a:t>
            </a:r>
          </a:p>
          <a:p>
            <a:pPr>
              <a:lnSpc>
                <a:spcPct val="100000"/>
              </a:lnSpc>
            </a:pPr>
            <a:r>
              <a:rPr lang="vi-VN" sz="1200" b="1" dirty="0"/>
              <a:t>Power Button </a:t>
            </a:r>
            <a:r>
              <a:rPr lang="vi-VN" sz="1200" dirty="0"/>
              <a:t>kết nối với nguồn cấp cho Arduino.</a:t>
            </a:r>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12</a:t>
            </a:fld>
            <a:endParaRPr lang="en-US"/>
          </a:p>
        </p:txBody>
      </p:sp>
    </p:spTree>
    <p:extLst>
      <p:ext uri="{BB962C8B-B14F-4D97-AF65-F5344CB8AC3E}">
        <p14:creationId xmlns:p14="http://schemas.microsoft.com/office/powerpoint/2010/main" val="2332581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vi-VN" sz="1200" b="1" dirty="0"/>
              <a:t>AREF (Analog Reference) pin</a:t>
            </a:r>
            <a:r>
              <a:rPr lang="vi-VN" sz="1200" dirty="0"/>
              <a:t> là chân cấp điện áp tham chiếu từ bên ngoài cho Arduino.</a:t>
            </a:r>
          </a:p>
          <a:p>
            <a:pPr>
              <a:lnSpc>
                <a:spcPct val="100000"/>
              </a:lnSpc>
            </a:pPr>
            <a:r>
              <a:rPr lang="vi-VN" sz="1200" b="1" dirty="0"/>
              <a:t>Reset button</a:t>
            </a:r>
            <a:r>
              <a:rPr lang="vi-VN" sz="1200" dirty="0"/>
              <a:t> để reset lại board mạch Arduino.</a:t>
            </a:r>
          </a:p>
          <a:p>
            <a:pPr>
              <a:lnSpc>
                <a:spcPct val="100000"/>
              </a:lnSpc>
            </a:pPr>
            <a:r>
              <a:rPr lang="vi-VN" sz="1200" b="1" dirty="0"/>
              <a:t>USB</a:t>
            </a:r>
            <a:r>
              <a:rPr lang="vi-VN" sz="1200" dirty="0"/>
              <a:t> cho phép kết nối với máy tính, thường dùng nạp mã code từ máy tính sang board mạch Arduino.</a:t>
            </a:r>
          </a:p>
          <a:p>
            <a:pPr>
              <a:lnSpc>
                <a:spcPct val="100000"/>
              </a:lnSpc>
            </a:pPr>
            <a:r>
              <a:rPr lang="vi-VN" sz="1200" b="1" dirty="0"/>
              <a:t>Crystal Oscillator</a:t>
            </a:r>
            <a:r>
              <a:rPr lang="vi-VN" sz="1200" dirty="0"/>
              <a:t> là thạch anh, có tần số 16MHz.</a:t>
            </a:r>
          </a:p>
          <a:p>
            <a:pPr>
              <a:lnSpc>
                <a:spcPct val="100000"/>
              </a:lnSpc>
            </a:pPr>
            <a:r>
              <a:rPr lang="vi-VN" sz="1200" b="1" dirty="0"/>
              <a:t>Voltage Regulator</a:t>
            </a:r>
            <a:r>
              <a:rPr lang="vi-VN" sz="1200" dirty="0"/>
              <a:t> là mạch ổn áp chuyển đổi nguồn vào thành 5V cấp cho Arduino.</a:t>
            </a:r>
          </a:p>
          <a:p>
            <a:pPr>
              <a:lnSpc>
                <a:spcPct val="100000"/>
              </a:lnSpc>
            </a:pPr>
            <a:r>
              <a:rPr lang="vi-VN" sz="1200" b="1" dirty="0"/>
              <a:t>GND</a:t>
            </a:r>
            <a:r>
              <a:rPr lang="vi-VN" sz="1200" dirty="0"/>
              <a:t> là chân ground, có hiệu điện thế 0V.</a:t>
            </a:r>
          </a:p>
          <a:p>
            <a:pPr>
              <a:lnSpc>
                <a:spcPct val="100000"/>
              </a:lnSpc>
            </a:pPr>
            <a:r>
              <a:rPr lang="vi-VN" sz="1200" b="1" dirty="0"/>
              <a:t>Vin</a:t>
            </a:r>
            <a:r>
              <a:rPr lang="vi-VN" sz="1200" dirty="0"/>
              <a:t> là nguồn đầu vào của board mạch Arduino.</a:t>
            </a:r>
          </a:p>
          <a:p>
            <a:pPr>
              <a:lnSpc>
                <a:spcPct val="100000"/>
              </a:lnSpc>
            </a:pPr>
            <a:r>
              <a:rPr lang="vi-VN" sz="1200" b="1" dirty="0"/>
              <a:t>Analog Pins</a:t>
            </a:r>
            <a:r>
              <a:rPr lang="vi-VN" sz="1200" dirty="0"/>
              <a:t> là các chân xử lý tín hiệu Analog khi kết nối với các thiết bị khác. Có các chân được đánh số từ A0 đến A5.</a:t>
            </a:r>
          </a:p>
          <a:p>
            <a:pPr>
              <a:lnSpc>
                <a:spcPct val="100000"/>
              </a:lnSpc>
            </a:pPr>
            <a:r>
              <a:rPr lang="vi-VN" sz="1200" b="1" dirty="0"/>
              <a:t>Power Button </a:t>
            </a:r>
            <a:r>
              <a:rPr lang="vi-VN" sz="1200" dirty="0"/>
              <a:t>kết nối với nguồn cấp cho Arduino.</a:t>
            </a:r>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13</a:t>
            </a:fld>
            <a:endParaRPr lang="en-US"/>
          </a:p>
        </p:txBody>
      </p:sp>
    </p:spTree>
    <p:extLst>
      <p:ext uri="{BB962C8B-B14F-4D97-AF65-F5344CB8AC3E}">
        <p14:creationId xmlns:p14="http://schemas.microsoft.com/office/powerpoint/2010/main" val="2806914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17</a:t>
            </a:fld>
            <a:endParaRPr lang="en-US"/>
          </a:p>
        </p:txBody>
      </p:sp>
    </p:spTree>
    <p:extLst>
      <p:ext uri="{BB962C8B-B14F-4D97-AF65-F5344CB8AC3E}">
        <p14:creationId xmlns:p14="http://schemas.microsoft.com/office/powerpoint/2010/main" val="3313434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19</a:t>
            </a:fld>
            <a:endParaRPr lang="en-US"/>
          </a:p>
        </p:txBody>
      </p:sp>
    </p:spTree>
    <p:extLst>
      <p:ext uri="{BB962C8B-B14F-4D97-AF65-F5344CB8AC3E}">
        <p14:creationId xmlns:p14="http://schemas.microsoft.com/office/powerpoint/2010/main" val="3035711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a:t>
            </a:r>
            <a:r>
              <a:rPr lang="en-US" dirty="0" err="1"/>
              <a:t>sinh</a:t>
            </a:r>
            <a:r>
              <a:rPr lang="en-US" dirty="0"/>
              <a:t> </a:t>
            </a:r>
            <a:r>
              <a:rPr lang="en-US" dirty="0" err="1"/>
              <a:t>viên</a:t>
            </a:r>
            <a:r>
              <a:rPr lang="en-US" dirty="0"/>
              <a:t> </a:t>
            </a:r>
            <a:r>
              <a:rPr lang="en-US" dirty="0" err="1"/>
              <a:t>thực</a:t>
            </a:r>
            <a:r>
              <a:rPr lang="en-US" dirty="0"/>
              <a:t> </a:t>
            </a:r>
            <a:r>
              <a:rPr lang="en-US" dirty="0" err="1"/>
              <a:t>hành</a:t>
            </a:r>
            <a:r>
              <a:rPr lang="en-US" dirty="0"/>
              <a:t> </a:t>
            </a:r>
            <a:r>
              <a:rPr lang="en-US" dirty="0" err="1"/>
              <a:t>nạp</a:t>
            </a:r>
            <a:r>
              <a:rPr lang="en-US" dirty="0"/>
              <a:t> </a:t>
            </a:r>
            <a:r>
              <a:rPr lang="en-US" dirty="0" err="1"/>
              <a:t>và</a:t>
            </a:r>
            <a:r>
              <a:rPr lang="en-US" dirty="0"/>
              <a:t> </a:t>
            </a:r>
            <a:r>
              <a:rPr lang="en-US" dirty="0" err="1"/>
              <a:t>chạy</a:t>
            </a:r>
            <a:r>
              <a:rPr lang="en-US" dirty="0"/>
              <a:t> </a:t>
            </a:r>
            <a:r>
              <a:rPr lang="en-US" dirty="0" err="1"/>
              <a:t>chương</a:t>
            </a:r>
            <a:r>
              <a:rPr lang="en-US" dirty="0"/>
              <a:t> </a:t>
            </a:r>
            <a:r>
              <a:rPr lang="en-US" dirty="0" err="1"/>
              <a:t>trình</a:t>
            </a:r>
            <a:r>
              <a:rPr lang="en-US" dirty="0"/>
              <a:t> </a:t>
            </a:r>
            <a:r>
              <a:rPr lang="en-US" dirty="0" err="1"/>
              <a:t>trên</a:t>
            </a:r>
            <a:r>
              <a:rPr lang="en-US" dirty="0"/>
              <a:t> </a:t>
            </a:r>
            <a:r>
              <a:rPr lang="en-US" dirty="0" err="1"/>
              <a:t>bảng</a:t>
            </a:r>
            <a:r>
              <a:rPr lang="en-US" dirty="0"/>
              <a:t> </a:t>
            </a:r>
            <a:r>
              <a:rPr lang="en-US" dirty="0" err="1"/>
              <a:t>mạch</a:t>
            </a:r>
            <a:r>
              <a:rPr lang="en-US" dirty="0"/>
              <a:t> Arduino </a:t>
            </a:r>
            <a:r>
              <a:rPr lang="en-US" dirty="0" err="1"/>
              <a:t>tại</a:t>
            </a:r>
            <a:r>
              <a:rPr lang="en-US" dirty="0"/>
              <a:t> </a:t>
            </a:r>
            <a:r>
              <a:rPr lang="en-US" dirty="0" err="1"/>
              <a:t>lớp</a:t>
            </a:r>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29</a:t>
            </a:fld>
            <a:endParaRPr lang="en-US"/>
          </a:p>
        </p:txBody>
      </p:sp>
    </p:spTree>
    <p:extLst>
      <p:ext uri="{BB962C8B-B14F-4D97-AF65-F5344CB8AC3E}">
        <p14:creationId xmlns:p14="http://schemas.microsoft.com/office/powerpoint/2010/main" val="412639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a:t>
            </a:r>
            <a:r>
              <a:rPr lang="en-US" dirty="0" err="1"/>
              <a:t>sinh</a:t>
            </a:r>
            <a:r>
              <a:rPr lang="en-US" dirty="0"/>
              <a:t> </a:t>
            </a:r>
            <a:r>
              <a:rPr lang="en-US" dirty="0" err="1"/>
              <a:t>viên</a:t>
            </a:r>
            <a:r>
              <a:rPr lang="en-US" dirty="0"/>
              <a:t> </a:t>
            </a:r>
            <a:r>
              <a:rPr lang="en-US" dirty="0" err="1"/>
              <a:t>thực</a:t>
            </a:r>
            <a:r>
              <a:rPr lang="en-US" dirty="0"/>
              <a:t> </a:t>
            </a:r>
            <a:r>
              <a:rPr lang="en-US" dirty="0" err="1"/>
              <a:t>hành</a:t>
            </a:r>
            <a:r>
              <a:rPr lang="en-US" dirty="0"/>
              <a:t> </a:t>
            </a:r>
            <a:r>
              <a:rPr lang="en-US" dirty="0" err="1"/>
              <a:t>nạp</a:t>
            </a:r>
            <a:r>
              <a:rPr lang="en-US" dirty="0"/>
              <a:t> </a:t>
            </a:r>
            <a:r>
              <a:rPr lang="en-US" dirty="0" err="1"/>
              <a:t>và</a:t>
            </a:r>
            <a:r>
              <a:rPr lang="en-US" dirty="0"/>
              <a:t> </a:t>
            </a:r>
            <a:r>
              <a:rPr lang="en-US" dirty="0" err="1"/>
              <a:t>chạy</a:t>
            </a:r>
            <a:r>
              <a:rPr lang="en-US" dirty="0"/>
              <a:t> </a:t>
            </a:r>
            <a:r>
              <a:rPr lang="en-US" dirty="0" err="1"/>
              <a:t>chương</a:t>
            </a:r>
            <a:r>
              <a:rPr lang="en-US" dirty="0"/>
              <a:t> </a:t>
            </a:r>
            <a:r>
              <a:rPr lang="en-US" dirty="0" err="1"/>
              <a:t>trình</a:t>
            </a:r>
            <a:r>
              <a:rPr lang="en-US" dirty="0"/>
              <a:t> </a:t>
            </a:r>
            <a:r>
              <a:rPr lang="en-US" dirty="0" err="1"/>
              <a:t>trên</a:t>
            </a:r>
            <a:r>
              <a:rPr lang="en-US" dirty="0"/>
              <a:t> </a:t>
            </a:r>
            <a:r>
              <a:rPr lang="en-US" dirty="0" err="1"/>
              <a:t>bảng</a:t>
            </a:r>
            <a:r>
              <a:rPr lang="en-US" dirty="0"/>
              <a:t> </a:t>
            </a:r>
            <a:r>
              <a:rPr lang="en-US" dirty="0" err="1"/>
              <a:t>mạch</a:t>
            </a:r>
            <a:r>
              <a:rPr lang="en-US" dirty="0"/>
              <a:t> Arduino </a:t>
            </a:r>
            <a:r>
              <a:rPr lang="en-US" dirty="0" err="1"/>
              <a:t>tại</a:t>
            </a:r>
            <a:r>
              <a:rPr lang="en-US" dirty="0"/>
              <a:t> </a:t>
            </a:r>
            <a:r>
              <a:rPr lang="en-US" dirty="0" err="1"/>
              <a:t>lớp</a:t>
            </a:r>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30</a:t>
            </a:fld>
            <a:endParaRPr lang="en-US"/>
          </a:p>
        </p:txBody>
      </p:sp>
    </p:spTree>
    <p:extLst>
      <p:ext uri="{BB962C8B-B14F-4D97-AF65-F5344CB8AC3E}">
        <p14:creationId xmlns:p14="http://schemas.microsoft.com/office/powerpoint/2010/main" val="2631189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a:t>
            </a:r>
            <a:r>
              <a:rPr lang="en-US" dirty="0" err="1"/>
              <a:t>sinh</a:t>
            </a:r>
            <a:r>
              <a:rPr lang="en-US" dirty="0"/>
              <a:t> </a:t>
            </a:r>
            <a:r>
              <a:rPr lang="en-US" dirty="0" err="1"/>
              <a:t>viên</a:t>
            </a:r>
            <a:r>
              <a:rPr lang="en-US" dirty="0"/>
              <a:t> </a:t>
            </a:r>
            <a:r>
              <a:rPr lang="en-US" dirty="0" err="1"/>
              <a:t>thực</a:t>
            </a:r>
            <a:r>
              <a:rPr lang="en-US" dirty="0"/>
              <a:t> </a:t>
            </a:r>
            <a:r>
              <a:rPr lang="en-US" dirty="0" err="1"/>
              <a:t>hành</a:t>
            </a:r>
            <a:r>
              <a:rPr lang="en-US" dirty="0"/>
              <a:t> </a:t>
            </a:r>
            <a:r>
              <a:rPr lang="en-US" dirty="0" err="1"/>
              <a:t>nạp</a:t>
            </a:r>
            <a:r>
              <a:rPr lang="en-US" dirty="0"/>
              <a:t> </a:t>
            </a:r>
            <a:r>
              <a:rPr lang="en-US" dirty="0" err="1"/>
              <a:t>và</a:t>
            </a:r>
            <a:r>
              <a:rPr lang="en-US" dirty="0"/>
              <a:t> </a:t>
            </a:r>
            <a:r>
              <a:rPr lang="en-US" dirty="0" err="1"/>
              <a:t>chạy</a:t>
            </a:r>
            <a:r>
              <a:rPr lang="en-US" dirty="0"/>
              <a:t> </a:t>
            </a:r>
            <a:r>
              <a:rPr lang="en-US" dirty="0" err="1"/>
              <a:t>chương</a:t>
            </a:r>
            <a:r>
              <a:rPr lang="en-US" dirty="0"/>
              <a:t> </a:t>
            </a:r>
            <a:r>
              <a:rPr lang="en-US" dirty="0" err="1"/>
              <a:t>trình</a:t>
            </a:r>
            <a:r>
              <a:rPr lang="en-US" dirty="0"/>
              <a:t> </a:t>
            </a:r>
            <a:r>
              <a:rPr lang="en-US" dirty="0" err="1"/>
              <a:t>trên</a:t>
            </a:r>
            <a:r>
              <a:rPr lang="en-US" dirty="0"/>
              <a:t> </a:t>
            </a:r>
            <a:r>
              <a:rPr lang="en-US" dirty="0" err="1"/>
              <a:t>bảng</a:t>
            </a:r>
            <a:r>
              <a:rPr lang="en-US" dirty="0"/>
              <a:t> </a:t>
            </a:r>
            <a:r>
              <a:rPr lang="en-US" dirty="0" err="1"/>
              <a:t>mạch</a:t>
            </a:r>
            <a:r>
              <a:rPr lang="en-US" dirty="0"/>
              <a:t> Arduino </a:t>
            </a:r>
            <a:r>
              <a:rPr lang="en-US" dirty="0" err="1"/>
              <a:t>tại</a:t>
            </a:r>
            <a:r>
              <a:rPr lang="en-US" dirty="0"/>
              <a:t> </a:t>
            </a:r>
            <a:r>
              <a:rPr lang="en-US" dirty="0" err="1"/>
              <a:t>lớp</a:t>
            </a:r>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31</a:t>
            </a:fld>
            <a:endParaRPr lang="en-US"/>
          </a:p>
        </p:txBody>
      </p:sp>
    </p:spTree>
    <p:extLst>
      <p:ext uri="{BB962C8B-B14F-4D97-AF65-F5344CB8AC3E}">
        <p14:creationId xmlns:p14="http://schemas.microsoft.com/office/powerpoint/2010/main" val="915638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a:t>
            </a:r>
            <a:r>
              <a:rPr lang="en-US" dirty="0" err="1"/>
              <a:t>sinh</a:t>
            </a:r>
            <a:r>
              <a:rPr lang="en-US" dirty="0"/>
              <a:t> </a:t>
            </a:r>
            <a:r>
              <a:rPr lang="en-US" dirty="0" err="1"/>
              <a:t>viên</a:t>
            </a:r>
            <a:r>
              <a:rPr lang="en-US" dirty="0"/>
              <a:t> </a:t>
            </a:r>
            <a:r>
              <a:rPr lang="en-US" dirty="0" err="1"/>
              <a:t>thực</a:t>
            </a:r>
            <a:r>
              <a:rPr lang="en-US" dirty="0"/>
              <a:t> </a:t>
            </a:r>
            <a:r>
              <a:rPr lang="en-US" dirty="0" err="1"/>
              <a:t>hành</a:t>
            </a:r>
            <a:r>
              <a:rPr lang="en-US" dirty="0"/>
              <a:t> </a:t>
            </a:r>
            <a:r>
              <a:rPr lang="en-US" dirty="0" err="1"/>
              <a:t>nạp</a:t>
            </a:r>
            <a:r>
              <a:rPr lang="en-US" dirty="0"/>
              <a:t> </a:t>
            </a:r>
            <a:r>
              <a:rPr lang="en-US" dirty="0" err="1"/>
              <a:t>và</a:t>
            </a:r>
            <a:r>
              <a:rPr lang="en-US" dirty="0"/>
              <a:t> </a:t>
            </a:r>
            <a:r>
              <a:rPr lang="en-US" dirty="0" err="1"/>
              <a:t>chạy</a:t>
            </a:r>
            <a:r>
              <a:rPr lang="en-US" dirty="0"/>
              <a:t> </a:t>
            </a:r>
            <a:r>
              <a:rPr lang="en-US" dirty="0" err="1"/>
              <a:t>chương</a:t>
            </a:r>
            <a:r>
              <a:rPr lang="en-US" dirty="0"/>
              <a:t> </a:t>
            </a:r>
            <a:r>
              <a:rPr lang="en-US" dirty="0" err="1"/>
              <a:t>trình</a:t>
            </a:r>
            <a:r>
              <a:rPr lang="en-US" dirty="0"/>
              <a:t> </a:t>
            </a:r>
            <a:r>
              <a:rPr lang="en-US" dirty="0" err="1"/>
              <a:t>trên</a:t>
            </a:r>
            <a:r>
              <a:rPr lang="en-US" dirty="0"/>
              <a:t> </a:t>
            </a:r>
            <a:r>
              <a:rPr lang="en-US" dirty="0" err="1"/>
              <a:t>bảng</a:t>
            </a:r>
            <a:r>
              <a:rPr lang="en-US" dirty="0"/>
              <a:t> </a:t>
            </a:r>
            <a:r>
              <a:rPr lang="en-US" dirty="0" err="1"/>
              <a:t>mạch</a:t>
            </a:r>
            <a:r>
              <a:rPr lang="en-US" dirty="0"/>
              <a:t> Arduino </a:t>
            </a:r>
            <a:r>
              <a:rPr lang="en-US" dirty="0" err="1"/>
              <a:t>tại</a:t>
            </a:r>
            <a:r>
              <a:rPr lang="en-US" dirty="0"/>
              <a:t> </a:t>
            </a:r>
            <a:r>
              <a:rPr lang="en-US" dirty="0" err="1"/>
              <a:t>lớp</a:t>
            </a:r>
            <a:endParaRPr lang="en-US" dirty="0"/>
          </a:p>
        </p:txBody>
      </p:sp>
      <p:sp>
        <p:nvSpPr>
          <p:cNvPr id="4" name="Footer Placeholder 3"/>
          <p:cNvSpPr>
            <a:spLocks noGrp="1"/>
          </p:cNvSpPr>
          <p:nvPr>
            <p:ph type="ftr" sz="quarter" idx="4"/>
          </p:nvPr>
        </p:nvSpPr>
        <p:spPr/>
        <p:txBody>
          <a:bodyPr/>
          <a:lstStyle/>
          <a:p>
            <a:r>
              <a:rPr lang="en-US"/>
              <a:t>CS703023-Computer Achitecture</a:t>
            </a:r>
            <a:endParaRPr lang="en-VN"/>
          </a:p>
        </p:txBody>
      </p:sp>
      <p:sp>
        <p:nvSpPr>
          <p:cNvPr id="5" name="Slide Number Placeholder 4"/>
          <p:cNvSpPr>
            <a:spLocks noGrp="1"/>
          </p:cNvSpPr>
          <p:nvPr>
            <p:ph type="sldNum" sz="quarter" idx="5"/>
          </p:nvPr>
        </p:nvSpPr>
        <p:spPr/>
        <p:txBody>
          <a:bodyPr/>
          <a:lstStyle/>
          <a:p>
            <a:fld id="{203F4A65-186F-844C-A6F0-7DDCAB60B659}" type="slidenum">
              <a:rPr lang="en-US" smtClean="0"/>
              <a:t>32</a:t>
            </a:fld>
            <a:endParaRPr lang="en-US"/>
          </a:p>
        </p:txBody>
      </p:sp>
    </p:spTree>
    <p:extLst>
      <p:ext uri="{BB962C8B-B14F-4D97-AF65-F5344CB8AC3E}">
        <p14:creationId xmlns:p14="http://schemas.microsoft.com/office/powerpoint/2010/main" val="1207937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2371" y="3666393"/>
            <a:ext cx="6928339" cy="1283677"/>
          </a:xfrm>
        </p:spPr>
        <p:txBody>
          <a:bodyPr anchor="b">
            <a:noAutofit/>
          </a:bodyPr>
          <a:lstStyle>
            <a:lvl1pPr algn="ctr">
              <a:defRPr sz="4500" b="1">
                <a:solidFill>
                  <a:srgbClr val="FF7617"/>
                </a:solidFill>
                <a:effectLst>
                  <a:outerShdw blurRad="38100" dist="38100" dir="2700000" algn="tl">
                    <a:srgbClr val="000000">
                      <a:alpha val="43137"/>
                    </a:srgbClr>
                  </a:outerShdw>
                </a:effectLst>
              </a:defRPr>
            </a:lvl1pPr>
          </a:lstStyle>
          <a:p>
            <a:r>
              <a:rPr lang="en-US" dirty="0"/>
              <a:t>Click to edit Master title style</a:t>
            </a:r>
          </a:p>
        </p:txBody>
      </p:sp>
      <p:sp>
        <p:nvSpPr>
          <p:cNvPr id="3" name="Subtitle 2"/>
          <p:cNvSpPr>
            <a:spLocks noGrp="1"/>
          </p:cNvSpPr>
          <p:nvPr>
            <p:ph type="subTitle" idx="1"/>
          </p:nvPr>
        </p:nvSpPr>
        <p:spPr>
          <a:xfrm>
            <a:off x="492371" y="5178670"/>
            <a:ext cx="6465020" cy="457200"/>
          </a:xfrm>
        </p:spPr>
        <p:txBody>
          <a:bodyPr/>
          <a:lstStyle>
            <a:lvl1pPr marL="0" indent="0" algn="ctr">
              <a:buNone/>
              <a:defRPr sz="2400">
                <a:solidFill>
                  <a:srgbClr val="3430A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 Placeholder 9">
            <a:extLst>
              <a:ext uri="{FF2B5EF4-FFF2-40B4-BE49-F238E27FC236}">
                <a16:creationId xmlns:a16="http://schemas.microsoft.com/office/drawing/2014/main" id="{AEBAFBFE-CF38-4C64-9837-F9B8F532591E}"/>
              </a:ext>
            </a:extLst>
          </p:cNvPr>
          <p:cNvSpPr>
            <a:spLocks noGrp="1"/>
          </p:cNvSpPr>
          <p:nvPr>
            <p:ph type="body" sz="quarter" idx="11"/>
          </p:nvPr>
        </p:nvSpPr>
        <p:spPr>
          <a:xfrm>
            <a:off x="492371" y="5794132"/>
            <a:ext cx="6465020" cy="660456"/>
          </a:xfrm>
        </p:spPr>
        <p:txBody>
          <a:bodyPr>
            <a:normAutofit/>
          </a:bodyPr>
          <a:lstStyle>
            <a:lvl1pPr marL="0" indent="0">
              <a:buNone/>
              <a:defRPr sz="2000">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6861" y="77118"/>
            <a:ext cx="9396117" cy="511968"/>
          </a:xfrm>
        </p:spPr>
        <p:txBody>
          <a:bodyPr>
            <a:noAutofit/>
          </a:bodyPr>
          <a:lstStyle>
            <a:lvl1pPr>
              <a:defRPr sz="2800" b="1">
                <a:solidFill>
                  <a:schemeClr val="accent1">
                    <a:lumMod val="50000"/>
                  </a:schemeClr>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386861" y="861647"/>
            <a:ext cx="11430000" cy="5460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551378" y="6559062"/>
            <a:ext cx="1327639" cy="298938"/>
          </a:xfrm>
        </p:spPr>
        <p:txBody>
          <a:bodyPr/>
          <a:lstStyle>
            <a:lvl1pPr algn="ctr">
              <a:defRPr>
                <a:solidFill>
                  <a:schemeClr val="bg1"/>
                </a:solidFill>
              </a:defRPr>
            </a:lvl1pPr>
          </a:lstStyle>
          <a:p>
            <a:fld id="{FA9596BC-A86B-4648-AA7A-206C5CE5FDCB}" type="datetime1">
              <a:t>10/05/2025</a:t>
            </a:fld>
            <a:endParaRPr lang="en-US"/>
          </a:p>
        </p:txBody>
      </p:sp>
      <p:sp>
        <p:nvSpPr>
          <p:cNvPr id="5" name="Footer Placeholder 4"/>
          <p:cNvSpPr>
            <a:spLocks noGrp="1"/>
          </p:cNvSpPr>
          <p:nvPr>
            <p:ph type="ftr" sz="quarter" idx="11"/>
          </p:nvPr>
        </p:nvSpPr>
        <p:spPr>
          <a:xfrm>
            <a:off x="386863" y="6559062"/>
            <a:ext cx="9164515" cy="298938"/>
          </a:xfrm>
        </p:spPr>
        <p:txBody>
          <a:bodyPr/>
          <a:lstStyle>
            <a:lvl1pPr algn="l">
              <a:defRPr/>
            </a:lvl1pPr>
          </a:lstStyle>
          <a:p>
            <a:endParaRPr lang="en-US"/>
          </a:p>
        </p:txBody>
      </p:sp>
      <p:sp>
        <p:nvSpPr>
          <p:cNvPr id="6" name="Slide Number Placeholder 5"/>
          <p:cNvSpPr>
            <a:spLocks noGrp="1"/>
          </p:cNvSpPr>
          <p:nvPr>
            <p:ph type="sldNum" sz="quarter" idx="12"/>
          </p:nvPr>
        </p:nvSpPr>
        <p:spPr>
          <a:xfrm>
            <a:off x="10879016" y="6550272"/>
            <a:ext cx="937845" cy="298937"/>
          </a:xfrm>
        </p:spPr>
        <p:txBody>
          <a:bodyPr/>
          <a:lstStyle>
            <a:lvl1pPr algn="r">
              <a:defRPr/>
            </a:lvl1pPr>
          </a:lstStyle>
          <a:p>
            <a:fld id="{834A3715-FC91-284B-8702-1BAEDE956EBF}" type="slidenum">
              <a:rPr lang="en-US" smtClean="0"/>
              <a:pPr/>
              <a:t>‹#›</a:t>
            </a:fld>
            <a:endParaRPr lang="en-US"/>
          </a:p>
        </p:txBody>
      </p:sp>
      <p:cxnSp>
        <p:nvCxnSpPr>
          <p:cNvPr id="7" name="Straight Connector 6">
            <a:extLst>
              <a:ext uri="{FF2B5EF4-FFF2-40B4-BE49-F238E27FC236}">
                <a16:creationId xmlns:a16="http://schemas.microsoft.com/office/drawing/2014/main" id="{65B85F92-7B40-EA19-6B5D-4F00607BF41B}"/>
              </a:ext>
            </a:extLst>
          </p:cNvPr>
          <p:cNvCxnSpPr>
            <a:cxnSpLocks/>
          </p:cNvCxnSpPr>
          <p:nvPr userDrawn="1"/>
        </p:nvCxnSpPr>
        <p:spPr>
          <a:xfrm>
            <a:off x="386861" y="638352"/>
            <a:ext cx="9396117"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D05F84-CCC6-D44B-BDC2-1A2C8858887F}" type="datetime1">
              <a:t>10/05/2025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A3715-FC91-284B-8702-1BAEDE956E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46285"/>
            <a:ext cx="5181600" cy="5130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046285"/>
            <a:ext cx="5181600" cy="5130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D05092-2F30-4B4B-84DC-DE05CC5EC712}" type="datetime1">
              <a:t>10/05/2025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A3715-FC91-284B-8702-1BAEDE956EBF}" type="slidenum">
              <a:rPr lang="en-US" smtClean="0"/>
              <a:t>‹#›</a:t>
            </a:fld>
            <a:endParaRPr lang="en-US"/>
          </a:p>
        </p:txBody>
      </p:sp>
      <p:cxnSp>
        <p:nvCxnSpPr>
          <p:cNvPr id="8" name="Straight Connector 7">
            <a:extLst>
              <a:ext uri="{FF2B5EF4-FFF2-40B4-BE49-F238E27FC236}">
                <a16:creationId xmlns:a16="http://schemas.microsoft.com/office/drawing/2014/main" id="{573FBC51-D453-A5C4-731B-ACC77E61B60E}"/>
              </a:ext>
            </a:extLst>
          </p:cNvPr>
          <p:cNvCxnSpPr>
            <a:cxnSpLocks/>
          </p:cNvCxnSpPr>
          <p:nvPr userDrawn="1"/>
        </p:nvCxnSpPr>
        <p:spPr>
          <a:xfrm>
            <a:off x="386861" y="638352"/>
            <a:ext cx="9396117"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7"/>
            <a:ext cx="10515600" cy="823912"/>
          </a:xfrm>
        </p:spPr>
        <p:txBody>
          <a:bodyPr/>
          <a:lstStyle>
            <a:lvl1pPr>
              <a:defRPr>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9346CB-CBEF-EC49-9837-363F8DAE96F8}" type="datetime1">
              <a:t>10/05/2025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4A3715-FC91-284B-8702-1BAEDE956E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CDFA34-916E-FA49-BA1D-CA7D19A8DFCA}" type="datetime1">
              <a:t>10/05/2025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4A3715-FC91-284B-8702-1BAEDE956EBF}" type="slidenum">
              <a:rPr lang="en-US" smtClean="0"/>
              <a:t>‹#›</a:t>
            </a:fld>
            <a:endParaRPr lang="en-US"/>
          </a:p>
        </p:txBody>
      </p:sp>
      <p:cxnSp>
        <p:nvCxnSpPr>
          <p:cNvPr id="6" name="Straight Connector 5">
            <a:extLst>
              <a:ext uri="{FF2B5EF4-FFF2-40B4-BE49-F238E27FC236}">
                <a16:creationId xmlns:a16="http://schemas.microsoft.com/office/drawing/2014/main" id="{7608C7F6-BE83-D83D-66F1-9F33AC48A529}"/>
              </a:ext>
            </a:extLst>
          </p:cNvPr>
          <p:cNvCxnSpPr>
            <a:cxnSpLocks/>
          </p:cNvCxnSpPr>
          <p:nvPr userDrawn="1"/>
        </p:nvCxnSpPr>
        <p:spPr>
          <a:xfrm>
            <a:off x="386861" y="638352"/>
            <a:ext cx="9396117"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E2B0C-AAD9-5141-B9B4-56A77C8D8660}" type="datetime1">
              <a:t>10/05/2025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4A3715-FC91-284B-8702-1BAEDE956E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6"/>
            <a:ext cx="3932237" cy="1069974"/>
          </a:xfrm>
        </p:spPr>
        <p:txBody>
          <a:bodyPr anchor="b"/>
          <a:lstStyle>
            <a:lvl1pPr>
              <a:defRPr sz="320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86113F-1835-AE4C-98B5-4C65433B8ACA}" type="datetime1">
              <a:t>10/05/2025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A3715-FC91-284B-8702-1BAEDE956E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0310" y="99152"/>
            <a:ext cx="9460803" cy="489934"/>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7" y="987426"/>
            <a:ext cx="6598503" cy="530786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10310" y="987425"/>
            <a:ext cx="4361716" cy="53078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AA2FA7-F141-C44F-ADF1-6FB3FE233A32}" type="datetime1">
              <a:t>10/05/2025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A3715-FC91-284B-8702-1BAEDE956EBF}" type="slidenum">
              <a:rPr lang="en-US" smtClean="0"/>
              <a:t>‹#›</a:t>
            </a:fld>
            <a:endParaRPr lang="en-US"/>
          </a:p>
        </p:txBody>
      </p:sp>
      <p:cxnSp>
        <p:nvCxnSpPr>
          <p:cNvPr id="8" name="Straight Connector 7">
            <a:extLst>
              <a:ext uri="{FF2B5EF4-FFF2-40B4-BE49-F238E27FC236}">
                <a16:creationId xmlns:a16="http://schemas.microsoft.com/office/drawing/2014/main" id="{BAC7A66E-C94E-C18B-0B3E-D2C1FF2A99C7}"/>
              </a:ext>
            </a:extLst>
          </p:cNvPr>
          <p:cNvCxnSpPr>
            <a:cxnSpLocks/>
          </p:cNvCxnSpPr>
          <p:nvPr userDrawn="1"/>
        </p:nvCxnSpPr>
        <p:spPr>
          <a:xfrm>
            <a:off x="386861" y="638352"/>
            <a:ext cx="9396117"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56BFCE-8973-2547-B8DB-4C25DF126995}" type="datetime1">
              <a:t>10/05/2025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A3715-FC91-284B-8702-1BAEDE956EBF}" type="slidenum">
              <a:rPr lang="en-US" smtClean="0"/>
              <a:t>‹#›</a:t>
            </a:fld>
            <a:endParaRPr lang="en-US"/>
          </a:p>
        </p:txBody>
      </p:sp>
      <p:cxnSp>
        <p:nvCxnSpPr>
          <p:cNvPr id="7" name="Straight Connector 6">
            <a:extLst>
              <a:ext uri="{FF2B5EF4-FFF2-40B4-BE49-F238E27FC236}">
                <a16:creationId xmlns:a16="http://schemas.microsoft.com/office/drawing/2014/main" id="{8787CC89-D82D-1D5C-8A95-5E986A3942AF}"/>
              </a:ext>
            </a:extLst>
          </p:cNvPr>
          <p:cNvCxnSpPr>
            <a:cxnSpLocks/>
          </p:cNvCxnSpPr>
          <p:nvPr userDrawn="1"/>
        </p:nvCxnSpPr>
        <p:spPr>
          <a:xfrm>
            <a:off x="386861" y="638352"/>
            <a:ext cx="9396117"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905607"/>
            <a:ext cx="2628900" cy="5271356"/>
          </a:xfrm>
        </p:spPr>
        <p:txBody>
          <a:bodyPr vert="eaVert"/>
          <a:lstStyle>
            <a:lvl1pPr>
              <a:defRPr>
                <a:solidFill>
                  <a:schemeClr val="tx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10311" y="905608"/>
            <a:ext cx="7734300" cy="527135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BC171-350C-604C-A81C-BAD651DD84AB}" type="datetime1">
              <a:t>10/05/2025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A3715-FC91-284B-8702-1BAEDE956EB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948E56-EC85-4888-870E-BBAE0C144209}"/>
              </a:ext>
            </a:extLst>
          </p:cNvPr>
          <p:cNvSpPr>
            <a:spLocks noGrp="1"/>
          </p:cNvSpPr>
          <p:nvPr>
            <p:ph type="title"/>
          </p:nvPr>
        </p:nvSpPr>
        <p:spPr>
          <a:xfrm>
            <a:off x="410309" y="473724"/>
            <a:ext cx="11265875" cy="502221"/>
          </a:xfrm>
        </p:spPr>
        <p:txBody>
          <a:bodyPr/>
          <a:lstStyle>
            <a:lvl1pPr>
              <a:defRPr>
                <a:solidFill>
                  <a:schemeClr val="tx1"/>
                </a:solidFill>
              </a:defRPr>
            </a:lvl1pPr>
          </a:lstStyle>
          <a:p>
            <a:r>
              <a:rPr lang="en-US"/>
              <a:t>Click to edit Master title style</a:t>
            </a:r>
          </a:p>
        </p:txBody>
      </p:sp>
      <p:pic>
        <p:nvPicPr>
          <p:cNvPr id="1034" name="Picture 10" descr="Vector digital global technology concept, abstract background illustration  - stock vector 3306803 | Crushpixel">
            <a:extLst>
              <a:ext uri="{FF2B5EF4-FFF2-40B4-BE49-F238E27FC236}">
                <a16:creationId xmlns:a16="http://schemas.microsoft.com/office/drawing/2014/main" id="{4744F390-08CB-9599-B8EC-8F534EDA58FD}"/>
              </a:ext>
            </a:extLst>
          </p:cNvPr>
          <p:cNvPicPr>
            <a:picLocks noChangeAspect="1" noChangeArrowheads="1"/>
          </p:cNvPicPr>
          <p:nvPr userDrawn="1"/>
        </p:nvPicPr>
        <p:blipFill>
          <a:blip r:embed="rId3">
            <a:alphaModFix amt="89000"/>
            <a:extLst>
              <a:ext uri="{28A0092B-C50C-407E-A947-70E740481C1C}">
                <a14:useLocalDpi xmlns:a14="http://schemas.microsoft.com/office/drawing/2010/main" val="0"/>
              </a:ext>
            </a:extLst>
          </a:blip>
          <a:srcRect/>
          <a:stretch>
            <a:fillRect/>
          </a:stretch>
        </p:blipFill>
        <p:spPr bwMode="auto">
          <a:xfrm>
            <a:off x="570847" y="1674184"/>
            <a:ext cx="4929000" cy="2773285"/>
          </a:xfrm>
          <a:prstGeom prst="rect">
            <a:avLst/>
          </a:prstGeom>
          <a:noFill/>
          <a:effectLst>
            <a:softEdge rad="251033"/>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CF34CC8-679C-E1A4-7263-63AB7B9E4766}"/>
              </a:ext>
            </a:extLst>
          </p:cNvPr>
          <p:cNvSpPr/>
          <p:nvPr userDrawn="1"/>
        </p:nvSpPr>
        <p:spPr>
          <a:xfrm>
            <a:off x="9197788" y="5647766"/>
            <a:ext cx="2994212" cy="268940"/>
          </a:xfrm>
          <a:prstGeom prst="rect">
            <a:avLst/>
          </a:prstGeom>
          <a:gradFill flip="none" rotWithShape="1">
            <a:gsLst>
              <a:gs pos="0">
                <a:srgbClr val="0070C0">
                  <a:alpha val="95000"/>
                </a:srgbClr>
              </a:gs>
              <a:gs pos="48000">
                <a:schemeClr val="accent5">
                  <a:lumMod val="97000"/>
                  <a:lumOff val="3000"/>
                </a:schemeClr>
              </a:gs>
              <a:gs pos="100000">
                <a:schemeClr val="accent5">
                  <a:lumMod val="60000"/>
                  <a:lumOff val="40000"/>
                </a:schemeClr>
              </a:gs>
            </a:gsLst>
            <a:lin ang="10800000" scaled="1"/>
            <a:tileRect/>
          </a:gradFill>
          <a:effectLst>
            <a:softEdge rad="60734"/>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cs.phenika-uni.edu.vn</a:t>
            </a:r>
          </a:p>
        </p:txBody>
      </p:sp>
      <p:sp>
        <p:nvSpPr>
          <p:cNvPr id="4" name="Rectangle 3">
            <a:extLst>
              <a:ext uri="{FF2B5EF4-FFF2-40B4-BE49-F238E27FC236}">
                <a16:creationId xmlns:a16="http://schemas.microsoft.com/office/drawing/2014/main" id="{493D8A10-F85C-D5C0-064F-C484821483A6}"/>
              </a:ext>
            </a:extLst>
          </p:cNvPr>
          <p:cNvSpPr/>
          <p:nvPr userDrawn="1"/>
        </p:nvSpPr>
        <p:spPr>
          <a:xfrm>
            <a:off x="-1" y="5768788"/>
            <a:ext cx="8740589" cy="6935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705096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oogle Shape;546;p60">
            <a:extLst>
              <a:ext uri="{FF2B5EF4-FFF2-40B4-BE49-F238E27FC236}">
                <a16:creationId xmlns:a16="http://schemas.microsoft.com/office/drawing/2014/main" id="{DDCAB36E-F7B2-66F1-10ED-EE4C8B45BB8A}"/>
              </a:ext>
            </a:extLst>
          </p:cNvPr>
          <p:cNvPicPr preferRelativeResize="0"/>
          <p:nvPr userDrawn="1"/>
        </p:nvPicPr>
        <p:blipFill rotWithShape="1">
          <a:blip r:embed="rId14">
            <a:alphaModFix amt="33000"/>
          </a:blip>
          <a:srcRect/>
          <a:stretch/>
        </p:blipFill>
        <p:spPr>
          <a:xfrm>
            <a:off x="2467" y="159607"/>
            <a:ext cx="12187066" cy="6858000"/>
          </a:xfrm>
          <a:prstGeom prst="rect">
            <a:avLst/>
          </a:prstGeom>
          <a:noFill/>
          <a:ln>
            <a:noFill/>
          </a:ln>
        </p:spPr>
      </p:pic>
      <p:grpSp>
        <p:nvGrpSpPr>
          <p:cNvPr id="8" name="Google Shape;550;p60">
            <a:extLst>
              <a:ext uri="{FF2B5EF4-FFF2-40B4-BE49-F238E27FC236}">
                <a16:creationId xmlns:a16="http://schemas.microsoft.com/office/drawing/2014/main" id="{9097D31E-A757-9A59-F4E2-A9AD5E204DEC}"/>
              </a:ext>
            </a:extLst>
          </p:cNvPr>
          <p:cNvGrpSpPr/>
          <p:nvPr userDrawn="1"/>
        </p:nvGrpSpPr>
        <p:grpSpPr>
          <a:xfrm>
            <a:off x="-13447" y="6494093"/>
            <a:ext cx="12229200" cy="373091"/>
            <a:chOff x="0" y="1661375"/>
            <a:chExt cx="12192000" cy="373091"/>
          </a:xfrm>
        </p:grpSpPr>
        <p:sp>
          <p:nvSpPr>
            <p:cNvPr id="9" name="Google Shape;551;p60">
              <a:extLst>
                <a:ext uri="{FF2B5EF4-FFF2-40B4-BE49-F238E27FC236}">
                  <a16:creationId xmlns:a16="http://schemas.microsoft.com/office/drawing/2014/main" id="{5317D5F3-9A3F-2AEE-3C87-278818A6F94D}"/>
                </a:ext>
              </a:extLst>
            </p:cNvPr>
            <p:cNvSpPr/>
            <p:nvPr/>
          </p:nvSpPr>
          <p:spPr>
            <a:xfrm>
              <a:off x="0" y="1661375"/>
              <a:ext cx="12192000" cy="109728"/>
            </a:xfrm>
            <a:prstGeom prst="rect">
              <a:avLst/>
            </a:prstGeom>
            <a:solidFill>
              <a:srgbClr val="F2652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 name="Google Shape;552;p60">
              <a:extLst>
                <a:ext uri="{FF2B5EF4-FFF2-40B4-BE49-F238E27FC236}">
                  <a16:creationId xmlns:a16="http://schemas.microsoft.com/office/drawing/2014/main" id="{99579910-5347-1499-AF6A-BD1D9E1AC6F5}"/>
                </a:ext>
              </a:extLst>
            </p:cNvPr>
            <p:cNvSpPr/>
            <p:nvPr/>
          </p:nvSpPr>
          <p:spPr>
            <a:xfrm>
              <a:off x="0" y="1760146"/>
              <a:ext cx="12192000" cy="274320"/>
            </a:xfrm>
            <a:prstGeom prst="rect">
              <a:avLst/>
            </a:prstGeom>
            <a:solidFill>
              <a:srgbClr val="22377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2" name="Title Placeholder 1"/>
          <p:cNvSpPr>
            <a:spLocks noGrp="1"/>
          </p:cNvSpPr>
          <p:nvPr>
            <p:ph type="title"/>
          </p:nvPr>
        </p:nvSpPr>
        <p:spPr>
          <a:xfrm>
            <a:off x="410310" y="159607"/>
            <a:ext cx="9399093" cy="42068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10309" y="879231"/>
            <a:ext cx="11418275" cy="55127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01906" y="6567854"/>
            <a:ext cx="1735017" cy="290146"/>
          </a:xfrm>
          <a:prstGeom prst="rect">
            <a:avLst/>
          </a:prstGeom>
        </p:spPr>
        <p:txBody>
          <a:bodyPr vert="horz" lIns="91440" tIns="45720" rIns="91440" bIns="45720" rtlCol="0" anchor="ctr"/>
          <a:lstStyle>
            <a:lvl1pPr algn="ctr">
              <a:defRPr sz="1200">
                <a:solidFill>
                  <a:schemeClr val="bg1">
                    <a:lumMod val="95000"/>
                  </a:schemeClr>
                </a:solidFill>
              </a:defRPr>
            </a:lvl1pPr>
          </a:lstStyle>
          <a:p>
            <a:fld id="{74E59141-79C8-3740-9FA7-CFFFD4984862}" type="datetime1">
              <a:t>10/05/2025</a:t>
            </a:fld>
            <a:endParaRPr lang="en-US"/>
          </a:p>
        </p:txBody>
      </p:sp>
      <p:sp>
        <p:nvSpPr>
          <p:cNvPr id="5" name="Footer Placeholder 4"/>
          <p:cNvSpPr>
            <a:spLocks noGrp="1"/>
          </p:cNvSpPr>
          <p:nvPr>
            <p:ph type="ftr" sz="quarter" idx="3"/>
          </p:nvPr>
        </p:nvSpPr>
        <p:spPr>
          <a:xfrm>
            <a:off x="410309" y="6567855"/>
            <a:ext cx="8991596" cy="291600"/>
          </a:xfrm>
          <a:prstGeom prst="rect">
            <a:avLst/>
          </a:prstGeom>
        </p:spPr>
        <p:txBody>
          <a:bodyPr vert="horz" lIns="91440" tIns="45720" rIns="91440" bIns="45720" rtlCol="0" anchor="ctr"/>
          <a:lstStyle>
            <a:lvl1pPr algn="l">
              <a:defRPr sz="12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11136923" y="6567854"/>
            <a:ext cx="691661" cy="291600"/>
          </a:xfrm>
          <a:prstGeom prst="rect">
            <a:avLst/>
          </a:prstGeom>
        </p:spPr>
        <p:txBody>
          <a:bodyPr vert="horz" lIns="91440" tIns="45720" rIns="91440" bIns="45720" rtlCol="0" anchor="ctr"/>
          <a:lstStyle>
            <a:lvl1pPr algn="r">
              <a:defRPr sz="1200">
                <a:solidFill>
                  <a:schemeClr val="bg1"/>
                </a:solidFill>
              </a:defRPr>
            </a:lvl1pPr>
          </a:lstStyle>
          <a:p>
            <a:fld id="{834A3715-FC91-284B-8702-1BAEDE956EBF}" type="slidenum">
              <a:rPr lang="en-US" smtClean="0"/>
              <a:pPr/>
              <a:t>‹#›</a:t>
            </a:fld>
            <a:endParaRPr lang="en-US"/>
          </a:p>
        </p:txBody>
      </p:sp>
      <p:pic>
        <p:nvPicPr>
          <p:cNvPr id="7" name="Google Shape;640;p191">
            <a:extLst>
              <a:ext uri="{FF2B5EF4-FFF2-40B4-BE49-F238E27FC236}">
                <a16:creationId xmlns:a16="http://schemas.microsoft.com/office/drawing/2014/main" id="{2C2298C6-0EA2-F48F-5DCD-1C9F4DFE4073}"/>
              </a:ext>
            </a:extLst>
          </p:cNvPr>
          <p:cNvPicPr preferRelativeResize="0"/>
          <p:nvPr userDrawn="1"/>
        </p:nvPicPr>
        <p:blipFill rotWithShape="1">
          <a:blip r:embed="rId15">
            <a:alphaModFix/>
          </a:blip>
          <a:srcRect/>
          <a:stretch/>
        </p:blipFill>
        <p:spPr>
          <a:xfrm>
            <a:off x="9923929" y="45308"/>
            <a:ext cx="2210105" cy="420684"/>
          </a:xfrm>
          <a:prstGeom prst="rect">
            <a:avLst/>
          </a:prstGeom>
          <a:noFill/>
          <a:ln>
            <a:noFill/>
          </a:ln>
        </p:spPr>
      </p:pic>
    </p:spTree>
    <p:extLst>
      <p:ext uri="{BB962C8B-B14F-4D97-AF65-F5344CB8AC3E}">
        <p14:creationId xmlns:p14="http://schemas.microsoft.com/office/powerpoint/2010/main" val="591870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600" b="1" i="0" kern="1200">
          <a:solidFill>
            <a:srgbClr val="3430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arduino.cc/en/softwar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arduino.c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arduino.cc/en/Main/Softwar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ochocit.com/wp-content/uploads/2021/10/thanh-cong-cu-cua-arduino-ide.p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ochocit.com/wp-content/uploads/2021/10/preferences-arduino-ide.p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www.labcenter.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ochocit.com/wp-content/uploads/2021/10/thu-vien-gia-lap-arduino-proteus.png" TargetMode="External"/><Relationship Id="rId2" Type="http://schemas.openxmlformats.org/officeDocument/2006/relationships/hyperlink" Target="https://drive.google.com/file/d/19r90CSZOUrwjzWYuLn-Ih-3wv7PmN0r3/view?usp=sharin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drive/folders/0B7wC5tF4pJiqY2NrcmVhZXEwclk?resourcekey=0-Cgw49IW2_hDVqiE-hn9-jA" TargetMode="External"/><Relationship Id="rId2" Type="http://schemas.openxmlformats.org/officeDocument/2006/relationships/hyperlink" Target="https://www.youtube.com/watch?v=Pe7Gfkmh3M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arduino.vn/reference/false" TargetMode="External"/><Relationship Id="rId13" Type="http://schemas.openxmlformats.org/officeDocument/2006/relationships/hyperlink" Target="http://arduino.vn/reference/char" TargetMode="External"/><Relationship Id="rId18" Type="http://schemas.openxmlformats.org/officeDocument/2006/relationships/hyperlink" Target="http://arduino.vn/reference/word" TargetMode="External"/><Relationship Id="rId26" Type="http://schemas.openxmlformats.org/officeDocument/2006/relationships/hyperlink" Target="http://arduino.vn/reference/library/string/1/string-object-doi-tuong-chuoi-cuc-manh-tren-arduino" TargetMode="External"/><Relationship Id="rId3" Type="http://schemas.openxmlformats.org/officeDocument/2006/relationships/hyperlink" Target="http://arduino.vn/reference/high" TargetMode="External"/><Relationship Id="rId21" Type="http://schemas.openxmlformats.org/officeDocument/2006/relationships/hyperlink" Target="http://arduino.vn/reference/short" TargetMode="External"/><Relationship Id="rId34" Type="http://schemas.openxmlformats.org/officeDocument/2006/relationships/hyperlink" Target="http://arduino.vn/reference/static-bien-tinh" TargetMode="External"/><Relationship Id="rId7" Type="http://schemas.openxmlformats.org/officeDocument/2006/relationships/hyperlink" Target="http://arduino.vn/reference/true" TargetMode="External"/><Relationship Id="rId12" Type="http://schemas.openxmlformats.org/officeDocument/2006/relationships/hyperlink" Target="http://arduino.vn/reference/boolean" TargetMode="External"/><Relationship Id="rId17" Type="http://schemas.openxmlformats.org/officeDocument/2006/relationships/hyperlink" Target="http://arduino.vn/reference/unsigned-int" TargetMode="External"/><Relationship Id="rId25" Type="http://schemas.openxmlformats.org/officeDocument/2006/relationships/hyperlink" Target="http://arduino.vn/reference/string" TargetMode="External"/><Relationship Id="rId33" Type="http://schemas.openxmlformats.org/officeDocument/2006/relationships/hyperlink" Target="http://arduino.vn/reference/pham-vi-bien" TargetMode="External"/><Relationship Id="rId2" Type="http://schemas.openxmlformats.org/officeDocument/2006/relationships/notesSlide" Target="../notesSlides/notesSlide10.xml"/><Relationship Id="rId16" Type="http://schemas.openxmlformats.org/officeDocument/2006/relationships/hyperlink" Target="http://arduino.vn/reference/int" TargetMode="External"/><Relationship Id="rId20" Type="http://schemas.openxmlformats.org/officeDocument/2006/relationships/hyperlink" Target="http://arduino.vn/reference/unsigned-long" TargetMode="External"/><Relationship Id="rId29" Type="http://schemas.openxmlformats.org/officeDocument/2006/relationships/hyperlink" Target="http://arduino.vn/reference/IntCast" TargetMode="External"/><Relationship Id="rId1" Type="http://schemas.openxmlformats.org/officeDocument/2006/relationships/slideLayout" Target="../slideLayouts/slideLayout2.xml"/><Relationship Id="rId6" Type="http://schemas.openxmlformats.org/officeDocument/2006/relationships/hyperlink" Target="http://arduino.vn/reference/ledbuiltin" TargetMode="External"/><Relationship Id="rId11" Type="http://schemas.openxmlformats.org/officeDocument/2006/relationships/hyperlink" Target="http://arduino.vn/reference/void" TargetMode="External"/><Relationship Id="rId24" Type="http://schemas.openxmlformats.org/officeDocument/2006/relationships/hyperlink" Target="http://arduino.vn/reference/array" TargetMode="External"/><Relationship Id="rId32" Type="http://schemas.openxmlformats.org/officeDocument/2006/relationships/hyperlink" Target="http://arduino.vn/reference/FloatCast" TargetMode="External"/><Relationship Id="rId37" Type="http://schemas.openxmlformats.org/officeDocument/2006/relationships/hyperlink" Target="http://arduino.vn/reference/sizeof" TargetMode="External"/><Relationship Id="rId5" Type="http://schemas.openxmlformats.org/officeDocument/2006/relationships/hyperlink" Target="http://arduino.vn/reference/thiet-dat-digital-pins-nhu-la-input-inputpullup-va-output" TargetMode="External"/><Relationship Id="rId15" Type="http://schemas.openxmlformats.org/officeDocument/2006/relationships/hyperlink" Target="http://arduino.vn/reference/byte" TargetMode="External"/><Relationship Id="rId23" Type="http://schemas.openxmlformats.org/officeDocument/2006/relationships/hyperlink" Target="http://arduino.vn/reference/double" TargetMode="External"/><Relationship Id="rId28" Type="http://schemas.openxmlformats.org/officeDocument/2006/relationships/hyperlink" Target="http://arduino.vn/reference/ByteCast" TargetMode="External"/><Relationship Id="rId36" Type="http://schemas.openxmlformats.org/officeDocument/2006/relationships/hyperlink" Target="http://arduino.vn/reference/volatile" TargetMode="External"/><Relationship Id="rId10" Type="http://schemas.openxmlformats.org/officeDocument/2006/relationships/hyperlink" Target="http://arduino.vn/reference/Fpconstants" TargetMode="External"/><Relationship Id="rId19" Type="http://schemas.openxmlformats.org/officeDocument/2006/relationships/hyperlink" Target="http://arduino.vn/reference/long" TargetMode="External"/><Relationship Id="rId31" Type="http://schemas.openxmlformats.org/officeDocument/2006/relationships/hyperlink" Target="http://arduino.vn/reference/LongCast" TargetMode="External"/><Relationship Id="rId4" Type="http://schemas.openxmlformats.org/officeDocument/2006/relationships/hyperlink" Target="http://arduino.vn/reference/low" TargetMode="External"/><Relationship Id="rId9" Type="http://schemas.openxmlformats.org/officeDocument/2006/relationships/hyperlink" Target="http://arduino.vn/reference/hang-so-nguyen" TargetMode="External"/><Relationship Id="rId14" Type="http://schemas.openxmlformats.org/officeDocument/2006/relationships/hyperlink" Target="http://arduino.vn/reference/unsigned-char" TargetMode="External"/><Relationship Id="rId22" Type="http://schemas.openxmlformats.org/officeDocument/2006/relationships/hyperlink" Target="http://arduino.vn/reference/float" TargetMode="External"/><Relationship Id="rId27" Type="http://schemas.openxmlformats.org/officeDocument/2006/relationships/hyperlink" Target="http://arduino.vn/reference/CharCast" TargetMode="External"/><Relationship Id="rId30" Type="http://schemas.openxmlformats.org/officeDocument/2006/relationships/hyperlink" Target="http://arduino.vn/reference/WordCast" TargetMode="External"/><Relationship Id="rId35" Type="http://schemas.openxmlformats.org/officeDocument/2006/relationships/hyperlink" Target="http://arduino.vn/reference/const-bien-hang" TargetMode="External"/></Relationships>
</file>

<file path=ppt/slides/_rels/slide32.xml.rels><?xml version="1.0" encoding="UTF-8" standalone="yes"?>
<Relationships xmlns="http://schemas.openxmlformats.org/package/2006/relationships"><Relationship Id="rId13" Type="http://schemas.openxmlformats.org/officeDocument/2006/relationships/hyperlink" Target="http://arduino.vn/reference/delay" TargetMode="External"/><Relationship Id="rId18" Type="http://schemas.openxmlformats.org/officeDocument/2006/relationships/hyperlink" Target="http://arduino.vn/reference/map" TargetMode="External"/><Relationship Id="rId26" Type="http://schemas.openxmlformats.org/officeDocument/2006/relationships/hyperlink" Target="http://arduino.vn/tutorial/1465-cac-ham-so-hoc-exp-idexp-modf-ln-log10-ceil-floor-atoichuyen-chu-thanh-so#index8" TargetMode="External"/><Relationship Id="rId39" Type="http://schemas.openxmlformats.org/officeDocument/2006/relationships/hyperlink" Target="http://arduino.vn/tutorial/1464-cac-ham-tinh-luong-giac-trong-arduino-acosarcos-asinarcsin-atanarctan-atan2-cosh-sinh#index15" TargetMode="External"/><Relationship Id="rId21" Type="http://schemas.openxmlformats.org/officeDocument/2006/relationships/hyperlink" Target="http://arduino.vn/reference/sq" TargetMode="External"/><Relationship Id="rId34" Type="http://schemas.openxmlformats.org/officeDocument/2006/relationships/hyperlink" Target="http://arduino.vn/reference/sin" TargetMode="External"/><Relationship Id="rId42" Type="http://schemas.openxmlformats.org/officeDocument/2006/relationships/hyperlink" Target="http://arduino.vn/tutorial/1464-cac-ham-tinh-luong-giac-trong-arduino-acosarcos-asinarcsin-atanarctan-atan2-cosh-sinh#index24" TargetMode="External"/><Relationship Id="rId47" Type="http://schemas.openxmlformats.org/officeDocument/2006/relationships/hyperlink" Target="http://arduino.vn/reference/shiftout" TargetMode="External"/><Relationship Id="rId50" Type="http://schemas.openxmlformats.org/officeDocument/2006/relationships/hyperlink" Target="http://arduino.vn/tutorial/1467-cac-ham-kiem-tra-tinh-dung-dan-cua-viec-nhap-xuat-tren-arduino#index5" TargetMode="External"/><Relationship Id="rId55" Type="http://schemas.openxmlformats.org/officeDocument/2006/relationships/hyperlink" Target="http://arduino.vn/tutorial/1467-cac-ham-kiem-tra-tinh-dung-dan-cua-viec-nhap-xuat-tren-arduino#index19" TargetMode="External"/><Relationship Id="rId63" Type="http://schemas.openxmlformats.org/officeDocument/2006/relationships/hyperlink" Target="http://arduino.vn/tutorial/1467-cac-ham-kiem-tra-tinh-dung-dan-cua-viec-nhap-xuat-tren-arduino#index43" TargetMode="External"/><Relationship Id="rId68" Type="http://schemas.openxmlformats.org/officeDocument/2006/relationships/hyperlink" Target="http://arduino.vn/reference/bitset" TargetMode="External"/><Relationship Id="rId7" Type="http://schemas.openxmlformats.org/officeDocument/2006/relationships/hyperlink" Target="http://arduino.vn/reference/analogread" TargetMode="External"/><Relationship Id="rId71" Type="http://schemas.openxmlformats.org/officeDocument/2006/relationships/hyperlink" Target="http://arduino.vn/reference/attachinterrupt" TargetMode="External"/><Relationship Id="rId2" Type="http://schemas.openxmlformats.org/officeDocument/2006/relationships/notesSlide" Target="../notesSlides/notesSlide11.xml"/><Relationship Id="rId16" Type="http://schemas.openxmlformats.org/officeDocument/2006/relationships/hyperlink" Target="http://arduino.vn/reference/max" TargetMode="External"/><Relationship Id="rId29" Type="http://schemas.openxmlformats.org/officeDocument/2006/relationships/hyperlink" Target="http://arduino.vn/tutorial/1465-cac-ham-so-hoc-exp-idexp-modf-ln-log10-ceil-floor-atoichuyen-chu-thanh-so#index17" TargetMode="External"/><Relationship Id="rId11" Type="http://schemas.openxmlformats.org/officeDocument/2006/relationships/hyperlink" Target="http://arduino.vn/reference/millis" TargetMode="External"/><Relationship Id="rId24" Type="http://schemas.openxmlformats.org/officeDocument/2006/relationships/hyperlink" Target="http://arduino.vn/tutorial/1465-cac-ham-so-hoc-exp-idexp-modf-ln-log10-ceil-floor-atoichuyen-chu-thanh-so#index2" TargetMode="External"/><Relationship Id="rId32" Type="http://schemas.openxmlformats.org/officeDocument/2006/relationships/hyperlink" Target="http://arduino.vn/tutorial/1465-cac-ham-so-hoc-exp-idexp-modf-ln-log10-ceil-floor-atoichuyen-chu-thanh-so#index28" TargetMode="External"/><Relationship Id="rId37" Type="http://schemas.openxmlformats.org/officeDocument/2006/relationships/hyperlink" Target="http://arduino.vn/tutorial/1464-cac-ham-tinh-luong-giac-trong-arduino-acosarcos-asinarcsin-atanarctan-atan2-cosh-sinh#index9" TargetMode="External"/><Relationship Id="rId40" Type="http://schemas.openxmlformats.org/officeDocument/2006/relationships/hyperlink" Target="http://arduino.vn/tutorial/1464-cac-ham-tinh-luong-giac-trong-arduino-acosarcos-asinarcsin-atanarctan-atan2-cosh-sinh#index18" TargetMode="External"/><Relationship Id="rId45" Type="http://schemas.openxmlformats.org/officeDocument/2006/relationships/hyperlink" Target="http://arduino.vn/reference/tone" TargetMode="External"/><Relationship Id="rId53" Type="http://schemas.openxmlformats.org/officeDocument/2006/relationships/hyperlink" Target="http://arduino.vn/tutorial/1467-cac-ham-kiem-tra-tinh-dung-dan-cua-viec-nhap-xuat-tren-arduino#index13" TargetMode="External"/><Relationship Id="rId58" Type="http://schemas.openxmlformats.org/officeDocument/2006/relationships/hyperlink" Target="http://arduino.vn/tutorial/1467-cac-ham-kiem-tra-tinh-dung-dan-cua-viec-nhap-xuat-tren-arduino#index28" TargetMode="External"/><Relationship Id="rId66" Type="http://schemas.openxmlformats.org/officeDocument/2006/relationships/hyperlink" Target="http://arduino.vn/reference/bitread" TargetMode="External"/><Relationship Id="rId74" Type="http://schemas.openxmlformats.org/officeDocument/2006/relationships/hyperlink" Target="http://arduino.vn/reference/nointerrupts" TargetMode="External"/><Relationship Id="rId5" Type="http://schemas.openxmlformats.org/officeDocument/2006/relationships/hyperlink" Target="http://arduino.vn/reference/digitalread" TargetMode="External"/><Relationship Id="rId15" Type="http://schemas.openxmlformats.org/officeDocument/2006/relationships/hyperlink" Target="http://arduino.vn/reference/min" TargetMode="External"/><Relationship Id="rId23" Type="http://schemas.openxmlformats.org/officeDocument/2006/relationships/hyperlink" Target="http://arduino.vn/reference/constrain" TargetMode="External"/><Relationship Id="rId28" Type="http://schemas.openxmlformats.org/officeDocument/2006/relationships/hyperlink" Target="http://arduino.vn/tutorial/1465-cac-ham-so-hoc-exp-idexp-modf-ln-log10-ceil-floor-atoichuyen-chu-thanh-so#index14" TargetMode="External"/><Relationship Id="rId36" Type="http://schemas.openxmlformats.org/officeDocument/2006/relationships/hyperlink" Target="http://arduino.vn/tutorial/1464-cac-ham-tinh-luong-giac-trong-arduino-acosarcos-asinarcsin-atanarctan-atan2-cosh-sinh#index6" TargetMode="External"/><Relationship Id="rId49" Type="http://schemas.openxmlformats.org/officeDocument/2006/relationships/hyperlink" Target="http://arduino.vn/tutorial/1467-cac-ham-kiem-tra-tinh-dung-dan-cua-viec-nhap-xuat-tren-arduino#index2" TargetMode="External"/><Relationship Id="rId57" Type="http://schemas.openxmlformats.org/officeDocument/2006/relationships/hyperlink" Target="http://arduino.vn/tutorial/1467-cac-ham-kiem-tra-tinh-dung-dan-cua-viec-nhap-xuat-tren-arduino#index25" TargetMode="External"/><Relationship Id="rId61" Type="http://schemas.openxmlformats.org/officeDocument/2006/relationships/hyperlink" Target="http://arduino.vn/tutorial/1467-cac-ham-kiem-tra-tinh-dung-dan-cua-viec-nhap-xuat-tren-arduino#index37" TargetMode="External"/><Relationship Id="rId10" Type="http://schemas.openxmlformats.org/officeDocument/2006/relationships/hyperlink" Target="http://arduino.vn/reference/xung-ppm" TargetMode="External"/><Relationship Id="rId19" Type="http://schemas.openxmlformats.org/officeDocument/2006/relationships/hyperlink" Target="http://arduino.vn/reference/pow" TargetMode="External"/><Relationship Id="rId31" Type="http://schemas.openxmlformats.org/officeDocument/2006/relationships/hyperlink" Target="http://arduino.vn/tutorial/1465-cac-ham-so-hoc-exp-idexp-modf-ln-log10-ceil-floor-atoichuyen-chu-thanh-so#index24" TargetMode="External"/><Relationship Id="rId44" Type="http://schemas.openxmlformats.org/officeDocument/2006/relationships/hyperlink" Target="http://arduino.vn/reference/random" TargetMode="External"/><Relationship Id="rId52" Type="http://schemas.openxmlformats.org/officeDocument/2006/relationships/hyperlink" Target="http://arduino.vn/tutorial/1467-cac-ham-kiem-tra-tinh-dung-dan-cua-viec-nhap-xuat-tren-arduino#index10" TargetMode="External"/><Relationship Id="rId60" Type="http://schemas.openxmlformats.org/officeDocument/2006/relationships/hyperlink" Target="http://arduino.vn/tutorial/1467-cac-ham-kiem-tra-tinh-dung-dan-cua-viec-nhap-xuat-tren-arduino#index34" TargetMode="External"/><Relationship Id="rId65" Type="http://schemas.openxmlformats.org/officeDocument/2006/relationships/hyperlink" Target="http://arduino.vn/reference/highbyte" TargetMode="External"/><Relationship Id="rId73" Type="http://schemas.openxmlformats.org/officeDocument/2006/relationships/hyperlink" Target="http://arduino.vn/reference/interrupts" TargetMode="External"/><Relationship Id="rId4" Type="http://schemas.openxmlformats.org/officeDocument/2006/relationships/hyperlink" Target="http://arduino.vn/reference/digitalwrite" TargetMode="External"/><Relationship Id="rId9" Type="http://schemas.openxmlformats.org/officeDocument/2006/relationships/hyperlink" Target="http://arduino.vn/reference/xung-pwm" TargetMode="External"/><Relationship Id="rId14" Type="http://schemas.openxmlformats.org/officeDocument/2006/relationships/hyperlink" Target="http://arduino.vn/reference/delaymicroseconds" TargetMode="External"/><Relationship Id="rId22" Type="http://schemas.openxmlformats.org/officeDocument/2006/relationships/hyperlink" Target="http://arduino.vn/reference/isnan" TargetMode="External"/><Relationship Id="rId27" Type="http://schemas.openxmlformats.org/officeDocument/2006/relationships/hyperlink" Target="http://arduino.vn/tutorial/1465-cac-ham-so-hoc-exp-idexp-modf-ln-log10-ceil-floor-atoichuyen-chu-thanh-so#index11" TargetMode="External"/><Relationship Id="rId30" Type="http://schemas.openxmlformats.org/officeDocument/2006/relationships/hyperlink" Target="http://arduino.vn/tutorial/1465-cac-ham-so-hoc-exp-idexp-modf-ln-log10-ceil-floor-atoichuyen-chu-thanh-so#index20" TargetMode="External"/><Relationship Id="rId35" Type="http://schemas.openxmlformats.org/officeDocument/2006/relationships/hyperlink" Target="http://arduino.vn/reference/tan" TargetMode="External"/><Relationship Id="rId43" Type="http://schemas.openxmlformats.org/officeDocument/2006/relationships/hyperlink" Target="http://arduino.vn/reference/randomseed" TargetMode="External"/><Relationship Id="rId48" Type="http://schemas.openxmlformats.org/officeDocument/2006/relationships/hyperlink" Target="http://arduino.vn/reference/pulsein" TargetMode="External"/><Relationship Id="rId56" Type="http://schemas.openxmlformats.org/officeDocument/2006/relationships/hyperlink" Target="http://arduino.vn/tutorial/1467-cac-ham-kiem-tra-tinh-dung-dan-cua-viec-nhap-xuat-tren-arduino#index22" TargetMode="External"/><Relationship Id="rId64" Type="http://schemas.openxmlformats.org/officeDocument/2006/relationships/hyperlink" Target="http://arduino.vn/reference/lowbyte" TargetMode="External"/><Relationship Id="rId69" Type="http://schemas.openxmlformats.org/officeDocument/2006/relationships/hyperlink" Target="http://arduino.vn/reference/bitclear" TargetMode="External"/><Relationship Id="rId8" Type="http://schemas.openxmlformats.org/officeDocument/2006/relationships/hyperlink" Target="http://arduino.vn/reference/analogwrite" TargetMode="External"/><Relationship Id="rId51" Type="http://schemas.openxmlformats.org/officeDocument/2006/relationships/hyperlink" Target="http://arduino.vn/tutorial/1467-cac-ham-kiem-tra-tinh-dung-dan-cua-viec-nhap-xuat-tren-arduino#index8" TargetMode="External"/><Relationship Id="rId72" Type="http://schemas.openxmlformats.org/officeDocument/2006/relationships/hyperlink" Target="http://arduino.vn/reference/detachinterrupt" TargetMode="External"/><Relationship Id="rId3" Type="http://schemas.openxmlformats.org/officeDocument/2006/relationships/hyperlink" Target="http://arduino.vn/reference/pinmode" TargetMode="External"/><Relationship Id="rId12" Type="http://schemas.openxmlformats.org/officeDocument/2006/relationships/hyperlink" Target="http://arduino.vn/reference/micros" TargetMode="External"/><Relationship Id="rId17" Type="http://schemas.openxmlformats.org/officeDocument/2006/relationships/hyperlink" Target="http://arduino.vn/reference/abs" TargetMode="External"/><Relationship Id="rId25" Type="http://schemas.openxmlformats.org/officeDocument/2006/relationships/hyperlink" Target="http://arduino.vn/tutorial/1465-cac-ham-so-hoc-exp-idexp-modf-ln-log10-ceil-floor-atoichuyen-chu-thanh-so#index5" TargetMode="External"/><Relationship Id="rId33" Type="http://schemas.openxmlformats.org/officeDocument/2006/relationships/hyperlink" Target="http://arduino.vn/reference/cos" TargetMode="External"/><Relationship Id="rId38" Type="http://schemas.openxmlformats.org/officeDocument/2006/relationships/hyperlink" Target="http://arduino.vn/tutorial/1464-cac-ham-tinh-luong-giac-trong-arduino-acosarcos-asinarcsin-atanarctan-atan2-cosh-sinh#index12" TargetMode="External"/><Relationship Id="rId46" Type="http://schemas.openxmlformats.org/officeDocument/2006/relationships/hyperlink" Target="http://arduino.vn/reference/notone" TargetMode="External"/><Relationship Id="rId59" Type="http://schemas.openxmlformats.org/officeDocument/2006/relationships/hyperlink" Target="http://arduino.vn/tutorial/1467-cac-ham-kiem-tra-tinh-dung-dan-cua-viec-nhap-xuat-tren-arduino#index31" TargetMode="External"/><Relationship Id="rId67" Type="http://schemas.openxmlformats.org/officeDocument/2006/relationships/hyperlink" Target="http://arduino.vn/reference/bitwrite" TargetMode="External"/><Relationship Id="rId20" Type="http://schemas.openxmlformats.org/officeDocument/2006/relationships/hyperlink" Target="http://arduino.vn/reference/sqrt" TargetMode="External"/><Relationship Id="rId41" Type="http://schemas.openxmlformats.org/officeDocument/2006/relationships/hyperlink" Target="http://arduino.vn/tutorial/1464-cac-ham-tinh-luong-giac-trong-arduino-acosarcos-asinarcsin-atanarctan-atan2-cosh-sinh#index21" TargetMode="External"/><Relationship Id="rId54" Type="http://schemas.openxmlformats.org/officeDocument/2006/relationships/hyperlink" Target="http://arduino.vn/tutorial/1467-cac-ham-kiem-tra-tinh-dung-dan-cua-viec-nhap-xuat-tren-arduino#index16" TargetMode="External"/><Relationship Id="rId62" Type="http://schemas.openxmlformats.org/officeDocument/2006/relationships/hyperlink" Target="http://arduino.vn/tutorial/1467-cac-ham-kiem-tra-tinh-dung-dan-cua-viec-nhap-xuat-tren-arduino#index40" TargetMode="External"/><Relationship Id="rId70" Type="http://schemas.openxmlformats.org/officeDocument/2006/relationships/hyperlink" Target="http://arduino.vn/reference/bit" TargetMode="External"/><Relationship Id="rId75" Type="http://schemas.openxmlformats.org/officeDocument/2006/relationships/hyperlink" Target="http://arduino.vn/reference/library/serial/1/gioi-thieu/serial-thu-vien-giao-tiep-giua-cac-mach-arduino-de-hoc-nhat" TargetMode="External"/><Relationship Id="rId1" Type="http://schemas.openxmlformats.org/officeDocument/2006/relationships/slideLayout" Target="../slideLayouts/slideLayout2.xml"/><Relationship Id="rId6" Type="http://schemas.openxmlformats.org/officeDocument/2006/relationships/hyperlink" Target="http://arduino.vn/reference/analogreferenc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E3841-BFEA-3869-19F4-A6AC22734B2E}"/>
              </a:ext>
            </a:extLst>
          </p:cNvPr>
          <p:cNvSpPr>
            <a:spLocks noGrp="1"/>
          </p:cNvSpPr>
          <p:nvPr>
            <p:ph type="ctrTitle"/>
          </p:nvPr>
        </p:nvSpPr>
        <p:spPr>
          <a:xfrm>
            <a:off x="401444" y="403412"/>
            <a:ext cx="5931479" cy="457200"/>
          </a:xfrm>
        </p:spPr>
        <p:txBody>
          <a:bodyPr/>
          <a:lstStyle/>
          <a:p>
            <a:pPr algn="l"/>
            <a:r>
              <a:rPr lang="en-VN" sz="2400" dirty="0"/>
              <a:t>CSE703023. Kiến trúc máy tính</a:t>
            </a:r>
          </a:p>
        </p:txBody>
      </p:sp>
      <p:sp>
        <p:nvSpPr>
          <p:cNvPr id="7" name="Text Placeholder 6">
            <a:extLst>
              <a:ext uri="{FF2B5EF4-FFF2-40B4-BE49-F238E27FC236}">
                <a16:creationId xmlns:a16="http://schemas.microsoft.com/office/drawing/2014/main" id="{DF572ABE-ECB7-CA09-05B4-89733C33BAA2}"/>
              </a:ext>
            </a:extLst>
          </p:cNvPr>
          <p:cNvSpPr>
            <a:spLocks noGrp="1"/>
          </p:cNvSpPr>
          <p:nvPr>
            <p:ph type="body" sz="quarter" idx="11"/>
          </p:nvPr>
        </p:nvSpPr>
        <p:spPr>
          <a:xfrm>
            <a:off x="142875" y="5997386"/>
            <a:ext cx="6814516" cy="457201"/>
          </a:xfrm>
        </p:spPr>
        <p:txBody>
          <a:bodyPr/>
          <a:lstStyle/>
          <a:p>
            <a:r>
              <a:rPr lang="en-VN">
                <a:solidFill>
                  <a:schemeClr val="accent1"/>
                </a:solidFill>
              </a:rPr>
              <a:t>Khoa Công nghệ Thông tin – Trường Đại học Phenikaa</a:t>
            </a:r>
          </a:p>
        </p:txBody>
      </p:sp>
      <p:sp>
        <p:nvSpPr>
          <p:cNvPr id="4" name="Title 1">
            <a:extLst>
              <a:ext uri="{FF2B5EF4-FFF2-40B4-BE49-F238E27FC236}">
                <a16:creationId xmlns:a16="http://schemas.microsoft.com/office/drawing/2014/main" id="{67BB3197-5D74-7C94-F24E-0EFD6C4F410F}"/>
              </a:ext>
            </a:extLst>
          </p:cNvPr>
          <p:cNvSpPr txBox="1">
            <a:spLocks/>
          </p:cNvSpPr>
          <p:nvPr/>
        </p:nvSpPr>
        <p:spPr>
          <a:xfrm>
            <a:off x="792408" y="2800350"/>
            <a:ext cx="10607183" cy="81328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500" b="1" i="0" kern="1200">
                <a:solidFill>
                  <a:srgbClr val="FF7617"/>
                </a:solidFill>
                <a:effectLst>
                  <a:outerShdw blurRad="38100" dist="38100" dir="2700000" algn="tl">
                    <a:srgbClr val="000000">
                      <a:alpha val="43137"/>
                    </a:srgbClr>
                  </a:outerShdw>
                </a:effectLst>
                <a:latin typeface="+mj-lt"/>
                <a:ea typeface="+mj-ea"/>
                <a:cs typeface="+mj-cs"/>
              </a:defRPr>
            </a:lvl1pPr>
          </a:lstStyle>
          <a:p>
            <a:r>
              <a:rPr lang="en-US">
                <a:solidFill>
                  <a:schemeClr val="accent2">
                    <a:lumMod val="75000"/>
                  </a:schemeClr>
                </a:solidFill>
                <a:effectLst/>
                <a:latin typeface="+mn-lt"/>
              </a:rPr>
              <a:t>BÀI </a:t>
            </a:r>
            <a:r>
              <a:rPr lang="en-US" dirty="0">
                <a:solidFill>
                  <a:schemeClr val="accent2">
                    <a:lumMod val="75000"/>
                  </a:schemeClr>
                </a:solidFill>
                <a:effectLst/>
                <a:latin typeface="+mn-lt"/>
              </a:rPr>
              <a:t>1</a:t>
            </a:r>
            <a:r>
              <a:rPr lang="en-US">
                <a:solidFill>
                  <a:schemeClr val="accent2">
                    <a:lumMod val="75000"/>
                  </a:schemeClr>
                </a:solidFill>
                <a:effectLst/>
                <a:latin typeface="+mn-lt"/>
              </a:rPr>
              <a:t>: TỔNG QUAN VỀ ARDUINO </a:t>
            </a:r>
          </a:p>
          <a:p>
            <a:r>
              <a:rPr lang="en-US">
                <a:solidFill>
                  <a:schemeClr val="accent2">
                    <a:lumMod val="75000"/>
                  </a:schemeClr>
                </a:solidFill>
                <a:effectLst/>
                <a:latin typeface="+mn-lt"/>
              </a:rPr>
              <a:t>CÁCH SỬ DỤNG BỘ KIT VÀ IDE LẬP TRÌNH, CÁC PHẦN MỀM MÔ PHỎNG </a:t>
            </a:r>
            <a:endParaRPr lang="en-VN" dirty="0">
              <a:solidFill>
                <a:schemeClr val="accent2">
                  <a:lumMod val="75000"/>
                </a:schemeClr>
              </a:solidFill>
              <a:effectLst/>
              <a:latin typeface="+mn-lt"/>
            </a:endParaRPr>
          </a:p>
        </p:txBody>
      </p:sp>
      <p:sp>
        <p:nvSpPr>
          <p:cNvPr id="6" name="Subtitle 5">
            <a:extLst>
              <a:ext uri="{FF2B5EF4-FFF2-40B4-BE49-F238E27FC236}">
                <a16:creationId xmlns:a16="http://schemas.microsoft.com/office/drawing/2014/main" id="{A61A157B-1197-CD73-FD5A-20B8DEE5E9B9}"/>
              </a:ext>
            </a:extLst>
          </p:cNvPr>
          <p:cNvSpPr>
            <a:spLocks noGrp="1"/>
          </p:cNvSpPr>
          <p:nvPr>
            <p:ph type="subTitle" idx="1"/>
          </p:nvPr>
        </p:nvSpPr>
        <p:spPr>
          <a:xfrm>
            <a:off x="4495763" y="443832"/>
            <a:ext cx="3200472" cy="457200"/>
          </a:xfrm>
        </p:spPr>
        <p:txBody>
          <a:bodyPr>
            <a:normAutofit lnSpcReduction="10000"/>
          </a:bodyPr>
          <a:lstStyle/>
          <a:p>
            <a:pPr algn="l"/>
            <a:r>
              <a:rPr lang="en-US" sz="2800" b="1" dirty="0" err="1"/>
              <a:t>Thực</a:t>
            </a:r>
            <a:r>
              <a:rPr lang="en-US" sz="2800" b="1" dirty="0"/>
              <a:t> </a:t>
            </a:r>
            <a:r>
              <a:rPr lang="en-US" sz="2800" b="1" dirty="0" err="1"/>
              <a:t>hành</a:t>
            </a:r>
            <a:endParaRPr lang="en-VN" sz="2800" b="1" dirty="0"/>
          </a:p>
        </p:txBody>
      </p:sp>
      <p:sp>
        <p:nvSpPr>
          <p:cNvPr id="8" name="Text Placeholder 6">
            <a:extLst>
              <a:ext uri="{FF2B5EF4-FFF2-40B4-BE49-F238E27FC236}">
                <a16:creationId xmlns:a16="http://schemas.microsoft.com/office/drawing/2014/main" id="{F3BBD86F-2FB6-16FD-A846-04FCEC06C4C4}"/>
              </a:ext>
            </a:extLst>
          </p:cNvPr>
          <p:cNvSpPr txBox="1">
            <a:spLocks/>
          </p:cNvSpPr>
          <p:nvPr/>
        </p:nvSpPr>
        <p:spPr>
          <a:xfrm>
            <a:off x="6957391" y="5997386"/>
            <a:ext cx="5091734" cy="4572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lumMod val="5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solidFill>
                  <a:schemeClr val="accent1"/>
                </a:solidFill>
              </a:rPr>
              <a:t>https://cs.phenikaa-uni.edu.vn/vi</a:t>
            </a:r>
            <a:endParaRPr lang="en-VN">
              <a:solidFill>
                <a:schemeClr val="accent1"/>
              </a:solidFill>
            </a:endParaRPr>
          </a:p>
        </p:txBody>
      </p:sp>
    </p:spTree>
    <p:extLst>
      <p:ext uri="{BB962C8B-B14F-4D97-AF65-F5344CB8AC3E}">
        <p14:creationId xmlns:p14="http://schemas.microsoft.com/office/powerpoint/2010/main" val="44303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79D4-BEEC-F855-AEF6-ECE17BA959BD}"/>
              </a:ext>
            </a:extLst>
          </p:cNvPr>
          <p:cNvSpPr>
            <a:spLocks noGrp="1"/>
          </p:cNvSpPr>
          <p:nvPr>
            <p:ph type="title"/>
          </p:nvPr>
        </p:nvSpPr>
        <p:spPr/>
        <p:txBody>
          <a:bodyPr/>
          <a:lstStyle/>
          <a:p>
            <a:r>
              <a:rPr lang="en-US" dirty="0" err="1"/>
              <a:t>Nội</a:t>
            </a:r>
            <a:r>
              <a:rPr lang="en-US" dirty="0"/>
              <a:t> dung</a:t>
            </a:r>
          </a:p>
        </p:txBody>
      </p:sp>
      <p:sp>
        <p:nvSpPr>
          <p:cNvPr id="4" name="Slide Number Placeholder 3">
            <a:extLst>
              <a:ext uri="{FF2B5EF4-FFF2-40B4-BE49-F238E27FC236}">
                <a16:creationId xmlns:a16="http://schemas.microsoft.com/office/drawing/2014/main" id="{B3F23A86-13CF-B07C-C3DF-6BF1A78530FF}"/>
              </a:ext>
            </a:extLst>
          </p:cNvPr>
          <p:cNvSpPr>
            <a:spLocks noGrp="1"/>
          </p:cNvSpPr>
          <p:nvPr>
            <p:ph type="sldNum" sz="quarter" idx="12"/>
          </p:nvPr>
        </p:nvSpPr>
        <p:spPr/>
        <p:txBody>
          <a:bodyPr/>
          <a:lstStyle/>
          <a:p>
            <a:fld id="{834A3715-FC91-284B-8702-1BAEDE956EBF}" type="slidenum">
              <a:rPr lang="en-US" smtClean="0"/>
              <a:pPr/>
              <a:t>2</a:t>
            </a:fld>
            <a:endParaRPr lang="en-US"/>
          </a:p>
        </p:txBody>
      </p:sp>
      <p:graphicFrame>
        <p:nvGraphicFramePr>
          <p:cNvPr id="17" name="Content Placeholder 16">
            <a:extLst>
              <a:ext uri="{FF2B5EF4-FFF2-40B4-BE49-F238E27FC236}">
                <a16:creationId xmlns:a16="http://schemas.microsoft.com/office/drawing/2014/main" id="{605845C1-4934-E607-A73C-7388787C934F}"/>
              </a:ext>
            </a:extLst>
          </p:cNvPr>
          <p:cNvGraphicFramePr>
            <a:graphicFrameLocks noGrp="1"/>
          </p:cNvGraphicFramePr>
          <p:nvPr>
            <p:ph idx="1"/>
            <p:extLst>
              <p:ext uri="{D42A27DB-BD31-4B8C-83A1-F6EECF244321}">
                <p14:modId xmlns:p14="http://schemas.microsoft.com/office/powerpoint/2010/main" val="2361669889"/>
              </p:ext>
            </p:extLst>
          </p:nvPr>
        </p:nvGraphicFramePr>
        <p:xfrm>
          <a:off x="386861" y="861647"/>
          <a:ext cx="11430000" cy="5460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137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9F1C6C-C4A7-30F6-D2E2-187879F9CC2F}"/>
              </a:ext>
            </a:extLst>
          </p:cNvPr>
          <p:cNvSpPr>
            <a:spLocks noGrp="1"/>
          </p:cNvSpPr>
          <p:nvPr>
            <p:ph type="ctrTitle"/>
          </p:nvPr>
        </p:nvSpPr>
        <p:spPr>
          <a:xfrm>
            <a:off x="492371" y="2787161"/>
            <a:ext cx="11062320" cy="1283677"/>
          </a:xfrm>
        </p:spPr>
        <p:txBody>
          <a:bodyPr/>
          <a:lstStyle/>
          <a:p>
            <a:pPr algn="l"/>
            <a:r>
              <a:rPr lang="en-US" sz="6000" dirty="0"/>
              <a:t>1.1 </a:t>
            </a:r>
            <a:r>
              <a:rPr lang="en-US" sz="6000" dirty="0" err="1"/>
              <a:t>Giới</a:t>
            </a:r>
            <a:r>
              <a:rPr lang="en-US" sz="6000" dirty="0"/>
              <a:t> </a:t>
            </a:r>
            <a:r>
              <a:rPr lang="en-US" sz="6000" dirty="0" err="1"/>
              <a:t>thiệu</a:t>
            </a:r>
            <a:r>
              <a:rPr lang="en-US" sz="6000" dirty="0"/>
              <a:t> </a:t>
            </a:r>
            <a:r>
              <a:rPr lang="en-US" sz="6000" dirty="0" err="1"/>
              <a:t>về</a:t>
            </a:r>
            <a:r>
              <a:rPr lang="en-US" sz="6000" dirty="0"/>
              <a:t> Arduino</a:t>
            </a:r>
          </a:p>
        </p:txBody>
      </p:sp>
      <p:sp>
        <p:nvSpPr>
          <p:cNvPr id="4" name="Slide Number Placeholder 3" hidden="1">
            <a:extLst>
              <a:ext uri="{FF2B5EF4-FFF2-40B4-BE49-F238E27FC236}">
                <a16:creationId xmlns:a16="http://schemas.microsoft.com/office/drawing/2014/main" id="{1BF316D0-CD1B-D6CA-DCD9-D181DFB55220}"/>
              </a:ext>
            </a:extLst>
          </p:cNvPr>
          <p:cNvSpPr>
            <a:spLocks noGrp="1"/>
          </p:cNvSpPr>
          <p:nvPr>
            <p:ph type="sldNum" sz="quarter" idx="4294967295"/>
          </p:nvPr>
        </p:nvSpPr>
        <p:spPr>
          <a:xfrm>
            <a:off x="10879016" y="6550272"/>
            <a:ext cx="937845" cy="298937"/>
          </a:xfrm>
        </p:spPr>
        <p:txBody>
          <a:bodyPr/>
          <a:lstStyle/>
          <a:p>
            <a:pPr>
              <a:spcAft>
                <a:spcPts val="600"/>
              </a:spcAft>
            </a:pPr>
            <a:fld id="{834A3715-FC91-284B-8702-1BAEDE956EBF}" type="slidenum">
              <a:rPr lang="en-US" smtClean="0"/>
              <a:pPr>
                <a:spcAft>
                  <a:spcPts val="600"/>
                </a:spcAft>
              </a:pPr>
              <a:t>3</a:t>
            </a:fld>
            <a:endParaRPr lang="en-US"/>
          </a:p>
        </p:txBody>
      </p:sp>
    </p:spTree>
    <p:extLst>
      <p:ext uri="{BB962C8B-B14F-4D97-AF65-F5344CB8AC3E}">
        <p14:creationId xmlns:p14="http://schemas.microsoft.com/office/powerpoint/2010/main" val="3353425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8096-26C3-086E-2173-CBE4B44F764B}"/>
              </a:ext>
            </a:extLst>
          </p:cNvPr>
          <p:cNvSpPr>
            <a:spLocks noGrp="1"/>
          </p:cNvSpPr>
          <p:nvPr>
            <p:ph type="title"/>
          </p:nvPr>
        </p:nvSpPr>
        <p:spPr>
          <a:xfrm>
            <a:off x="386861" y="61076"/>
            <a:ext cx="9396117" cy="511968"/>
          </a:xfrm>
        </p:spPr>
        <p:txBody>
          <a:bodyPr/>
          <a:lstStyle/>
          <a:p>
            <a:r>
              <a:rPr lang="en-US" dirty="0"/>
              <a:t>1.1 </a:t>
            </a:r>
            <a:r>
              <a:rPr lang="en-US" dirty="0" err="1"/>
              <a:t>Giới</a:t>
            </a:r>
            <a:r>
              <a:rPr lang="en-US" dirty="0"/>
              <a:t> </a:t>
            </a:r>
            <a:r>
              <a:rPr lang="en-US" dirty="0" err="1"/>
              <a:t>thiệu</a:t>
            </a:r>
            <a:r>
              <a:rPr lang="en-US" dirty="0"/>
              <a:t> </a:t>
            </a:r>
            <a:r>
              <a:rPr lang="en-US" dirty="0" err="1"/>
              <a:t>về</a:t>
            </a:r>
            <a:r>
              <a:rPr lang="en-US" dirty="0"/>
              <a:t> Arduino</a:t>
            </a:r>
          </a:p>
        </p:txBody>
      </p:sp>
      <p:sp>
        <p:nvSpPr>
          <p:cNvPr id="3" name="Content Placeholder 2">
            <a:extLst>
              <a:ext uri="{FF2B5EF4-FFF2-40B4-BE49-F238E27FC236}">
                <a16:creationId xmlns:a16="http://schemas.microsoft.com/office/drawing/2014/main" id="{4640AFA3-ABA9-E9C8-29B6-B00BA3041B8A}"/>
              </a:ext>
            </a:extLst>
          </p:cNvPr>
          <p:cNvSpPr>
            <a:spLocks noGrp="1"/>
          </p:cNvSpPr>
          <p:nvPr>
            <p:ph idx="1"/>
          </p:nvPr>
        </p:nvSpPr>
        <p:spPr/>
        <p:txBody>
          <a:bodyPr/>
          <a:lstStyle/>
          <a:p>
            <a:r>
              <a:rPr lang="vi-VN" b="1" dirty="0">
                <a:latin typeface="Calibri" panose="020F0502020204030204" pitchFamily="34" charset="0"/>
                <a:ea typeface="Calibri" panose="020F0502020204030204" pitchFamily="34" charset="0"/>
                <a:cs typeface="Calibri" panose="020F0502020204030204" pitchFamily="34" charset="0"/>
              </a:rPr>
              <a:t>Arduino là nền tảng điện tử mã nguồn mở, dựa trên phần cứng và phần mềm, linh hoạt và dễ sử dụng</a:t>
            </a:r>
            <a:endParaRPr lang="en-US" dirty="0">
              <a:latin typeface="Calibri" panose="020F0502020204030204" pitchFamily="34" charset="0"/>
              <a:ea typeface="Calibri" panose="020F0502020204030204" pitchFamily="34" charset="0"/>
              <a:cs typeface="Calibri" panose="020F0502020204030204" pitchFamily="34" charset="0"/>
            </a:endParaRPr>
          </a:p>
          <a:p>
            <a:r>
              <a:rPr lang="vi-VN" dirty="0">
                <a:latin typeface="Calibri" panose="020F0502020204030204" pitchFamily="34" charset="0"/>
                <a:ea typeface="Calibri" panose="020F0502020204030204" pitchFamily="34" charset="0"/>
                <a:cs typeface="Calibri" panose="020F0502020204030204" pitchFamily="34" charset="0"/>
              </a:rPr>
              <a:t>Dự án Arduino được phát triển tại học viện Interaction Design ở Ivrea, Italy vào năm 200</a:t>
            </a:r>
            <a:r>
              <a:rPr lang="en-US" dirty="0">
                <a:latin typeface="Calibri" panose="020F0502020204030204" pitchFamily="34" charset="0"/>
                <a:ea typeface="Calibri" panose="020F0502020204030204" pitchFamily="34" charset="0"/>
                <a:cs typeface="Calibri" panose="020F0502020204030204" pitchFamily="34" charset="0"/>
              </a:rPr>
              <a:t>5</a:t>
            </a:r>
            <a:r>
              <a:rPr lang="vi-VN" dirty="0">
                <a:latin typeface="Calibri" panose="020F0502020204030204" pitchFamily="34" charset="0"/>
                <a:ea typeface="Calibri" panose="020F0502020204030204" pitchFamily="34" charset="0"/>
                <a:cs typeface="Calibri" panose="020F0502020204030204" pitchFamily="34" charset="0"/>
              </a:rPr>
              <a:t>. Mục đích ban đầu là giúp cho các sinh viên ở học viện có thể tạo ra các sản phẩm điện tử thú vị một cách dễ dàng, nhanh chóng với chi phí thấp.</a:t>
            </a:r>
            <a:endParaRPr lang="en-US" dirty="0">
              <a:latin typeface="Calibri" panose="020F0502020204030204" pitchFamily="34" charset="0"/>
              <a:ea typeface="Calibri" panose="020F0502020204030204" pitchFamily="34" charset="0"/>
              <a:cs typeface="Calibri" panose="020F0502020204030204" pitchFamily="34" charset="0"/>
            </a:endParaRPr>
          </a:p>
          <a:p>
            <a:r>
              <a:rPr lang="vi-VN" dirty="0">
                <a:latin typeface="Calibri" panose="020F0502020204030204" pitchFamily="34" charset="0"/>
                <a:ea typeface="Calibri" panose="020F0502020204030204" pitchFamily="34" charset="0"/>
                <a:cs typeface="Calibri" panose="020F0502020204030204" pitchFamily="34" charset="0"/>
              </a:rPr>
              <a:t>Chúng ta có thể lập trình điều khiển Arduino với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một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biến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thể</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của</a:t>
            </a:r>
            <a:r>
              <a:rPr lang="en-US" dirty="0">
                <a:latin typeface="Calibri" panose="020F0502020204030204" pitchFamily="34" charset="0"/>
                <a:ea typeface="Calibri" panose="020F0502020204030204" pitchFamily="34" charset="0"/>
                <a:cs typeface="Calibri" panose="020F0502020204030204" pitchFamily="34" charset="0"/>
              </a:rPr>
              <a:t> </a:t>
            </a:r>
            <a:r>
              <a:rPr lang="vi-VN" b="1" dirty="0">
                <a:latin typeface="Calibri" panose="020F0502020204030204" pitchFamily="34" charset="0"/>
                <a:ea typeface="Calibri" panose="020F0502020204030204" pitchFamily="34" charset="0"/>
                <a:cs typeface="Calibri" panose="020F0502020204030204" pitchFamily="34" charset="0"/>
              </a:rPr>
              <a:t>ngôn ngữ lập trình C++</a:t>
            </a:r>
            <a:r>
              <a:rPr lang="vi-VN" dirty="0">
                <a:latin typeface="Calibri" panose="020F0502020204030204" pitchFamily="34" charset="0"/>
                <a:ea typeface="Calibri" panose="020F0502020204030204" pitchFamily="34" charset="0"/>
                <a:cs typeface="Calibri" panose="020F0502020204030204" pitchFamily="34" charset="0"/>
              </a:rPr>
              <a:t> trên công cụ phát triển Arduino là </a:t>
            </a:r>
            <a:r>
              <a:rPr lang="vi-VN" b="1" dirty="0">
                <a:latin typeface="Calibri" panose="020F0502020204030204" pitchFamily="34" charset="0"/>
                <a:ea typeface="Calibri" panose="020F0502020204030204" pitchFamily="34" charset="0"/>
                <a:cs typeface="Calibri" panose="020F0502020204030204" pitchFamily="34" charset="0"/>
                <a:hlinkClick r:id="rId3"/>
              </a:rPr>
              <a:t>Arduino IDE</a:t>
            </a:r>
            <a:r>
              <a:rPr lang="vi-VN"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Website </a:t>
            </a:r>
            <a:r>
              <a:rPr lang="en-US" dirty="0" err="1">
                <a:latin typeface="Calibri" panose="020F0502020204030204" pitchFamily="34" charset="0"/>
                <a:ea typeface="Calibri" panose="020F0502020204030204" pitchFamily="34" charset="0"/>
                <a:cs typeface="Calibri" panose="020F0502020204030204" pitchFamily="34" charset="0"/>
              </a:rPr>
              <a:t>chính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thức</a:t>
            </a:r>
            <a:r>
              <a:rPr lang="en-US" dirty="0">
                <a:latin typeface="Calibri" panose="020F0502020204030204" pitchFamily="34" charset="0"/>
                <a:ea typeface="Calibri" panose="020F0502020204030204" pitchFamily="34" charset="0"/>
                <a:cs typeface="Calibri" panose="020F0502020204030204" pitchFamily="34" charset="0"/>
              </a:rPr>
              <a:t>:</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hlinkClick r:id="rId4"/>
              </a:rPr>
              <a:t>https://www.arduino.cc/</a:t>
            </a:r>
            <a:r>
              <a:rPr lang="vi-VN" dirty="0">
                <a:latin typeface="Calibri" panose="020F0502020204030204" pitchFamily="34" charset="0"/>
                <a:ea typeface="Calibri" panose="020F0502020204030204" pitchFamily="34" charset="0"/>
                <a:cs typeface="Calibri" panose="020F0502020204030204" pitchFamily="34" charset="0"/>
              </a:rPr>
              <a:t> </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vi-VN"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E810D81-8565-9569-C213-B4B4B8CD0F43}"/>
              </a:ext>
            </a:extLst>
          </p:cNvPr>
          <p:cNvSpPr>
            <a:spLocks noGrp="1"/>
          </p:cNvSpPr>
          <p:nvPr>
            <p:ph type="sldNum" sz="quarter" idx="12"/>
          </p:nvPr>
        </p:nvSpPr>
        <p:spPr/>
        <p:txBody>
          <a:bodyPr/>
          <a:lstStyle/>
          <a:p>
            <a:fld id="{834A3715-FC91-284B-8702-1BAEDE956EBF}" type="slidenum">
              <a:rPr lang="en-US" smtClean="0"/>
              <a:pPr/>
              <a:t>4</a:t>
            </a:fld>
            <a:endParaRPr lang="en-US"/>
          </a:p>
        </p:txBody>
      </p:sp>
    </p:spTree>
    <p:extLst>
      <p:ext uri="{BB962C8B-B14F-4D97-AF65-F5344CB8AC3E}">
        <p14:creationId xmlns:p14="http://schemas.microsoft.com/office/powerpoint/2010/main" val="2993662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2D55-B8CE-119F-EF61-7EF7A19B0A36}"/>
              </a:ext>
            </a:extLst>
          </p:cNvPr>
          <p:cNvSpPr>
            <a:spLocks noGrp="1"/>
          </p:cNvSpPr>
          <p:nvPr>
            <p:ph type="title"/>
          </p:nvPr>
        </p:nvSpPr>
        <p:spPr/>
        <p:txBody>
          <a:bodyPr/>
          <a:lstStyle/>
          <a:p>
            <a:r>
              <a:rPr lang="en-US" dirty="0"/>
              <a:t>1.1 </a:t>
            </a:r>
            <a:r>
              <a:rPr lang="en-US" dirty="0" err="1"/>
              <a:t>Giới</a:t>
            </a:r>
            <a:r>
              <a:rPr lang="en-US" dirty="0"/>
              <a:t> </a:t>
            </a:r>
            <a:r>
              <a:rPr lang="en-US" dirty="0" err="1"/>
              <a:t>thiệu</a:t>
            </a:r>
            <a:r>
              <a:rPr lang="en-US" dirty="0"/>
              <a:t> </a:t>
            </a:r>
            <a:r>
              <a:rPr lang="en-US" dirty="0" err="1"/>
              <a:t>về</a:t>
            </a:r>
            <a:r>
              <a:rPr lang="en-US" dirty="0"/>
              <a:t> Arduino</a:t>
            </a:r>
          </a:p>
        </p:txBody>
      </p:sp>
      <p:sp>
        <p:nvSpPr>
          <p:cNvPr id="3" name="Content Placeholder 2">
            <a:extLst>
              <a:ext uri="{FF2B5EF4-FFF2-40B4-BE49-F238E27FC236}">
                <a16:creationId xmlns:a16="http://schemas.microsoft.com/office/drawing/2014/main" id="{DC0DBDCD-D708-1B56-0973-DF696B2C5BC3}"/>
              </a:ext>
            </a:extLst>
          </p:cNvPr>
          <p:cNvSpPr>
            <a:spLocks noGrp="1"/>
          </p:cNvSpPr>
          <p:nvPr>
            <p:ph idx="1"/>
          </p:nvPr>
        </p:nvSpPr>
        <p:spPr/>
        <p:txBody>
          <a:bodyPr>
            <a:normAutofit/>
          </a:bodyPr>
          <a:lstStyle/>
          <a:p>
            <a:pPr marL="0" indent="0">
              <a:buNone/>
            </a:pPr>
            <a:r>
              <a:rPr lang="en-US" b="1" dirty="0" err="1">
                <a:latin typeface="Calibri" panose="020F0502020204030204" pitchFamily="34" charset="0"/>
                <a:ea typeface="Calibri" panose="020F0502020204030204" pitchFamily="34" charset="0"/>
                <a:cs typeface="Calibri" panose="020F0502020204030204" pitchFamily="34" charset="0"/>
              </a:rPr>
              <a:t>Ưu</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điểm</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của</a:t>
            </a:r>
            <a:r>
              <a:rPr lang="en-US" b="1" dirty="0">
                <a:latin typeface="Calibri" panose="020F0502020204030204" pitchFamily="34" charset="0"/>
                <a:ea typeface="Calibri" panose="020F0502020204030204" pitchFamily="34" charset="0"/>
                <a:cs typeface="Calibri" panose="020F0502020204030204" pitchFamily="34" charset="0"/>
              </a:rPr>
              <a:t> Arduino</a:t>
            </a:r>
          </a:p>
          <a:p>
            <a:r>
              <a:rPr lang="vi-VN" dirty="0">
                <a:latin typeface="Calibri" panose="020F0502020204030204" pitchFamily="34" charset="0"/>
                <a:ea typeface="Calibri" panose="020F0502020204030204" pitchFamily="34" charset="0"/>
                <a:cs typeface="Calibri" panose="020F0502020204030204" pitchFamily="34" charset="0"/>
              </a:rPr>
              <a:t>Môi trường phát triển đơn giản, rõ ràng (Simple, clear programming environment)</a:t>
            </a:r>
          </a:p>
          <a:p>
            <a:r>
              <a:rPr lang="vi-VN" dirty="0">
                <a:latin typeface="Calibri" panose="020F0502020204030204" pitchFamily="34" charset="0"/>
                <a:ea typeface="Calibri" panose="020F0502020204030204" pitchFamily="34" charset="0"/>
                <a:cs typeface="Calibri" panose="020F0502020204030204" pitchFamily="34" charset="0"/>
              </a:rPr>
              <a:t>Giá thành rẻ (Inexpensive)</a:t>
            </a:r>
          </a:p>
          <a:p>
            <a:r>
              <a:rPr lang="vi-VN" dirty="0">
                <a:latin typeface="Calibri" panose="020F0502020204030204" pitchFamily="34" charset="0"/>
                <a:ea typeface="Calibri" panose="020F0502020204030204" pitchFamily="34" charset="0"/>
                <a:cs typeface="Calibri" panose="020F0502020204030204" pitchFamily="34" charset="0"/>
              </a:rPr>
              <a:t>Đa nền tảng (Cross-Platform)</a:t>
            </a:r>
          </a:p>
          <a:p>
            <a:r>
              <a:rPr lang="vi-VN" dirty="0">
                <a:latin typeface="Calibri" panose="020F0502020204030204" pitchFamily="34" charset="0"/>
                <a:ea typeface="Calibri" panose="020F0502020204030204" pitchFamily="34" charset="0"/>
                <a:cs typeface="Calibri" panose="020F0502020204030204" pitchFamily="34" charset="0"/>
              </a:rPr>
              <a:t>Phần cứng và phần mềm mã nguồn mở (open-source hardware and software)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FFC553-5D72-5292-4AB2-1B0E7FA4BF3A}"/>
              </a:ext>
            </a:extLst>
          </p:cNvPr>
          <p:cNvSpPr>
            <a:spLocks noGrp="1"/>
          </p:cNvSpPr>
          <p:nvPr>
            <p:ph type="sldNum" sz="quarter" idx="12"/>
          </p:nvPr>
        </p:nvSpPr>
        <p:spPr/>
        <p:txBody>
          <a:bodyPr/>
          <a:lstStyle/>
          <a:p>
            <a:fld id="{834A3715-FC91-284B-8702-1BAEDE956EBF}" type="slidenum">
              <a:rPr lang="en-US" smtClean="0"/>
              <a:pPr/>
              <a:t>5</a:t>
            </a:fld>
            <a:endParaRPr lang="en-US"/>
          </a:p>
        </p:txBody>
      </p:sp>
    </p:spTree>
    <p:extLst>
      <p:ext uri="{BB962C8B-B14F-4D97-AF65-F5344CB8AC3E}">
        <p14:creationId xmlns:p14="http://schemas.microsoft.com/office/powerpoint/2010/main" val="1999414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9F1C6C-C4A7-30F6-D2E2-187879F9CC2F}"/>
              </a:ext>
            </a:extLst>
          </p:cNvPr>
          <p:cNvSpPr>
            <a:spLocks noGrp="1"/>
          </p:cNvSpPr>
          <p:nvPr>
            <p:ph type="ctrTitle"/>
          </p:nvPr>
        </p:nvSpPr>
        <p:spPr>
          <a:xfrm>
            <a:off x="492371" y="2787161"/>
            <a:ext cx="11062320" cy="1283677"/>
          </a:xfrm>
        </p:spPr>
        <p:txBody>
          <a:bodyPr/>
          <a:lstStyle/>
          <a:p>
            <a:pPr algn="l"/>
            <a:r>
              <a:rPr lang="en-US" sz="6000" dirty="0"/>
              <a:t>1.2 </a:t>
            </a:r>
            <a:r>
              <a:rPr lang="en-US" sz="6000" dirty="0" err="1"/>
              <a:t>Cấu</a:t>
            </a:r>
            <a:r>
              <a:rPr lang="en-US" sz="6000" dirty="0"/>
              <a:t> </a:t>
            </a:r>
            <a:r>
              <a:rPr lang="en-US" sz="6000" dirty="0" err="1"/>
              <a:t>trúc</a:t>
            </a:r>
            <a:r>
              <a:rPr lang="en-US" sz="6000" dirty="0"/>
              <a:t> </a:t>
            </a:r>
            <a:r>
              <a:rPr lang="en-US" sz="6000" dirty="0" err="1"/>
              <a:t>Bảng</a:t>
            </a:r>
            <a:r>
              <a:rPr lang="en-US" sz="6000" dirty="0"/>
              <a:t> </a:t>
            </a:r>
            <a:r>
              <a:rPr lang="en-US" sz="6000" dirty="0" err="1"/>
              <a:t>mạch</a:t>
            </a:r>
            <a:r>
              <a:rPr lang="en-US" sz="6000" dirty="0"/>
              <a:t> Arduino</a:t>
            </a:r>
          </a:p>
        </p:txBody>
      </p:sp>
      <p:sp>
        <p:nvSpPr>
          <p:cNvPr id="4" name="Slide Number Placeholder 3" hidden="1">
            <a:extLst>
              <a:ext uri="{FF2B5EF4-FFF2-40B4-BE49-F238E27FC236}">
                <a16:creationId xmlns:a16="http://schemas.microsoft.com/office/drawing/2014/main" id="{1BF316D0-CD1B-D6CA-DCD9-D181DFB55220}"/>
              </a:ext>
            </a:extLst>
          </p:cNvPr>
          <p:cNvSpPr>
            <a:spLocks noGrp="1"/>
          </p:cNvSpPr>
          <p:nvPr>
            <p:ph type="sldNum" sz="quarter" idx="4294967295"/>
          </p:nvPr>
        </p:nvSpPr>
        <p:spPr>
          <a:xfrm>
            <a:off x="10879016" y="6550272"/>
            <a:ext cx="937845" cy="298937"/>
          </a:xfrm>
        </p:spPr>
        <p:txBody>
          <a:bodyPr/>
          <a:lstStyle/>
          <a:p>
            <a:pPr>
              <a:spcAft>
                <a:spcPts val="600"/>
              </a:spcAft>
            </a:pPr>
            <a:fld id="{834A3715-FC91-284B-8702-1BAEDE956EBF}" type="slidenum">
              <a:rPr lang="en-US" smtClean="0"/>
              <a:pPr>
                <a:spcAft>
                  <a:spcPts val="600"/>
                </a:spcAft>
              </a:pPr>
              <a:t>6</a:t>
            </a:fld>
            <a:endParaRPr lang="en-US"/>
          </a:p>
        </p:txBody>
      </p:sp>
    </p:spTree>
    <p:extLst>
      <p:ext uri="{BB962C8B-B14F-4D97-AF65-F5344CB8AC3E}">
        <p14:creationId xmlns:p14="http://schemas.microsoft.com/office/powerpoint/2010/main" val="3592513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2D55-B8CE-119F-EF61-7EF7A19B0A36}"/>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3" name="Content Placeholder 2">
            <a:extLst>
              <a:ext uri="{FF2B5EF4-FFF2-40B4-BE49-F238E27FC236}">
                <a16:creationId xmlns:a16="http://schemas.microsoft.com/office/drawing/2014/main" id="{DC0DBDCD-D708-1B56-0973-DF696B2C5BC3}"/>
              </a:ext>
            </a:extLst>
          </p:cNvPr>
          <p:cNvSpPr>
            <a:spLocks noGrp="1"/>
          </p:cNvSpPr>
          <p:nvPr>
            <p:ph idx="1"/>
          </p:nvPr>
        </p:nvSpPr>
        <p:spPr>
          <a:xfrm>
            <a:off x="386861" y="861647"/>
            <a:ext cx="5131623" cy="5460023"/>
          </a:xfrm>
        </p:spPr>
        <p:txBody>
          <a:bodyPr>
            <a:normAutofit/>
          </a:bodyPr>
          <a:lstStyle/>
          <a:p>
            <a:r>
              <a:rPr lang="en-US" dirty="0" err="1">
                <a:latin typeface="Calibri" panose="020F0502020204030204" pitchFamily="34" charset="0"/>
                <a:ea typeface="Calibri" panose="020F0502020204030204" pitchFamily="34" charset="0"/>
                <a:cs typeface="Calibri" panose="020F0502020204030204" pitchFamily="34" charset="0"/>
              </a:rPr>
              <a:t>Bảng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mạch</a:t>
            </a:r>
            <a:r>
              <a:rPr lang="en-US" dirty="0">
                <a:latin typeface="Calibri" panose="020F0502020204030204" pitchFamily="34" charset="0"/>
                <a:ea typeface="Calibri" panose="020F0502020204030204" pitchFamily="34" charset="0"/>
                <a:cs typeface="Calibri" panose="020F0502020204030204" pitchFamily="34" charset="0"/>
              </a:rPr>
              <a:t> Arduino </a:t>
            </a:r>
            <a:r>
              <a:rPr lang="en-US" dirty="0" err="1">
                <a:latin typeface="Calibri" panose="020F0502020204030204" pitchFamily="34" charset="0"/>
                <a:ea typeface="Calibri" panose="020F0502020204030204" pitchFamily="34" charset="0"/>
                <a:cs typeface="Calibri" panose="020F0502020204030204" pitchFamily="34" charset="0"/>
              </a:rPr>
              <a:t>là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một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trong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các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thiết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bị</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phần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cứng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được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thiết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kế</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bởi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dự</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án</a:t>
            </a:r>
            <a:r>
              <a:rPr lang="en-US" dirty="0">
                <a:latin typeface="Calibri" panose="020F0502020204030204" pitchFamily="34" charset="0"/>
                <a:ea typeface="Calibri" panose="020F0502020204030204" pitchFamily="34" charset="0"/>
                <a:cs typeface="Calibri" panose="020F0502020204030204" pitchFamily="34" charset="0"/>
              </a:rPr>
              <a:t> Arduino</a:t>
            </a:r>
          </a:p>
          <a:p>
            <a:r>
              <a:rPr lang="en-US" dirty="0" err="1">
                <a:latin typeface="Calibri" panose="020F0502020204030204" pitchFamily="34" charset="0"/>
                <a:ea typeface="Calibri" panose="020F0502020204030204" pitchFamily="34" charset="0"/>
                <a:cs typeface="Calibri" panose="020F0502020204030204" pitchFamily="34" charset="0"/>
              </a:rPr>
              <a:t>Có</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nhiều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phiên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bản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bảng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mạch</a:t>
            </a:r>
            <a:r>
              <a:rPr lang="en-US" dirty="0">
                <a:latin typeface="Calibri" panose="020F0502020204030204" pitchFamily="34" charset="0"/>
                <a:ea typeface="Calibri" panose="020F0502020204030204" pitchFamily="34" charset="0"/>
                <a:cs typeface="Calibri" panose="020F0502020204030204" pitchFamily="34" charset="0"/>
              </a:rPr>
              <a:t> Arduino </a:t>
            </a:r>
            <a:r>
              <a:rPr lang="en-US" dirty="0" err="1">
                <a:latin typeface="Calibri" panose="020F0502020204030204" pitchFamily="34" charset="0"/>
                <a:ea typeface="Calibri" panose="020F0502020204030204" pitchFamily="34" charset="0"/>
                <a:cs typeface="Calibri" panose="020F0502020204030204" pitchFamily="34" charset="0"/>
              </a:rPr>
              <a:t>với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sự</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khác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biệt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về</a:t>
            </a:r>
            <a:r>
              <a:rPr lang="en-US" dirty="0">
                <a:latin typeface="Calibri" panose="020F0502020204030204" pitchFamily="34" charset="0"/>
                <a:ea typeface="Calibri" panose="020F0502020204030204" pitchFamily="34" charset="0"/>
                <a:cs typeface="Calibri" panose="020F0502020204030204" pitchFamily="34" charset="0"/>
              </a:rPr>
              <a:t> chip vi </a:t>
            </a:r>
            <a:r>
              <a:rPr lang="en-US" dirty="0" err="1">
                <a:latin typeface="Calibri" panose="020F0502020204030204" pitchFamily="34" charset="0"/>
                <a:ea typeface="Calibri" panose="020F0502020204030204" pitchFamily="34" charset="0"/>
                <a:cs typeface="Calibri" panose="020F0502020204030204" pitchFamily="34" charset="0"/>
              </a:rPr>
              <a:t>điều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khiển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bộ</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nhớ</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đầu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ra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các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tính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năng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phụ</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trợ</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err="1">
                <a:latin typeface="Calibri" panose="020F0502020204030204" pitchFamily="34" charset="0"/>
                <a:ea typeface="Calibri" panose="020F0502020204030204" pitchFamily="34" charset="0"/>
                <a:cs typeface="Calibri" panose="020F0502020204030204" pitchFamily="34" charset="0"/>
              </a:rPr>
              <a:t>Bảng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mạch</a:t>
            </a:r>
            <a:r>
              <a:rPr lang="en-US" dirty="0">
                <a:latin typeface="Calibri" panose="020F0502020204030204" pitchFamily="34" charset="0"/>
                <a:ea typeface="Calibri" panose="020F0502020204030204" pitchFamily="34" charset="0"/>
                <a:cs typeface="Calibri" panose="020F0502020204030204" pitchFamily="34" charset="0"/>
              </a:rPr>
              <a:t> Arduino </a:t>
            </a:r>
            <a:r>
              <a:rPr lang="en-US" dirty="0" err="1">
                <a:latin typeface="Calibri" panose="020F0502020204030204" pitchFamily="34" charset="0"/>
                <a:ea typeface="Calibri" panose="020F0502020204030204" pitchFamily="34" charset="0"/>
                <a:cs typeface="Calibri" panose="020F0502020204030204" pitchFamily="34" charset="0"/>
              </a:rPr>
              <a:t>phổ</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biến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nhất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là</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dòng</a:t>
            </a:r>
            <a:r>
              <a:rPr lang="en-US" dirty="0">
                <a:latin typeface="Calibri" panose="020F0502020204030204" pitchFamily="34" charset="0"/>
                <a:ea typeface="Calibri" panose="020F0502020204030204" pitchFamily="34" charset="0"/>
                <a:cs typeface="Calibri" panose="020F0502020204030204" pitchFamily="34" charset="0"/>
              </a:rPr>
              <a:t> Arduino UNO, </a:t>
            </a:r>
            <a:r>
              <a:rPr lang="en-US" dirty="0" err="1">
                <a:latin typeface="Calibri" panose="020F0502020204030204" pitchFamily="34" charset="0"/>
                <a:ea typeface="Calibri" panose="020F0502020204030204" pitchFamily="34" charset="0"/>
                <a:cs typeface="Calibri" panose="020F0502020204030204" pitchFamily="34" charset="0"/>
              </a:rPr>
              <a:t>sử</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dụng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dòng</a:t>
            </a:r>
            <a:r>
              <a:rPr lang="en-US" dirty="0">
                <a:latin typeface="Calibri" panose="020F0502020204030204" pitchFamily="34" charset="0"/>
                <a:ea typeface="Calibri" panose="020F0502020204030204" pitchFamily="34" charset="0"/>
                <a:cs typeface="Calibri" panose="020F0502020204030204" pitchFamily="34" charset="0"/>
              </a:rPr>
              <a:t> vi </a:t>
            </a:r>
            <a:r>
              <a:rPr lang="en-US" dirty="0" err="1">
                <a:latin typeface="Calibri" panose="020F0502020204030204" pitchFamily="34" charset="0"/>
                <a:ea typeface="Calibri" panose="020F0502020204030204" pitchFamily="34" charset="0"/>
                <a:cs typeface="Calibri" panose="020F0502020204030204" pitchFamily="34" charset="0"/>
              </a:rPr>
              <a:t>điều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khiển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megaAVR</a:t>
            </a:r>
            <a:r>
              <a:rPr lang="en-US" dirty="0">
                <a:latin typeface="Calibri" panose="020F0502020204030204" pitchFamily="34" charset="0"/>
                <a:ea typeface="Calibri" panose="020F0502020204030204" pitchFamily="34" charset="0"/>
                <a:cs typeface="Calibri" panose="020F0502020204030204" pitchFamily="34" charset="0"/>
              </a:rPr>
              <a:t> do </a:t>
            </a:r>
            <a:r>
              <a:rPr lang="en-US" dirty="0" err="1">
                <a:latin typeface="Calibri" panose="020F0502020204030204" pitchFamily="34" charset="0"/>
                <a:ea typeface="Calibri" panose="020F0502020204030204" pitchFamily="34" charset="0"/>
                <a:cs typeface="Calibri" panose="020F0502020204030204" pitchFamily="34" charset="0"/>
              </a:rPr>
              <a:t>hãng</a:t>
            </a:r>
            <a:r>
              <a:rPr lang="en-US" dirty="0">
                <a:latin typeface="Calibri" panose="020F0502020204030204" pitchFamily="34" charset="0"/>
                <a:ea typeface="Calibri" panose="020F0502020204030204" pitchFamily="34" charset="0"/>
                <a:cs typeface="Calibri" panose="020F0502020204030204" pitchFamily="34" charset="0"/>
              </a:rPr>
              <a:t> Atmel </a:t>
            </a:r>
            <a:r>
              <a:rPr lang="en-US" dirty="0" err="1">
                <a:latin typeface="Calibri" panose="020F0502020204030204" pitchFamily="34" charset="0"/>
                <a:ea typeface="Calibri" panose="020F0502020204030204" pitchFamily="34" charset="0"/>
                <a:cs typeface="Calibri" panose="020F0502020204030204" pitchFamily="34" charset="0"/>
              </a:rPr>
              <a:t>sản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xuất</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FFC553-5D72-5292-4AB2-1B0E7FA4BF3A}"/>
              </a:ext>
            </a:extLst>
          </p:cNvPr>
          <p:cNvSpPr>
            <a:spLocks noGrp="1"/>
          </p:cNvSpPr>
          <p:nvPr>
            <p:ph type="sldNum" sz="quarter" idx="12"/>
          </p:nvPr>
        </p:nvSpPr>
        <p:spPr/>
        <p:txBody>
          <a:bodyPr/>
          <a:lstStyle/>
          <a:p>
            <a:fld id="{834A3715-FC91-284B-8702-1BAEDE956EBF}" type="slidenum">
              <a:rPr lang="en-US" smtClean="0"/>
              <a:pPr/>
              <a:t>7</a:t>
            </a:fld>
            <a:endParaRPr lang="en-US"/>
          </a:p>
        </p:txBody>
      </p:sp>
      <p:pic>
        <p:nvPicPr>
          <p:cNvPr id="5" name="Picture 2" descr="Arduino Uno R3">
            <a:extLst>
              <a:ext uri="{FF2B5EF4-FFF2-40B4-BE49-F238E27FC236}">
                <a16:creationId xmlns:a16="http://schemas.microsoft.com/office/drawing/2014/main" id="{6B90CA6D-D50F-43E5-F140-99E13D4BD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683" y="1299411"/>
            <a:ext cx="6098456" cy="5022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086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4A2A-AE19-BD6A-19B6-64158F1FB8B2}"/>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BCA09ACA-CAD8-8B7C-7ACC-A1E0B34CC15D}"/>
              </a:ext>
            </a:extLst>
          </p:cNvPr>
          <p:cNvSpPr>
            <a:spLocks noGrp="1"/>
          </p:cNvSpPr>
          <p:nvPr>
            <p:ph type="sldNum" sz="quarter" idx="12"/>
          </p:nvPr>
        </p:nvSpPr>
        <p:spPr/>
        <p:txBody>
          <a:bodyPr/>
          <a:lstStyle/>
          <a:p>
            <a:fld id="{834A3715-FC91-284B-8702-1BAEDE956EBF}" type="slidenum">
              <a:rPr lang="en-US" smtClean="0"/>
              <a:pPr/>
              <a:t>8</a:t>
            </a:fld>
            <a:endParaRPr lang="en-US"/>
          </a:p>
        </p:txBody>
      </p:sp>
      <p:pic>
        <p:nvPicPr>
          <p:cNvPr id="5" name="Content Placeholder 4">
            <a:extLst>
              <a:ext uri="{FF2B5EF4-FFF2-40B4-BE49-F238E27FC236}">
                <a16:creationId xmlns:a16="http://schemas.microsoft.com/office/drawing/2014/main" id="{3C2EA7AA-3359-8E94-02F2-D972E70EAA43}"/>
              </a:ext>
            </a:extLst>
          </p:cNvPr>
          <p:cNvPicPr>
            <a:picLocks noGrp="1" noChangeAspect="1"/>
          </p:cNvPicPr>
          <p:nvPr>
            <p:ph idx="1"/>
          </p:nvPr>
        </p:nvPicPr>
        <p:blipFill>
          <a:blip r:embed="rId2"/>
          <a:stretch>
            <a:fillRect/>
          </a:stretch>
        </p:blipFill>
        <p:spPr>
          <a:xfrm>
            <a:off x="1578615" y="1325829"/>
            <a:ext cx="9034769" cy="4894289"/>
          </a:xfrm>
          <a:prstGeom prst="rect">
            <a:avLst/>
          </a:prstGeom>
        </p:spPr>
      </p:pic>
      <p:sp>
        <p:nvSpPr>
          <p:cNvPr id="6" name="TextBox 5">
            <a:extLst>
              <a:ext uri="{FF2B5EF4-FFF2-40B4-BE49-F238E27FC236}">
                <a16:creationId xmlns:a16="http://schemas.microsoft.com/office/drawing/2014/main" id="{FEDCCEBF-1CE0-5980-55D7-38BE38FD9565}"/>
              </a:ext>
            </a:extLst>
          </p:cNvPr>
          <p:cNvSpPr txBox="1"/>
          <p:nvPr/>
        </p:nvSpPr>
        <p:spPr>
          <a:xfrm>
            <a:off x="386861" y="864164"/>
            <a:ext cx="9640884" cy="461665"/>
          </a:xfrm>
          <a:prstGeom prst="rect">
            <a:avLst/>
          </a:prstGeom>
          <a:noFill/>
        </p:spPr>
        <p:txBody>
          <a:bodyPr wrap="square" rtlCol="0">
            <a:spAutoFit/>
          </a:bodyPr>
          <a:lstStyle/>
          <a:p>
            <a:r>
              <a:rPr lang="en-US" sz="2400" dirty="0"/>
              <a:t>Thông </a:t>
            </a:r>
            <a:r>
              <a:rPr lang="en-US" sz="2400" dirty="0" err="1"/>
              <a:t>số</a:t>
            </a:r>
            <a:r>
              <a:rPr lang="en-US" sz="2400" dirty="0"/>
              <a:t> </a:t>
            </a:r>
            <a:r>
              <a:rPr lang="en-US" sz="2400" dirty="0" err="1"/>
              <a:t>kỹ</a:t>
            </a:r>
            <a:r>
              <a:rPr lang="en-US" sz="2400" dirty="0"/>
              <a:t> </a:t>
            </a:r>
            <a:r>
              <a:rPr lang="en-US" sz="2400" dirty="0" err="1"/>
              <a:t>thuật</a:t>
            </a:r>
            <a:r>
              <a:rPr lang="en-US" sz="2400" dirty="0"/>
              <a:t> </a:t>
            </a:r>
            <a:r>
              <a:rPr lang="en-US" sz="2400" dirty="0" err="1"/>
              <a:t>của</a:t>
            </a:r>
            <a:r>
              <a:rPr lang="en-US" sz="2400" dirty="0"/>
              <a:t> Arduino Uno R3</a:t>
            </a:r>
          </a:p>
        </p:txBody>
      </p:sp>
    </p:spTree>
    <p:extLst>
      <p:ext uri="{BB962C8B-B14F-4D97-AF65-F5344CB8AC3E}">
        <p14:creationId xmlns:p14="http://schemas.microsoft.com/office/powerpoint/2010/main" val="383635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BBE8A-CB00-451C-3F66-E42379453A03}"/>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D5AC3B1B-C8B9-17BA-0C4A-C9089C04AB95}"/>
              </a:ext>
            </a:extLst>
          </p:cNvPr>
          <p:cNvSpPr>
            <a:spLocks noGrp="1"/>
          </p:cNvSpPr>
          <p:nvPr>
            <p:ph type="sldNum" sz="quarter" idx="12"/>
          </p:nvPr>
        </p:nvSpPr>
        <p:spPr/>
        <p:txBody>
          <a:bodyPr/>
          <a:lstStyle/>
          <a:p>
            <a:fld id="{834A3715-FC91-284B-8702-1BAEDE956EBF}" type="slidenum">
              <a:rPr lang="en-US" smtClean="0"/>
              <a:pPr/>
              <a:t>9</a:t>
            </a:fld>
            <a:endParaRPr lang="en-US"/>
          </a:p>
        </p:txBody>
      </p:sp>
      <p:pic>
        <p:nvPicPr>
          <p:cNvPr id="5" name="Content Placeholder 4">
            <a:extLst>
              <a:ext uri="{FF2B5EF4-FFF2-40B4-BE49-F238E27FC236}">
                <a16:creationId xmlns:a16="http://schemas.microsoft.com/office/drawing/2014/main" id="{2F64F171-28DA-1DB9-CB5F-7927CAA7E547}"/>
              </a:ext>
            </a:extLst>
          </p:cNvPr>
          <p:cNvPicPr>
            <a:picLocks noGrp="1" noChangeAspect="1"/>
          </p:cNvPicPr>
          <p:nvPr>
            <p:ph idx="1"/>
          </p:nvPr>
        </p:nvPicPr>
        <p:blipFill>
          <a:blip r:embed="rId2"/>
          <a:stretch>
            <a:fillRect/>
          </a:stretch>
        </p:blipFill>
        <p:spPr>
          <a:xfrm>
            <a:off x="386861" y="998621"/>
            <a:ext cx="9917151" cy="4860758"/>
          </a:xfrm>
          <a:prstGeom prst="rect">
            <a:avLst/>
          </a:prstGeom>
        </p:spPr>
      </p:pic>
    </p:spTree>
    <p:extLst>
      <p:ext uri="{BB962C8B-B14F-4D97-AF65-F5344CB8AC3E}">
        <p14:creationId xmlns:p14="http://schemas.microsoft.com/office/powerpoint/2010/main" val="2110623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1B60-0769-8FC5-B922-A49687E43F16}"/>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9849FF1F-4CB6-0466-6A3D-A19437EE0ED9}"/>
              </a:ext>
            </a:extLst>
          </p:cNvPr>
          <p:cNvSpPr>
            <a:spLocks noGrp="1"/>
          </p:cNvSpPr>
          <p:nvPr>
            <p:ph type="sldNum" sz="quarter" idx="12"/>
          </p:nvPr>
        </p:nvSpPr>
        <p:spPr/>
        <p:txBody>
          <a:bodyPr/>
          <a:lstStyle/>
          <a:p>
            <a:fld id="{834A3715-FC91-284B-8702-1BAEDE956EBF}" type="slidenum">
              <a:rPr lang="en-US" smtClean="0"/>
              <a:pPr/>
              <a:t>10</a:t>
            </a:fld>
            <a:endParaRPr lang="en-US"/>
          </a:p>
        </p:txBody>
      </p:sp>
      <p:pic>
        <p:nvPicPr>
          <p:cNvPr id="5" name="Picture 4" descr="Cấu trúc Arduino Uno">
            <a:extLst>
              <a:ext uri="{FF2B5EF4-FFF2-40B4-BE49-F238E27FC236}">
                <a16:creationId xmlns:a16="http://schemas.microsoft.com/office/drawing/2014/main" id="{F4F78805-E9F6-4F54-E583-073373684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100" y="702152"/>
            <a:ext cx="8132900" cy="56432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558D8DA-8BD9-2565-2152-AD2390B1F1A2}"/>
              </a:ext>
            </a:extLst>
          </p:cNvPr>
          <p:cNvSpPr txBox="1"/>
          <p:nvPr/>
        </p:nvSpPr>
        <p:spPr>
          <a:xfrm>
            <a:off x="208547" y="853936"/>
            <a:ext cx="4026569" cy="5150128"/>
          </a:xfrm>
          <a:prstGeom prst="rect">
            <a:avLst/>
          </a:prstGeom>
          <a:noFill/>
        </p:spPr>
        <p:txBody>
          <a:bodyPr wrap="square" rtlCol="0">
            <a:spAutoFit/>
          </a:bodyPr>
          <a:lstStyle/>
          <a:p>
            <a:pPr marR="0" lvl="0" algn="l" defTabSz="914400" rtl="0" eaLnBrk="1" fontAlgn="auto" latinLnBrk="0" hangingPunct="1">
              <a:lnSpc>
                <a:spcPct val="100000"/>
              </a:lnSpc>
              <a:spcBef>
                <a:spcPts val="1000"/>
              </a:spcBef>
              <a:spcAft>
                <a:spcPts val="0"/>
              </a:spcAft>
              <a:buClrTx/>
              <a:buSzTx/>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Power LED Indicator: </a:t>
            </a:r>
            <a:r>
              <a:rPr kumimoji="0" lang="en-US" sz="240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báo</a:t>
            </a:r>
            <a:r>
              <a:rPr kumimoji="0" lang="en-US"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40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nguồn</a:t>
            </a:r>
            <a:r>
              <a:rPr kumimoji="0" lang="en-US"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40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của</a:t>
            </a:r>
            <a:r>
              <a:rPr kumimoji="0" lang="en-US"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Arduino</a:t>
            </a: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Digital I/O pins</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những chân có giá trị nhị phân: HIGH (1) hoặc LOW (0). Có các chân từ D0 đến D13. Một số chân có thể xuất xung PWM </a:t>
            </a:r>
            <a:r>
              <a:rPr kumimoji="0" lang="en-US"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(D3, D5, D6, D9, D10, D11)</a:t>
            </a:r>
          </a:p>
          <a:p>
            <a:pPr>
              <a:spcBef>
                <a:spcPts val="1000"/>
              </a:spcBef>
              <a:defRPr/>
            </a:pPr>
            <a:r>
              <a:rPr lang="en-US" sz="2400" b="1" dirty="0"/>
              <a:t>TX and RX LED’s:</a:t>
            </a:r>
            <a:r>
              <a:rPr lang="en-US" sz="2400" dirty="0"/>
              <a:t> </a:t>
            </a:r>
            <a:r>
              <a:rPr lang="en-US" sz="2400" dirty="0" err="1"/>
              <a:t>báo</a:t>
            </a:r>
            <a:r>
              <a:rPr lang="en-US" sz="2400" dirty="0"/>
              <a:t> </a:t>
            </a:r>
            <a:r>
              <a:rPr lang="en-US" sz="2400" dirty="0" err="1"/>
              <a:t>có</a:t>
            </a:r>
            <a:r>
              <a:rPr lang="en-US" sz="2400" dirty="0"/>
              <a:t> </a:t>
            </a:r>
            <a:r>
              <a:rPr lang="en-US" sz="2400" dirty="0" err="1"/>
              <a:t>luồng</a:t>
            </a:r>
            <a:r>
              <a:rPr lang="en-US" sz="2400" dirty="0"/>
              <a:t> </a:t>
            </a:r>
            <a:r>
              <a:rPr lang="en-US" sz="2400" dirty="0" err="1"/>
              <a:t>dữ</a:t>
            </a:r>
            <a:r>
              <a:rPr lang="en-US" sz="2400" dirty="0"/>
              <a:t> </a:t>
            </a:r>
            <a:r>
              <a:rPr lang="en-US" sz="2400" dirty="0" err="1"/>
              <a:t>liệu</a:t>
            </a:r>
            <a:r>
              <a:rPr lang="en-US" sz="2400" dirty="0"/>
              <a:t> </a:t>
            </a:r>
            <a:r>
              <a:rPr lang="en-US" sz="2400" b="1" dirty="0" err="1"/>
              <a:t>truyền</a:t>
            </a:r>
            <a:r>
              <a:rPr lang="en-US" sz="2400" b="1" dirty="0"/>
              <a:t> (Transmit – TX)</a:t>
            </a:r>
            <a:r>
              <a:rPr lang="en-US" sz="2400" dirty="0"/>
              <a:t> </a:t>
            </a:r>
            <a:r>
              <a:rPr lang="en-US" sz="2400" dirty="0" err="1"/>
              <a:t>và</a:t>
            </a:r>
            <a:r>
              <a:rPr lang="en-US" sz="2400" dirty="0"/>
              <a:t> </a:t>
            </a:r>
            <a:r>
              <a:rPr lang="en-US" sz="2400" b="1" dirty="0" err="1"/>
              <a:t>nhận</a:t>
            </a:r>
            <a:r>
              <a:rPr lang="en-US" sz="2400" b="1" dirty="0"/>
              <a:t> (Receive – RX)</a:t>
            </a:r>
            <a:r>
              <a:rPr lang="en-US" sz="2400" dirty="0"/>
              <a:t> </a:t>
            </a:r>
            <a:r>
              <a:rPr lang="en-US" sz="2400" dirty="0" err="1"/>
              <a:t>của</a:t>
            </a:r>
            <a:r>
              <a:rPr lang="en-US" sz="2400" dirty="0"/>
              <a:t> Arduino qua </a:t>
            </a:r>
            <a:r>
              <a:rPr lang="en-US" sz="2400" dirty="0" err="1"/>
              <a:t>cổng</a:t>
            </a:r>
            <a:r>
              <a:rPr lang="en-US" sz="2400" dirty="0"/>
              <a:t> </a:t>
            </a:r>
            <a:r>
              <a:rPr lang="en-US" sz="2400" dirty="0" err="1"/>
              <a:t>nối</a:t>
            </a:r>
            <a:r>
              <a:rPr lang="en-US" sz="2400" dirty="0"/>
              <a:t> </a:t>
            </a:r>
            <a:r>
              <a:rPr lang="en-US" sz="2400" dirty="0" err="1"/>
              <a:t>tiếp</a:t>
            </a:r>
            <a:r>
              <a:rPr lang="en-US" sz="2400" dirty="0"/>
              <a:t> (Serial) </a:t>
            </a:r>
            <a:r>
              <a:rPr lang="en-US" sz="2400" dirty="0" err="1"/>
              <a:t>với</a:t>
            </a:r>
            <a:r>
              <a:rPr lang="en-US" sz="2400" dirty="0"/>
              <a:t> </a:t>
            </a:r>
            <a:r>
              <a:rPr lang="en-US" sz="2400" dirty="0" err="1"/>
              <a:t>các</a:t>
            </a:r>
            <a:r>
              <a:rPr lang="en-US" sz="2400" dirty="0"/>
              <a:t> </a:t>
            </a:r>
            <a:r>
              <a:rPr lang="en-US" sz="2400" dirty="0" err="1"/>
              <a:t>thiết</a:t>
            </a:r>
            <a:r>
              <a:rPr lang="en-US" sz="2400" dirty="0"/>
              <a:t> </a:t>
            </a:r>
            <a:r>
              <a:rPr lang="en-US" sz="2400" dirty="0" err="1"/>
              <a:t>bị</a:t>
            </a:r>
            <a:r>
              <a:rPr lang="en-US" sz="2400" dirty="0"/>
              <a:t> </a:t>
            </a:r>
            <a:r>
              <a:rPr lang="en-US" sz="2400" dirty="0" err="1"/>
              <a:t>khác</a:t>
            </a:r>
            <a:r>
              <a:rPr lang="en-US" sz="2400" dirty="0"/>
              <a:t>.</a:t>
            </a:r>
            <a:endParaRPr kumimoji="0" lang="en-US"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4068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1B60-0769-8FC5-B922-A49687E43F16}"/>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9849FF1F-4CB6-0466-6A3D-A19437EE0ED9}"/>
              </a:ext>
            </a:extLst>
          </p:cNvPr>
          <p:cNvSpPr>
            <a:spLocks noGrp="1"/>
          </p:cNvSpPr>
          <p:nvPr>
            <p:ph type="sldNum" sz="quarter" idx="12"/>
          </p:nvPr>
        </p:nvSpPr>
        <p:spPr/>
        <p:txBody>
          <a:bodyPr/>
          <a:lstStyle/>
          <a:p>
            <a:fld id="{834A3715-FC91-284B-8702-1BAEDE956EBF}" type="slidenum">
              <a:rPr lang="en-US" smtClean="0"/>
              <a:pPr/>
              <a:t>11</a:t>
            </a:fld>
            <a:endParaRPr lang="en-US"/>
          </a:p>
        </p:txBody>
      </p:sp>
      <p:sp>
        <p:nvSpPr>
          <p:cNvPr id="8" name="TextBox 7">
            <a:extLst>
              <a:ext uri="{FF2B5EF4-FFF2-40B4-BE49-F238E27FC236}">
                <a16:creationId xmlns:a16="http://schemas.microsoft.com/office/drawing/2014/main" id="{A558D8DA-8BD9-2565-2152-AD2390B1F1A2}"/>
              </a:ext>
            </a:extLst>
          </p:cNvPr>
          <p:cNvSpPr txBox="1"/>
          <p:nvPr/>
        </p:nvSpPr>
        <p:spPr>
          <a:xfrm>
            <a:off x="208547" y="853936"/>
            <a:ext cx="4026569" cy="4221669"/>
          </a:xfrm>
          <a:prstGeom prst="rect">
            <a:avLst/>
          </a:prstGeom>
          <a:noFill/>
        </p:spPr>
        <p:txBody>
          <a:bodyPr wrap="square" rtlCol="0">
            <a:spAutoFit/>
          </a:bodyPr>
          <a:lstStyle/>
          <a:p>
            <a:r>
              <a:rPr lang="vi-VN" sz="2400" b="1" dirty="0">
                <a:latin typeface="Calibri" panose="020F0502020204030204" pitchFamily="34" charset="0"/>
                <a:ea typeface="Calibri" panose="020F0502020204030204" pitchFamily="34" charset="0"/>
                <a:cs typeface="Calibri" panose="020F0502020204030204" pitchFamily="34" charset="0"/>
              </a:rPr>
              <a:t>ICSP pin</a:t>
            </a:r>
            <a:r>
              <a:rPr lang="en-US" sz="2400" b="1" dirty="0">
                <a:latin typeface="Calibri" panose="020F0502020204030204" pitchFamily="34" charset="0"/>
                <a:ea typeface="Calibri" panose="020F0502020204030204" pitchFamily="34" charset="0"/>
                <a:cs typeface="Calibri" panose="020F0502020204030204" pitchFamily="34" charset="0"/>
              </a:rPr>
              <a:t>:</a:t>
            </a:r>
            <a:r>
              <a:rPr lang="vi-VN" sz="2400" dirty="0">
                <a:latin typeface="Calibri" panose="020F0502020204030204" pitchFamily="34" charset="0"/>
                <a:ea typeface="Calibri" panose="020F0502020204030204" pitchFamily="34" charset="0"/>
                <a:cs typeface="Calibri" panose="020F0502020204030204" pitchFamily="34" charset="0"/>
              </a:rPr>
              <a:t> viết tắt của In Circuit Serial Programming. </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vi-VN" sz="2400" dirty="0">
                <a:latin typeface="Calibri" panose="020F0502020204030204" pitchFamily="34" charset="0"/>
                <a:ea typeface="Calibri" panose="020F0502020204030204" pitchFamily="34" charset="0"/>
                <a:cs typeface="Calibri" panose="020F0502020204030204" pitchFamily="34" charset="0"/>
              </a:rPr>
              <a:t>Đó là chân lập trình nối tiếp cho phép người lập trình sử dụng một vài phương thức có sẵn trong firmware của Arduino.</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AREF (Analog Reference) pin</a:t>
            </a:r>
            <a:r>
              <a:rPr lang="en-US" sz="2400" dirty="0">
                <a:solidFill>
                  <a:prstClr val="black"/>
                </a:solidFill>
                <a:latin typeface="Calibri" panose="020F0502020204030204" pitchFamily="34" charset="0"/>
                <a:ea typeface="Calibri" panose="020F0502020204030204" pitchFamily="34" charset="0"/>
                <a:cs typeface="Calibri" panose="020F0502020204030204" pitchFamily="34" charset="0"/>
              </a:rPr>
              <a:t>:</a:t>
            </a:r>
            <a:r>
              <a:rPr kumimoji="0" lang="vi-VN"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chân cấp điện áp tham chiếu từ bên ngoài cho Arduino.</a:t>
            </a:r>
          </a:p>
          <a:p>
            <a:pPr marL="0" indent="0">
              <a:buNone/>
            </a:pPr>
            <a:endParaRPr lang="vi-VN" sz="20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Cấu trúc Arduino Uno">
            <a:extLst>
              <a:ext uri="{FF2B5EF4-FFF2-40B4-BE49-F238E27FC236}">
                <a16:creationId xmlns:a16="http://schemas.microsoft.com/office/drawing/2014/main" id="{702A0C42-3B5E-6312-C758-AF65949BD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100" y="702152"/>
            <a:ext cx="8132900" cy="564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49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1B60-0769-8FC5-B922-A49687E43F16}"/>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9849FF1F-4CB6-0466-6A3D-A19437EE0ED9}"/>
              </a:ext>
            </a:extLst>
          </p:cNvPr>
          <p:cNvSpPr>
            <a:spLocks noGrp="1"/>
          </p:cNvSpPr>
          <p:nvPr>
            <p:ph type="sldNum" sz="quarter" idx="12"/>
          </p:nvPr>
        </p:nvSpPr>
        <p:spPr/>
        <p:txBody>
          <a:bodyPr/>
          <a:lstStyle/>
          <a:p>
            <a:fld id="{834A3715-FC91-284B-8702-1BAEDE956EBF}" type="slidenum">
              <a:rPr lang="en-US" smtClean="0"/>
              <a:pPr/>
              <a:t>12</a:t>
            </a:fld>
            <a:endParaRPr lang="en-US"/>
          </a:p>
        </p:txBody>
      </p:sp>
      <p:pic>
        <p:nvPicPr>
          <p:cNvPr id="5" name="Picture 4" descr="Cấu trúc Arduino Uno">
            <a:extLst>
              <a:ext uri="{FF2B5EF4-FFF2-40B4-BE49-F238E27FC236}">
                <a16:creationId xmlns:a16="http://schemas.microsoft.com/office/drawing/2014/main" id="{F4F78805-E9F6-4F54-E583-073373684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100" y="702152"/>
            <a:ext cx="8132900" cy="56432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558D8DA-8BD9-2565-2152-AD2390B1F1A2}"/>
              </a:ext>
            </a:extLst>
          </p:cNvPr>
          <p:cNvSpPr txBox="1"/>
          <p:nvPr/>
        </p:nvSpPr>
        <p:spPr>
          <a:xfrm>
            <a:off x="386861" y="818147"/>
            <a:ext cx="3672239" cy="5037276"/>
          </a:xfrm>
          <a:prstGeom prst="rect">
            <a:avLst/>
          </a:prstGeom>
          <a:noFill/>
        </p:spPr>
        <p:txBody>
          <a:bodyPr wrap="square" rtlCol="0">
            <a:spAutoFit/>
          </a:bodyPr>
          <a:lstStyle/>
          <a:p>
            <a:pPr>
              <a:spcBef>
                <a:spcPts val="1000"/>
              </a:spcBef>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Reset button</a:t>
            </a:r>
            <a:r>
              <a:rPr kumimoji="0" lang="vi-VN"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để reset lại board mạch Arduino.</a:t>
            </a:r>
            <a:endPar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USB</a:t>
            </a:r>
            <a:r>
              <a:rPr kumimoji="0" lang="vi-VN"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cho phép kết nối với máy tính, thường dùng nạp mã code từ máy tính sang board mạch Arduino.</a:t>
            </a: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Crystal Oscillator</a:t>
            </a:r>
            <a:r>
              <a:rPr kumimoji="0" lang="vi-VN"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là thạch anh, có tần số 16MHz.</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spcBef>
                <a:spcPts val="1000"/>
              </a:spcBef>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Voltage Regulator</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mạch ổn áp chuyển đổi nguồn vào thành 5V cấp cho Arduino.</a:t>
            </a:r>
          </a:p>
          <a:p>
            <a:pPr marR="0" lvl="0" algn="l" defTabSz="914400" rtl="0" eaLnBrk="1" fontAlgn="auto" latinLnBrk="0" hangingPunct="1">
              <a:lnSpc>
                <a:spcPct val="100000"/>
              </a:lnSpc>
              <a:spcBef>
                <a:spcPts val="1000"/>
              </a:spcBef>
              <a:spcAft>
                <a:spcPts val="0"/>
              </a:spcAft>
              <a:buClrTx/>
              <a:buSzTx/>
              <a:tabLst/>
              <a:defRPr/>
            </a:pPr>
            <a:endParaRPr kumimoji="0" lang="vi-VN"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3823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1B60-0769-8FC5-B922-A49687E43F16}"/>
              </a:ext>
            </a:extLst>
          </p:cNvPr>
          <p:cNvSpPr>
            <a:spLocks noGrp="1"/>
          </p:cNvSpPr>
          <p:nvPr>
            <p:ph type="title"/>
          </p:nvPr>
        </p:nvSpPr>
        <p:spPr/>
        <p:txBody>
          <a:bodyPr/>
          <a:lstStyle/>
          <a:p>
            <a:r>
              <a:rPr lang="en-US" dirty="0"/>
              <a:t>1.2 </a:t>
            </a:r>
            <a:r>
              <a:rPr lang="en-US" dirty="0" err="1"/>
              <a:t>Cấu</a:t>
            </a:r>
            <a:r>
              <a:rPr lang="en-US" dirty="0"/>
              <a:t> </a:t>
            </a:r>
            <a:r>
              <a:rPr lang="en-US" dirty="0" err="1"/>
              <a:t>trúc</a:t>
            </a:r>
            <a:r>
              <a:rPr lang="en-US" dirty="0"/>
              <a:t> </a:t>
            </a:r>
            <a:r>
              <a:rPr lang="en-US" dirty="0" err="1"/>
              <a:t>Bảng</a:t>
            </a:r>
            <a:r>
              <a:rPr lang="en-US" dirty="0"/>
              <a:t> </a:t>
            </a:r>
            <a:r>
              <a:rPr lang="en-US" dirty="0" err="1"/>
              <a:t>mạch</a:t>
            </a:r>
            <a:r>
              <a:rPr lang="en-US" dirty="0"/>
              <a:t> Arduino</a:t>
            </a:r>
          </a:p>
        </p:txBody>
      </p:sp>
      <p:sp>
        <p:nvSpPr>
          <p:cNvPr id="4" name="Slide Number Placeholder 3">
            <a:extLst>
              <a:ext uri="{FF2B5EF4-FFF2-40B4-BE49-F238E27FC236}">
                <a16:creationId xmlns:a16="http://schemas.microsoft.com/office/drawing/2014/main" id="{9849FF1F-4CB6-0466-6A3D-A19437EE0ED9}"/>
              </a:ext>
            </a:extLst>
          </p:cNvPr>
          <p:cNvSpPr>
            <a:spLocks noGrp="1"/>
          </p:cNvSpPr>
          <p:nvPr>
            <p:ph type="sldNum" sz="quarter" idx="12"/>
          </p:nvPr>
        </p:nvSpPr>
        <p:spPr/>
        <p:txBody>
          <a:bodyPr/>
          <a:lstStyle/>
          <a:p>
            <a:fld id="{834A3715-FC91-284B-8702-1BAEDE956EBF}" type="slidenum">
              <a:rPr lang="en-US" smtClean="0"/>
              <a:pPr/>
              <a:t>13</a:t>
            </a:fld>
            <a:endParaRPr lang="en-US"/>
          </a:p>
        </p:txBody>
      </p:sp>
      <p:pic>
        <p:nvPicPr>
          <p:cNvPr id="5" name="Picture 4" descr="Cấu trúc Arduino Uno">
            <a:extLst>
              <a:ext uri="{FF2B5EF4-FFF2-40B4-BE49-F238E27FC236}">
                <a16:creationId xmlns:a16="http://schemas.microsoft.com/office/drawing/2014/main" id="{F4F78805-E9F6-4F54-E583-073373684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100" y="702152"/>
            <a:ext cx="8132900" cy="56432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558D8DA-8BD9-2565-2152-AD2390B1F1A2}"/>
              </a:ext>
            </a:extLst>
          </p:cNvPr>
          <p:cNvSpPr txBox="1"/>
          <p:nvPr/>
        </p:nvSpPr>
        <p:spPr>
          <a:xfrm>
            <a:off x="386861" y="818147"/>
            <a:ext cx="3672239" cy="4539704"/>
          </a:xfrm>
          <a:prstGeom prst="rect">
            <a:avLst/>
          </a:prstGeom>
          <a:noFill/>
        </p:spPr>
        <p:txBody>
          <a:bodyPr wrap="square" rtlCol="0">
            <a:spAutoFit/>
          </a:bodyPr>
          <a:lstStyle/>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GND</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chân ground, có hiệu điện thế 0V.</a:t>
            </a: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Vin</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nguồn đầu vào của board mạch Arduino.</a:t>
            </a: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Analog Pins</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các chân xử lý tín hiệu Analog khi kết nối với các thiết bị khác. Có các chân được đánh số từ A0 đến A5.</a:t>
            </a:r>
          </a:p>
          <a:p>
            <a:pPr marR="0" lvl="0" algn="l" defTabSz="914400" rtl="0" eaLnBrk="1" fontAlgn="auto" latinLnBrk="0" hangingPunct="1">
              <a:lnSpc>
                <a:spcPct val="100000"/>
              </a:lnSpc>
              <a:spcBef>
                <a:spcPts val="1000"/>
              </a:spcBef>
              <a:spcAft>
                <a:spcPts val="0"/>
              </a:spcAft>
              <a:buClrTx/>
              <a:buSzTx/>
              <a:tabLst/>
              <a:defRPr/>
            </a:pPr>
            <a:r>
              <a:rPr kumimoji="0" lang="vi-VN"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Power Button </a:t>
            </a:r>
            <a:r>
              <a:rPr kumimoji="0" lang="vi-VN"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kết nối với nguồn cấp cho Arduino.</a:t>
            </a:r>
          </a:p>
        </p:txBody>
      </p:sp>
    </p:spTree>
    <p:extLst>
      <p:ext uri="{BB962C8B-B14F-4D97-AF65-F5344CB8AC3E}">
        <p14:creationId xmlns:p14="http://schemas.microsoft.com/office/powerpoint/2010/main" val="3049122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9F1C6C-C4A7-30F6-D2E2-187879F9CC2F}"/>
              </a:ext>
            </a:extLst>
          </p:cNvPr>
          <p:cNvSpPr>
            <a:spLocks noGrp="1"/>
          </p:cNvSpPr>
          <p:nvPr>
            <p:ph type="ctrTitle"/>
          </p:nvPr>
        </p:nvSpPr>
        <p:spPr>
          <a:xfrm>
            <a:off x="492371" y="2787161"/>
            <a:ext cx="11062320" cy="1283677"/>
          </a:xfrm>
        </p:spPr>
        <p:txBody>
          <a:bodyPr/>
          <a:lstStyle/>
          <a:p>
            <a:pPr algn="l"/>
            <a:r>
              <a:rPr lang="en-US" sz="6000" dirty="0"/>
              <a:t>1.3 </a:t>
            </a:r>
            <a:r>
              <a:rPr lang="en-US" sz="6000" dirty="0" err="1"/>
              <a:t>Hướng</a:t>
            </a:r>
            <a:r>
              <a:rPr lang="en-US" sz="6000" dirty="0"/>
              <a:t> </a:t>
            </a:r>
            <a:r>
              <a:rPr lang="en-US" sz="6000" dirty="0" err="1"/>
              <a:t>dẫn</a:t>
            </a:r>
            <a:r>
              <a:rPr lang="en-US" sz="6000" dirty="0"/>
              <a:t> </a:t>
            </a:r>
            <a:r>
              <a:rPr lang="en-US" sz="6000" dirty="0" err="1"/>
              <a:t>cài</a:t>
            </a:r>
            <a:r>
              <a:rPr lang="en-US" sz="6000" dirty="0"/>
              <a:t> </a:t>
            </a:r>
            <a:r>
              <a:rPr lang="en-US" sz="6000" dirty="0" err="1"/>
              <a:t>đặt</a:t>
            </a:r>
            <a:r>
              <a:rPr lang="en-US" sz="6000" dirty="0"/>
              <a:t> </a:t>
            </a:r>
            <a:r>
              <a:rPr lang="en-US" sz="6000" dirty="0" err="1"/>
              <a:t>và</a:t>
            </a:r>
            <a:r>
              <a:rPr lang="en-US" sz="6000" dirty="0"/>
              <a:t> </a:t>
            </a:r>
            <a:r>
              <a:rPr lang="en-US" sz="6000" dirty="0" err="1"/>
              <a:t>sử</a:t>
            </a:r>
            <a:r>
              <a:rPr lang="en-US" sz="6000" dirty="0"/>
              <a:t> </a:t>
            </a:r>
            <a:r>
              <a:rPr lang="en-US" sz="6000" dirty="0" err="1"/>
              <a:t>dụng</a:t>
            </a:r>
            <a:r>
              <a:rPr lang="en-US" sz="6000" dirty="0"/>
              <a:t> Arduino IDE</a:t>
            </a:r>
          </a:p>
        </p:txBody>
      </p:sp>
      <p:sp>
        <p:nvSpPr>
          <p:cNvPr id="4" name="Slide Number Placeholder 3" hidden="1">
            <a:extLst>
              <a:ext uri="{FF2B5EF4-FFF2-40B4-BE49-F238E27FC236}">
                <a16:creationId xmlns:a16="http://schemas.microsoft.com/office/drawing/2014/main" id="{1BF316D0-CD1B-D6CA-DCD9-D181DFB55220}"/>
              </a:ext>
            </a:extLst>
          </p:cNvPr>
          <p:cNvSpPr>
            <a:spLocks noGrp="1"/>
          </p:cNvSpPr>
          <p:nvPr>
            <p:ph type="sldNum" sz="quarter" idx="4294967295"/>
          </p:nvPr>
        </p:nvSpPr>
        <p:spPr>
          <a:xfrm>
            <a:off x="10879016" y="6550272"/>
            <a:ext cx="937845" cy="298937"/>
          </a:xfrm>
        </p:spPr>
        <p:txBody>
          <a:bodyPr/>
          <a:lstStyle/>
          <a:p>
            <a:pPr>
              <a:spcAft>
                <a:spcPts val="600"/>
              </a:spcAft>
            </a:pPr>
            <a:fld id="{834A3715-FC91-284B-8702-1BAEDE956EBF}" type="slidenum">
              <a:rPr lang="en-US" smtClean="0"/>
              <a:pPr>
                <a:spcAft>
                  <a:spcPts val="600"/>
                </a:spcAft>
              </a:pPr>
              <a:t>14</a:t>
            </a:fld>
            <a:endParaRPr lang="en-US"/>
          </a:p>
        </p:txBody>
      </p:sp>
    </p:spTree>
    <p:extLst>
      <p:ext uri="{BB962C8B-B14F-4D97-AF65-F5344CB8AC3E}">
        <p14:creationId xmlns:p14="http://schemas.microsoft.com/office/powerpoint/2010/main" val="3795190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556F-2F08-E3D2-72B0-97541485B929}"/>
              </a:ext>
            </a:extLst>
          </p:cNvPr>
          <p:cNvSpPr>
            <a:spLocks noGrp="1"/>
          </p:cNvSpPr>
          <p:nvPr>
            <p:ph type="title"/>
          </p:nvPr>
        </p:nvSpPr>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
        <p:nvSpPr>
          <p:cNvPr id="3" name="Content Placeholder 2">
            <a:extLst>
              <a:ext uri="{FF2B5EF4-FFF2-40B4-BE49-F238E27FC236}">
                <a16:creationId xmlns:a16="http://schemas.microsoft.com/office/drawing/2014/main" id="{A71677BD-DADD-46AE-80C1-8BE8AE01EEE4}"/>
              </a:ext>
            </a:extLst>
          </p:cNvPr>
          <p:cNvSpPr>
            <a:spLocks noGrp="1"/>
          </p:cNvSpPr>
          <p:nvPr>
            <p:ph idx="1"/>
          </p:nvPr>
        </p:nvSpPr>
        <p:spPr/>
        <p:txBody>
          <a:bodyPr/>
          <a:lstStyle/>
          <a:p>
            <a:pPr marL="0" indent="0">
              <a:buNone/>
            </a:pPr>
            <a:r>
              <a:rPr lang="vi-VN" b="1" dirty="0"/>
              <a:t>1. Download Arduino IDE</a:t>
            </a:r>
          </a:p>
          <a:p>
            <a:r>
              <a:rPr lang="vi-VN" dirty="0"/>
              <a:t>Download Arduino IDE tại website chính thức của Arduino:</a:t>
            </a:r>
            <a:r>
              <a:rPr lang="en-US" dirty="0"/>
              <a:t> </a:t>
            </a:r>
            <a:r>
              <a:rPr lang="vi-VN" dirty="0">
                <a:hlinkClick r:id="rId2"/>
              </a:rPr>
              <a:t>Arduino.cc</a:t>
            </a:r>
            <a:endParaRPr lang="vi-VN" dirty="0"/>
          </a:p>
          <a:p>
            <a:r>
              <a:rPr lang="vi-VN" dirty="0"/>
              <a:t>Hiện tại, phiên bản dành cho Windows, Linux, Mac OS X.</a:t>
            </a:r>
          </a:p>
          <a:p>
            <a:pPr marL="0" indent="0">
              <a:buNone/>
            </a:pPr>
            <a:r>
              <a:rPr lang="vi-VN" b="1" dirty="0"/>
              <a:t>2. Cài đặt Arduino IDE</a:t>
            </a:r>
          </a:p>
          <a:p>
            <a:r>
              <a:rPr lang="vi-VN" dirty="0"/>
              <a:t>Double click file cài đặt Arduino IDE, chọn </a:t>
            </a:r>
            <a:r>
              <a:rPr lang="vi-VN" b="1" dirty="0"/>
              <a:t>“</a:t>
            </a:r>
            <a:r>
              <a:rPr lang="vi-VN" b="1" i="1" dirty="0"/>
              <a:t>I Agree</a:t>
            </a:r>
            <a:r>
              <a:rPr lang="vi-VN" b="1" dirty="0"/>
              <a:t>”</a:t>
            </a:r>
            <a:r>
              <a:rPr lang="vi-VN" dirty="0"/>
              <a:t>, sau đó, click Next và chọn đường dẫn cài đặt Arduino IDE, mặc định là </a:t>
            </a:r>
            <a:r>
              <a:rPr lang="vi-VN" b="1" dirty="0"/>
              <a:t>C:\Program Files (x86)\Arduino</a:t>
            </a:r>
            <a:r>
              <a:rPr lang="vi-VN" dirty="0"/>
              <a:t>. Chương trình cài đặt yêu cầu khoảng 500MB dung lượng ổ cứng còn trống.</a:t>
            </a:r>
          </a:p>
        </p:txBody>
      </p:sp>
      <p:sp>
        <p:nvSpPr>
          <p:cNvPr id="4" name="Slide Number Placeholder 3">
            <a:extLst>
              <a:ext uri="{FF2B5EF4-FFF2-40B4-BE49-F238E27FC236}">
                <a16:creationId xmlns:a16="http://schemas.microsoft.com/office/drawing/2014/main" id="{6E6A33F4-5E2E-07E8-D875-829B7D0689E3}"/>
              </a:ext>
            </a:extLst>
          </p:cNvPr>
          <p:cNvSpPr>
            <a:spLocks noGrp="1"/>
          </p:cNvSpPr>
          <p:nvPr>
            <p:ph type="sldNum" sz="quarter" idx="12"/>
          </p:nvPr>
        </p:nvSpPr>
        <p:spPr/>
        <p:txBody>
          <a:bodyPr/>
          <a:lstStyle/>
          <a:p>
            <a:fld id="{834A3715-FC91-284B-8702-1BAEDE956EBF}" type="slidenum">
              <a:rPr lang="en-US" smtClean="0"/>
              <a:pPr/>
              <a:t>15</a:t>
            </a:fld>
            <a:endParaRPr lang="en-US"/>
          </a:p>
        </p:txBody>
      </p:sp>
    </p:spTree>
    <p:extLst>
      <p:ext uri="{BB962C8B-B14F-4D97-AF65-F5344CB8AC3E}">
        <p14:creationId xmlns:p14="http://schemas.microsoft.com/office/powerpoint/2010/main" val="3035537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09A2-4DB5-47EF-BA4F-8A54AB951935}"/>
              </a:ext>
            </a:extLst>
          </p:cNvPr>
          <p:cNvSpPr>
            <a:spLocks noGrp="1"/>
          </p:cNvSpPr>
          <p:nvPr>
            <p:ph type="title"/>
          </p:nvPr>
        </p:nvSpPr>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
        <p:nvSpPr>
          <p:cNvPr id="4" name="Slide Number Placeholder 3">
            <a:extLst>
              <a:ext uri="{FF2B5EF4-FFF2-40B4-BE49-F238E27FC236}">
                <a16:creationId xmlns:a16="http://schemas.microsoft.com/office/drawing/2014/main" id="{22ED93BB-52A0-2CEE-56EC-E030571090B2}"/>
              </a:ext>
            </a:extLst>
          </p:cNvPr>
          <p:cNvSpPr>
            <a:spLocks noGrp="1"/>
          </p:cNvSpPr>
          <p:nvPr>
            <p:ph type="sldNum" sz="quarter" idx="12"/>
          </p:nvPr>
        </p:nvSpPr>
        <p:spPr/>
        <p:txBody>
          <a:bodyPr/>
          <a:lstStyle/>
          <a:p>
            <a:fld id="{834A3715-FC91-284B-8702-1BAEDE956EBF}" type="slidenum">
              <a:rPr lang="en-US" smtClean="0"/>
              <a:pPr/>
              <a:t>16</a:t>
            </a:fld>
            <a:endParaRPr lang="en-US"/>
          </a:p>
        </p:txBody>
      </p:sp>
      <p:pic>
        <p:nvPicPr>
          <p:cNvPr id="5" name="Picture 2" descr="Đường dẫn Arduino IDE">
            <a:extLst>
              <a:ext uri="{FF2B5EF4-FFF2-40B4-BE49-F238E27FC236}">
                <a16:creationId xmlns:a16="http://schemas.microsoft.com/office/drawing/2014/main" id="{42DA86BB-D1D3-8C9E-8BBF-951AAF80C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739" y="995434"/>
            <a:ext cx="6249114" cy="431380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DB7EE54-623B-223E-0771-B2AB5F86EA68}"/>
              </a:ext>
            </a:extLst>
          </p:cNvPr>
          <p:cNvPicPr>
            <a:picLocks noChangeAspect="1"/>
          </p:cNvPicPr>
          <p:nvPr/>
        </p:nvPicPr>
        <p:blipFill>
          <a:blip r:embed="rId3"/>
          <a:stretch>
            <a:fillRect/>
          </a:stretch>
        </p:blipFill>
        <p:spPr>
          <a:xfrm>
            <a:off x="7660438" y="995434"/>
            <a:ext cx="4245080" cy="5228275"/>
          </a:xfrm>
          <a:prstGeom prst="rect">
            <a:avLst/>
          </a:prstGeom>
        </p:spPr>
      </p:pic>
    </p:spTree>
    <p:extLst>
      <p:ext uri="{BB962C8B-B14F-4D97-AF65-F5344CB8AC3E}">
        <p14:creationId xmlns:p14="http://schemas.microsoft.com/office/powerpoint/2010/main" val="261782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CBB5-C82C-30CB-2EB1-BED8B5E6020E}"/>
              </a:ext>
            </a:extLst>
          </p:cNvPr>
          <p:cNvSpPr>
            <a:spLocks noGrp="1"/>
          </p:cNvSpPr>
          <p:nvPr>
            <p:ph type="title"/>
          </p:nvPr>
        </p:nvSpPr>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
        <p:nvSpPr>
          <p:cNvPr id="3" name="Content Placeholder 2">
            <a:extLst>
              <a:ext uri="{FF2B5EF4-FFF2-40B4-BE49-F238E27FC236}">
                <a16:creationId xmlns:a16="http://schemas.microsoft.com/office/drawing/2014/main" id="{11EF1E74-ACC6-EBBA-BBBC-FCE0EADF8381}"/>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Thanh </a:t>
            </a:r>
            <a:r>
              <a:rPr kumimoji="0" lang="en-US" altLang="en-US" sz="2400" b="1" i="0" u="none" strike="noStrike" cap="none" normalizeH="0" baseline="0" dirty="0" err="1">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công</a:t>
            </a: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cụ</a:t>
            </a: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1" i="0" u="none" strike="noStrike" cap="none" normalizeH="0" baseline="0" dirty="0" err="1">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của</a:t>
            </a: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 Arduino</a:t>
            </a:r>
            <a:r>
              <a:rPr kumimoji="0" lang="en-US" altLang="en-US" sz="2400" b="0" i="0" u="none" strike="noStrike" cap="none" normalizeH="0" baseline="0" dirty="0">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Button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đầu</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tiên</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biên</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dịch</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code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ra</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mã</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Hex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để</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nạp</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vào</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Button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thứ</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hai</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upload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mã</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biên</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dịch</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vào</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Button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còn</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lại</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lần</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lượt</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là</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New, Open, Save file code </a:t>
            </a:r>
            <a:r>
              <a:rPr kumimoji="0" lang="en-US" altLang="en-US" b="0" i="1"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b="0" i="1"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ino</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Menu “File”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Examples: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chứa</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các</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ví</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dụ</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mẫu</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khi</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lập</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trình</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Preferences: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cấu</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hình</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cài</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đặt</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 IDE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rPr>
              <a:t>Menu “Tool”</a:t>
            </a:r>
            <a:endPar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vi-VN" dirty="0">
                <a:solidFill>
                  <a:srgbClr val="000000"/>
                </a:solidFill>
                <a:latin typeface="Calibri" panose="020F0502020204030204" pitchFamily="34" charset="0"/>
                <a:ea typeface="Calibri" panose="020F0502020204030204" pitchFamily="34" charset="0"/>
                <a:cs typeface="Calibri" panose="020F0502020204030204" pitchFamily="34" charset="0"/>
              </a:rPr>
              <a:t>Board: chọn đúng loại board Arduino đang lập trình.</a:t>
            </a:r>
          </a:p>
          <a:p>
            <a:pPr marL="742950" lvl="1" indent="-285750">
              <a:buFont typeface="Arial" panose="020B0604020202020204" pitchFamily="34" charset="0"/>
              <a:buChar char="•"/>
            </a:pPr>
            <a:r>
              <a:rPr lang="vi-VN" dirty="0">
                <a:solidFill>
                  <a:srgbClr val="000000"/>
                </a:solidFill>
                <a:latin typeface="Calibri" panose="020F0502020204030204" pitchFamily="34" charset="0"/>
                <a:ea typeface="Calibri" panose="020F0502020204030204" pitchFamily="34" charset="0"/>
                <a:cs typeface="Calibri" panose="020F0502020204030204" pitchFamily="34" charset="0"/>
              </a:rPr>
              <a:t>Port: chọn cổng kết nối Arduino với máy tính.</a:t>
            </a:r>
          </a:p>
        </p:txBody>
      </p:sp>
      <p:sp>
        <p:nvSpPr>
          <p:cNvPr id="4" name="Slide Number Placeholder 3">
            <a:extLst>
              <a:ext uri="{FF2B5EF4-FFF2-40B4-BE49-F238E27FC236}">
                <a16:creationId xmlns:a16="http://schemas.microsoft.com/office/drawing/2014/main" id="{660850C4-BC80-6326-F167-ED9D93BE98CE}"/>
              </a:ext>
            </a:extLst>
          </p:cNvPr>
          <p:cNvSpPr>
            <a:spLocks noGrp="1"/>
          </p:cNvSpPr>
          <p:nvPr>
            <p:ph type="sldNum" sz="quarter" idx="12"/>
          </p:nvPr>
        </p:nvSpPr>
        <p:spPr/>
        <p:txBody>
          <a:bodyPr/>
          <a:lstStyle/>
          <a:p>
            <a:fld id="{834A3715-FC91-284B-8702-1BAEDE956EBF}" type="slidenum">
              <a:rPr lang="en-US" smtClean="0"/>
              <a:pPr/>
              <a:t>17</a:t>
            </a:fld>
            <a:endParaRPr lang="en-US"/>
          </a:p>
        </p:txBody>
      </p:sp>
      <p:pic>
        <p:nvPicPr>
          <p:cNvPr id="5" name="Picture 4" descr="Thanh công cụ của Arduino IDE">
            <a:hlinkClick r:id="rId3"/>
            <a:extLst>
              <a:ext uri="{FF2B5EF4-FFF2-40B4-BE49-F238E27FC236}">
                <a16:creationId xmlns:a16="http://schemas.microsoft.com/office/drawing/2014/main" id="{9EC2EE1A-D9E6-D9E2-22AD-D0E1C831EB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3099" y="861647"/>
            <a:ext cx="2104757" cy="511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710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DA3E8-06FC-8A37-2D41-5581077D3CB4}"/>
              </a:ext>
            </a:extLst>
          </p:cNvPr>
          <p:cNvSpPr>
            <a:spLocks noGrp="1"/>
          </p:cNvSpPr>
          <p:nvPr>
            <p:ph idx="1"/>
          </p:nvPr>
        </p:nvSpPr>
        <p:spPr>
          <a:xfrm>
            <a:off x="386860" y="861647"/>
            <a:ext cx="11131371" cy="5460023"/>
          </a:xfrm>
        </p:spPr>
        <p:txBody>
          <a:bodyPr>
            <a:noAutofit/>
          </a:bodyPr>
          <a:lstStyle/>
          <a:p>
            <a:pPr>
              <a:lnSpc>
                <a:spcPct val="100000"/>
              </a:lnSpc>
              <a:spcBef>
                <a:spcPts val="0"/>
              </a:spcBef>
              <a:defRPr/>
            </a:pP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File mã nguồn (source code) của Arduino IDE có đuôi mở rộng là </a:t>
            </a:r>
            <a:r>
              <a:rPr lang="vi-VN" sz="2400" b="1" i="1" dirty="0">
                <a:solidFill>
                  <a:srgbClr val="000000"/>
                </a:solidFill>
                <a:latin typeface="Calibri" panose="020F0502020204030204" pitchFamily="34" charset="0"/>
                <a:ea typeface="Calibri" panose="020F0502020204030204" pitchFamily="34" charset="0"/>
                <a:cs typeface="Calibri" panose="020F0502020204030204" pitchFamily="34" charset="0"/>
              </a:rPr>
              <a:t>.ino</a:t>
            </a: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0"/>
              </a:spcBef>
              <a:defRPr/>
            </a:pP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0"/>
              </a:spcBef>
              <a:defRPr/>
            </a:pP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Để nhúng lệnh điều khiển vào Arduino thì cần biên dịch file </a:t>
            </a:r>
            <a:r>
              <a:rPr lang="vi-VN" sz="2400" b="1" dirty="0">
                <a:solidFill>
                  <a:srgbClr val="000000"/>
                </a:solidFill>
                <a:latin typeface="Calibri" panose="020F0502020204030204" pitchFamily="34" charset="0"/>
                <a:ea typeface="Calibri" panose="020F0502020204030204" pitchFamily="34" charset="0"/>
                <a:cs typeface="Calibri" panose="020F0502020204030204" pitchFamily="34" charset="0"/>
              </a:rPr>
              <a:t>.ino</a:t>
            </a: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 thành file </a:t>
            </a:r>
            <a:r>
              <a:rPr lang="vi-VN" sz="2400" b="1" dirty="0">
                <a:solidFill>
                  <a:srgbClr val="000000"/>
                </a:solidFill>
                <a:latin typeface="Calibri" panose="020F0502020204030204" pitchFamily="34" charset="0"/>
                <a:ea typeface="Calibri" panose="020F0502020204030204" pitchFamily="34" charset="0"/>
                <a:cs typeface="Calibri" panose="020F0502020204030204" pitchFamily="34" charset="0"/>
              </a:rPr>
              <a:t>.hex</a:t>
            </a: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 File </a:t>
            </a:r>
            <a:r>
              <a:rPr lang="vi-VN" sz="2400" b="1" dirty="0">
                <a:solidFill>
                  <a:srgbClr val="000000"/>
                </a:solidFill>
                <a:latin typeface="Calibri" panose="020F0502020204030204" pitchFamily="34" charset="0"/>
                <a:ea typeface="Calibri" panose="020F0502020204030204" pitchFamily="34" charset="0"/>
                <a:cs typeface="Calibri" panose="020F0502020204030204" pitchFamily="34" charset="0"/>
              </a:rPr>
              <a:t>.hex</a:t>
            </a:r>
            <a:r>
              <a:rPr lang="vi-VN" sz="2400" dirty="0">
                <a:solidFill>
                  <a:srgbClr val="000000"/>
                </a:solidFill>
                <a:latin typeface="Calibri" panose="020F0502020204030204" pitchFamily="34" charset="0"/>
                <a:ea typeface="Calibri" panose="020F0502020204030204" pitchFamily="34" charset="0"/>
                <a:cs typeface="Calibri" panose="020F0502020204030204" pitchFamily="34" charset="0"/>
              </a:rPr>
              <a:t> chứa lệnh thực thi được biểu diễn dưới dạng hệ cơ số 16. Board mạch Arduino chỉ hiểu và chạy được những lệnh này.</a:t>
            </a: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defRPr/>
            </a:pPr>
            <a:endParaRPr lang="en-US" sz="2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defRPr/>
            </a:pPr>
            <a:endParaRPr lang="vi-VN" sz="2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K</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hi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biên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dịch</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thì</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file Hex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sẽ</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nằm</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ở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đường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dẫn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mặc</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định</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thường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trong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Program Data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trong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phân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vùng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C). </a:t>
            </a:r>
          </a:p>
          <a:p>
            <a:pPr marL="0" indent="0" eaLnBrk="0" fontAlgn="base" hangingPunct="0">
              <a:lnSpc>
                <a:spcPct val="100000"/>
              </a:lnSpc>
              <a:spcBef>
                <a:spcPct val="0"/>
              </a:spcBef>
              <a:spcAft>
                <a:spcPct val="0"/>
              </a:spcAft>
              <a:buNone/>
            </a:pPr>
            <a:endPar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None/>
            </a:pPr>
            <a:endPar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Để</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xem</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đường</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dẫn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mặc</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định</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này</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ta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làm</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như</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sau</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34FEC3FB-BE04-E456-F0FA-96D287DB4A74}"/>
              </a:ext>
            </a:extLst>
          </p:cNvPr>
          <p:cNvSpPr>
            <a:spLocks noGrp="1"/>
          </p:cNvSpPr>
          <p:nvPr>
            <p:ph type="sldNum" sz="quarter" idx="12"/>
          </p:nvPr>
        </p:nvSpPr>
        <p:spPr/>
        <p:txBody>
          <a:bodyPr/>
          <a:lstStyle/>
          <a:p>
            <a:fld id="{834A3715-FC91-284B-8702-1BAEDE956EBF}" type="slidenum">
              <a:rPr lang="en-US" smtClean="0"/>
              <a:pPr/>
              <a:t>18</a:t>
            </a:fld>
            <a:endParaRPr lang="en-US"/>
          </a:p>
        </p:txBody>
      </p:sp>
      <p:sp>
        <p:nvSpPr>
          <p:cNvPr id="5" name="Title 1">
            <a:extLst>
              <a:ext uri="{FF2B5EF4-FFF2-40B4-BE49-F238E27FC236}">
                <a16:creationId xmlns:a16="http://schemas.microsoft.com/office/drawing/2014/main" id="{4679E2FD-8D38-88CF-AAF1-309F74C5A445}"/>
              </a:ext>
            </a:extLst>
          </p:cNvPr>
          <p:cNvSpPr>
            <a:spLocks noGrp="1"/>
          </p:cNvSpPr>
          <p:nvPr>
            <p:ph type="title"/>
          </p:nvPr>
        </p:nvSpPr>
        <p:spPr>
          <a:xfrm>
            <a:off x="387350" y="77788"/>
            <a:ext cx="9396413" cy="511175"/>
          </a:xfrm>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Tree>
    <p:extLst>
      <p:ext uri="{BB962C8B-B14F-4D97-AF65-F5344CB8AC3E}">
        <p14:creationId xmlns:p14="http://schemas.microsoft.com/office/powerpoint/2010/main" val="3055174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F536-8536-2F85-31AE-C0924500C6DE}"/>
              </a:ext>
            </a:extLst>
          </p:cNvPr>
          <p:cNvSpPr>
            <a:spLocks noGrp="1"/>
          </p:cNvSpPr>
          <p:nvPr>
            <p:ph type="title"/>
          </p:nvPr>
        </p:nvSpPr>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
        <p:nvSpPr>
          <p:cNvPr id="4" name="Slide Number Placeholder 3">
            <a:extLst>
              <a:ext uri="{FF2B5EF4-FFF2-40B4-BE49-F238E27FC236}">
                <a16:creationId xmlns:a16="http://schemas.microsoft.com/office/drawing/2014/main" id="{9BA008A0-1D9E-04AC-D0EA-2F54F7A44378}"/>
              </a:ext>
            </a:extLst>
          </p:cNvPr>
          <p:cNvSpPr>
            <a:spLocks noGrp="1"/>
          </p:cNvSpPr>
          <p:nvPr>
            <p:ph type="sldNum" sz="quarter" idx="12"/>
          </p:nvPr>
        </p:nvSpPr>
        <p:spPr/>
        <p:txBody>
          <a:bodyPr/>
          <a:lstStyle/>
          <a:p>
            <a:fld id="{834A3715-FC91-284B-8702-1BAEDE956EBF}" type="slidenum">
              <a:rPr lang="en-US" smtClean="0"/>
              <a:pPr/>
              <a:t>19</a:t>
            </a:fld>
            <a:endParaRPr lang="en-US"/>
          </a:p>
        </p:txBody>
      </p:sp>
      <p:pic>
        <p:nvPicPr>
          <p:cNvPr id="10" name="Picture 2" descr="Preferences Arduino IDE">
            <a:hlinkClick r:id="rId3"/>
            <a:extLst>
              <a:ext uri="{FF2B5EF4-FFF2-40B4-BE49-F238E27FC236}">
                <a16:creationId xmlns:a16="http://schemas.microsoft.com/office/drawing/2014/main" id="{389DBEB1-D6DC-F89B-F979-BBB263BFD1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4960" y="1768795"/>
            <a:ext cx="8391350" cy="44715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FE73F4D-8152-E753-5FD7-A0D117458E52}"/>
              </a:ext>
            </a:extLst>
          </p:cNvPr>
          <p:cNvSpPr txBox="1"/>
          <p:nvPr/>
        </p:nvSpPr>
        <p:spPr>
          <a:xfrm>
            <a:off x="818147" y="866274"/>
            <a:ext cx="10748211" cy="1200329"/>
          </a:xfrm>
          <a:prstGeom prst="rect">
            <a:avLst/>
          </a:prstGeom>
          <a:noFill/>
        </p:spPr>
        <p:txBody>
          <a:bodyPr wrap="square" rtlCol="0">
            <a:spAutoFit/>
          </a:bodyPr>
          <a:lstStyle/>
          <a:p>
            <a:r>
              <a:rPr kumimoji="0" lang="en-US" altLang="en-US" sz="2400" b="1"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Bước</a:t>
            </a:r>
            <a:r>
              <a:rPr kumimoji="0" lang="en-US" altLang="en-US" sz="2400"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1</a:t>
            </a: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Mở</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File -&gt; Preferences,</a:t>
            </a:r>
          </a:p>
          <a:p>
            <a:r>
              <a:rPr lang="en-US" altLang="en-US"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C</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họn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compilation ở </a:t>
            </a:r>
            <a:r>
              <a:rPr kumimoji="0" lang="en-US" altLang="en-US" sz="24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phần</a:t>
            </a:r>
            <a:r>
              <a:rPr kumimoji="0" lang="en-US" altLang="en-US" sz="24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“Show verbose output during”</a:t>
            </a:r>
          </a:p>
          <a:p>
            <a:endParaRPr lang="en-US" sz="2400" dirty="0"/>
          </a:p>
        </p:txBody>
      </p:sp>
    </p:spTree>
    <p:extLst>
      <p:ext uri="{BB962C8B-B14F-4D97-AF65-F5344CB8AC3E}">
        <p14:creationId xmlns:p14="http://schemas.microsoft.com/office/powerpoint/2010/main" val="281762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282E-75B1-9E51-55DB-97E84DB8364D}"/>
              </a:ext>
            </a:extLst>
          </p:cNvPr>
          <p:cNvSpPr>
            <a:spLocks noGrp="1"/>
          </p:cNvSpPr>
          <p:nvPr>
            <p:ph type="title"/>
          </p:nvPr>
        </p:nvSpPr>
        <p:spPr/>
        <p:txBody>
          <a:bodyPr/>
          <a:lstStyle/>
          <a:p>
            <a:r>
              <a:rPr lang="en-US" dirty="0"/>
              <a:t>1.3 </a:t>
            </a:r>
            <a:r>
              <a:rPr lang="en-US" dirty="0" err="1"/>
              <a:t>Hướng</a:t>
            </a:r>
            <a:r>
              <a:rPr lang="en-US" dirty="0"/>
              <a:t> </a:t>
            </a:r>
            <a:r>
              <a:rPr lang="en-US" dirty="0" err="1"/>
              <a:t>dẫn</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sử</a:t>
            </a:r>
            <a:r>
              <a:rPr lang="en-US" dirty="0"/>
              <a:t> </a:t>
            </a:r>
            <a:r>
              <a:rPr lang="en-US" dirty="0" err="1"/>
              <a:t>dụng</a:t>
            </a:r>
            <a:r>
              <a:rPr lang="en-US" dirty="0"/>
              <a:t> Arduino IDE</a:t>
            </a:r>
          </a:p>
        </p:txBody>
      </p:sp>
      <p:sp>
        <p:nvSpPr>
          <p:cNvPr id="3" name="Content Placeholder 2">
            <a:extLst>
              <a:ext uri="{FF2B5EF4-FFF2-40B4-BE49-F238E27FC236}">
                <a16:creationId xmlns:a16="http://schemas.microsoft.com/office/drawing/2014/main" id="{87FB6955-A7C4-8B6B-87F4-41D9347EA986}"/>
              </a:ext>
            </a:extLst>
          </p:cNvPr>
          <p:cNvSpPr>
            <a:spLocks noGrp="1"/>
          </p:cNvSpPr>
          <p:nvPr>
            <p:ph idx="1"/>
          </p:nvPr>
        </p:nvSpPr>
        <p:spPr>
          <a:xfrm>
            <a:off x="386861" y="861648"/>
            <a:ext cx="11035118" cy="983816"/>
          </a:xfrm>
        </p:spPr>
        <p:txBody>
          <a:bodyPr/>
          <a:lstStyle/>
          <a:p>
            <a:pPr marL="0" indent="0" eaLnBrk="0" fontAlgn="base" hangingPunct="0">
              <a:lnSpc>
                <a:spcPct val="100000"/>
              </a:lnSpc>
              <a:spcBef>
                <a:spcPct val="0"/>
              </a:spcBef>
              <a:spcAft>
                <a:spcPct val="0"/>
              </a:spcAft>
              <a:buNone/>
            </a:pPr>
            <a:r>
              <a:rPr kumimoji="0" lang="en-US" altLang="en-US" sz="2800" b="1"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Bước</a:t>
            </a:r>
            <a:r>
              <a:rPr kumimoji="0" lang="en-US" altLang="en-US" sz="2800"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2</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Nhấn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nút</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biên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dịch</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file code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đang</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mở</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xem</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đường</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dẫn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ở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phần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thông</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báo</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compile Arduino.</a:t>
            </a:r>
            <a:endParaRPr kumimoji="0" lang="en-US" altLang="en-US" sz="2800" b="0" i="0" u="none" strike="noStrike" cap="none" normalizeH="0" baseline="0" dirty="0">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18CD4DA8-4634-7589-E450-555CD24383F9}"/>
              </a:ext>
            </a:extLst>
          </p:cNvPr>
          <p:cNvSpPr>
            <a:spLocks noGrp="1"/>
          </p:cNvSpPr>
          <p:nvPr>
            <p:ph type="sldNum" sz="quarter" idx="12"/>
          </p:nvPr>
        </p:nvSpPr>
        <p:spPr/>
        <p:txBody>
          <a:bodyPr/>
          <a:lstStyle/>
          <a:p>
            <a:fld id="{834A3715-FC91-284B-8702-1BAEDE956EBF}" type="slidenum">
              <a:rPr lang="en-US" smtClean="0"/>
              <a:pPr/>
              <a:t>20</a:t>
            </a:fld>
            <a:endParaRPr lang="en-US"/>
          </a:p>
        </p:txBody>
      </p:sp>
      <p:pic>
        <p:nvPicPr>
          <p:cNvPr id="6" name="Picture 4" descr="Đường dẫn mặc định file .hex của Arduino IDE">
            <a:extLst>
              <a:ext uri="{FF2B5EF4-FFF2-40B4-BE49-F238E27FC236}">
                <a16:creationId xmlns:a16="http://schemas.microsoft.com/office/drawing/2014/main" id="{C8AA583E-FED2-CFCE-457A-836935C6A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020" y="2066380"/>
            <a:ext cx="10544691" cy="3227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12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9F1C6C-C4A7-30F6-D2E2-187879F9CC2F}"/>
              </a:ext>
            </a:extLst>
          </p:cNvPr>
          <p:cNvSpPr>
            <a:spLocks noGrp="1"/>
          </p:cNvSpPr>
          <p:nvPr>
            <p:ph type="ctrTitle"/>
          </p:nvPr>
        </p:nvSpPr>
        <p:spPr>
          <a:xfrm>
            <a:off x="492371" y="2374233"/>
            <a:ext cx="11062320" cy="1696606"/>
          </a:xfrm>
        </p:spPr>
        <p:txBody>
          <a:bodyPr/>
          <a:lstStyle/>
          <a:p>
            <a:pPr algn="l"/>
            <a:r>
              <a:rPr lang="en-US" sz="6000" dirty="0"/>
              <a:t>1.4 </a:t>
            </a:r>
            <a:r>
              <a:rPr lang="en-US" sz="6000" dirty="0" err="1"/>
              <a:t>Hướng</a:t>
            </a:r>
            <a:r>
              <a:rPr lang="en-US" sz="6000" dirty="0"/>
              <a:t> </a:t>
            </a:r>
            <a:r>
              <a:rPr lang="en-US" sz="6000" dirty="0" err="1"/>
              <a:t>dẫn</a:t>
            </a:r>
            <a:r>
              <a:rPr lang="en-US" sz="6000" dirty="0"/>
              <a:t> </a:t>
            </a:r>
            <a:r>
              <a:rPr lang="en-US" sz="6000" dirty="0" err="1"/>
              <a:t>sử</a:t>
            </a:r>
            <a:r>
              <a:rPr lang="en-US" sz="6000" dirty="0"/>
              <a:t> </a:t>
            </a:r>
            <a:r>
              <a:rPr lang="en-US" sz="6000" dirty="0" err="1"/>
              <a:t>dụng</a:t>
            </a:r>
            <a:r>
              <a:rPr lang="en-US" sz="6000" dirty="0"/>
              <a:t> </a:t>
            </a:r>
            <a:r>
              <a:rPr lang="en-US" sz="6000" dirty="0" err="1"/>
              <a:t>phần</a:t>
            </a:r>
            <a:r>
              <a:rPr lang="en-US" sz="6000" dirty="0"/>
              <a:t> </a:t>
            </a:r>
            <a:r>
              <a:rPr lang="en-US" sz="6000" dirty="0" err="1"/>
              <a:t>mềm</a:t>
            </a:r>
            <a:r>
              <a:rPr lang="en-US" sz="6000" dirty="0"/>
              <a:t> </a:t>
            </a:r>
            <a:r>
              <a:rPr lang="en-US" sz="6000" dirty="0" err="1"/>
              <a:t>mô</a:t>
            </a:r>
            <a:r>
              <a:rPr lang="en-US" sz="6000" dirty="0"/>
              <a:t> </a:t>
            </a:r>
            <a:r>
              <a:rPr lang="en-US" sz="6000" dirty="0" err="1"/>
              <a:t>phỏng</a:t>
            </a:r>
            <a:r>
              <a:rPr lang="en-US" sz="6000" dirty="0"/>
              <a:t> Proteus</a:t>
            </a:r>
          </a:p>
        </p:txBody>
      </p:sp>
      <p:sp>
        <p:nvSpPr>
          <p:cNvPr id="4" name="Slide Number Placeholder 3" hidden="1">
            <a:extLst>
              <a:ext uri="{FF2B5EF4-FFF2-40B4-BE49-F238E27FC236}">
                <a16:creationId xmlns:a16="http://schemas.microsoft.com/office/drawing/2014/main" id="{1BF316D0-CD1B-D6CA-DCD9-D181DFB55220}"/>
              </a:ext>
            </a:extLst>
          </p:cNvPr>
          <p:cNvSpPr>
            <a:spLocks noGrp="1"/>
          </p:cNvSpPr>
          <p:nvPr>
            <p:ph type="sldNum" sz="quarter" idx="4294967295"/>
          </p:nvPr>
        </p:nvSpPr>
        <p:spPr>
          <a:xfrm>
            <a:off x="10879016" y="6550272"/>
            <a:ext cx="937845" cy="298937"/>
          </a:xfrm>
        </p:spPr>
        <p:txBody>
          <a:bodyPr/>
          <a:lstStyle/>
          <a:p>
            <a:pPr>
              <a:spcAft>
                <a:spcPts val="600"/>
              </a:spcAft>
            </a:pPr>
            <a:fld id="{834A3715-FC91-284B-8702-1BAEDE956EBF}" type="slidenum">
              <a:rPr lang="en-US" smtClean="0"/>
              <a:pPr>
                <a:spcAft>
                  <a:spcPts val="600"/>
                </a:spcAft>
              </a:pPr>
              <a:t>21</a:t>
            </a:fld>
            <a:endParaRPr lang="en-US"/>
          </a:p>
        </p:txBody>
      </p:sp>
    </p:spTree>
    <p:extLst>
      <p:ext uri="{BB962C8B-B14F-4D97-AF65-F5344CB8AC3E}">
        <p14:creationId xmlns:p14="http://schemas.microsoft.com/office/powerpoint/2010/main" val="3375850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E340-0968-7798-FDDB-04771D732E04}"/>
              </a:ext>
            </a:extLst>
          </p:cNvPr>
          <p:cNvSpPr>
            <a:spLocks noGrp="1"/>
          </p:cNvSpPr>
          <p:nvPr>
            <p:ph type="title"/>
          </p:nvPr>
        </p:nvSpPr>
        <p:spPr/>
        <p:txBody>
          <a:bodyPr/>
          <a:lstStyle/>
          <a:p>
            <a:r>
              <a:rPr lang="en-US" dirty="0"/>
              <a:t>1.4 </a:t>
            </a:r>
            <a:r>
              <a:rPr lang="en-US" dirty="0" err="1"/>
              <a:t>Hướng</a:t>
            </a:r>
            <a:r>
              <a:rPr lang="en-US" dirty="0"/>
              <a:t> </a:t>
            </a:r>
            <a:r>
              <a:rPr lang="en-US" dirty="0" err="1"/>
              <a:t>dẫn</a:t>
            </a:r>
            <a:r>
              <a:rPr lang="en-US" dirty="0"/>
              <a:t> </a:t>
            </a:r>
            <a:r>
              <a:rPr lang="en-US" dirty="0" err="1"/>
              <a:t>sử</a:t>
            </a:r>
            <a:r>
              <a:rPr lang="en-US" dirty="0"/>
              <a:t> </a:t>
            </a:r>
            <a:r>
              <a:rPr lang="en-US" dirty="0" err="1"/>
              <a:t>dụng</a:t>
            </a:r>
            <a:r>
              <a:rPr lang="en-US" dirty="0"/>
              <a:t> </a:t>
            </a:r>
            <a:r>
              <a:rPr lang="en-US" dirty="0" err="1"/>
              <a:t>phần</a:t>
            </a:r>
            <a:r>
              <a:rPr lang="en-US" dirty="0"/>
              <a:t> </a:t>
            </a:r>
            <a:r>
              <a:rPr lang="en-US" dirty="0" err="1"/>
              <a:t>mềm</a:t>
            </a:r>
            <a:r>
              <a:rPr lang="en-US" dirty="0"/>
              <a:t> </a:t>
            </a:r>
            <a:r>
              <a:rPr lang="en-US" dirty="0" err="1"/>
              <a:t>mô</a:t>
            </a:r>
            <a:r>
              <a:rPr lang="en-US" dirty="0"/>
              <a:t> </a:t>
            </a:r>
            <a:r>
              <a:rPr lang="en-US" dirty="0" err="1"/>
              <a:t>phỏng</a:t>
            </a:r>
            <a:r>
              <a:rPr lang="en-US" dirty="0"/>
              <a:t> Proteus</a:t>
            </a:r>
          </a:p>
        </p:txBody>
      </p:sp>
      <p:sp>
        <p:nvSpPr>
          <p:cNvPr id="3" name="Content Placeholder 2">
            <a:extLst>
              <a:ext uri="{FF2B5EF4-FFF2-40B4-BE49-F238E27FC236}">
                <a16:creationId xmlns:a16="http://schemas.microsoft.com/office/drawing/2014/main" id="{B1EFB7DB-332F-AC48-0307-B8A7E24E4BCD}"/>
              </a:ext>
            </a:extLst>
          </p:cNvPr>
          <p:cNvSpPr>
            <a:spLocks noGrp="1"/>
          </p:cNvSpPr>
          <p:nvPr>
            <p:ph idx="1"/>
          </p:nvPr>
        </p:nvSpPr>
        <p:spPr/>
        <p:txBody>
          <a:bodyPr/>
          <a:lstStyle/>
          <a:p>
            <a:pPr marL="0" indent="0">
              <a:lnSpc>
                <a:spcPct val="100000"/>
              </a:lnSpc>
              <a:buNone/>
            </a:pPr>
            <a:r>
              <a:rPr lang="vi-VN" sz="2800" b="1" dirty="0"/>
              <a:t>1. Download Proteus</a:t>
            </a:r>
          </a:p>
          <a:p>
            <a:pPr>
              <a:lnSpc>
                <a:spcPct val="100000"/>
              </a:lnSpc>
            </a:pPr>
            <a:r>
              <a:rPr lang="vi-VN" sz="2800" dirty="0"/>
              <a:t>Các bạn có thể download file cài đặt Proteus tại website </a:t>
            </a:r>
            <a:r>
              <a:rPr lang="vi-VN" sz="2800" dirty="0">
                <a:hlinkClick r:id="rId2"/>
              </a:rPr>
              <a:t>LabCenter</a:t>
            </a:r>
            <a:r>
              <a:rPr lang="vi-VN" sz="2800" dirty="0"/>
              <a:t>..</a:t>
            </a:r>
          </a:p>
          <a:p>
            <a:pPr>
              <a:lnSpc>
                <a:spcPct val="100000"/>
              </a:lnSpc>
            </a:pPr>
            <a:r>
              <a:rPr lang="vi-VN" sz="2800" dirty="0"/>
              <a:t>Phiên bản Proteus sử dụng trong bài này là Proteus 8.6 SP2.</a:t>
            </a:r>
            <a:endParaRPr lang="en-US" sz="2800" dirty="0"/>
          </a:p>
          <a:p>
            <a:pPr marL="0" indent="0">
              <a:lnSpc>
                <a:spcPct val="100000"/>
              </a:lnSpc>
              <a:buNone/>
            </a:pPr>
            <a:endParaRPr lang="vi-VN" sz="2800" dirty="0"/>
          </a:p>
          <a:p>
            <a:pPr marL="0" indent="0">
              <a:lnSpc>
                <a:spcPct val="100000"/>
              </a:lnSpc>
              <a:buNone/>
            </a:pPr>
            <a:r>
              <a:rPr lang="vi-VN" sz="2800" b="1" dirty="0"/>
              <a:t>2. Cài đặt Proteus</a:t>
            </a:r>
          </a:p>
          <a:p>
            <a:pPr>
              <a:lnSpc>
                <a:spcPct val="100000"/>
              </a:lnSpc>
            </a:pPr>
            <a:r>
              <a:rPr lang="vi-VN" sz="2800" dirty="0"/>
              <a:t>Double click file cài đặt Proteus, chọn đường dẫn cài đặt Proteus.</a:t>
            </a:r>
          </a:p>
          <a:p>
            <a:endParaRPr lang="en-US" dirty="0"/>
          </a:p>
          <a:p>
            <a:endParaRPr lang="en-US" dirty="0"/>
          </a:p>
        </p:txBody>
      </p:sp>
      <p:sp>
        <p:nvSpPr>
          <p:cNvPr id="4" name="Slide Number Placeholder 3">
            <a:extLst>
              <a:ext uri="{FF2B5EF4-FFF2-40B4-BE49-F238E27FC236}">
                <a16:creationId xmlns:a16="http://schemas.microsoft.com/office/drawing/2014/main" id="{DDEB4CD5-5329-B1BF-D212-4D04E5847F39}"/>
              </a:ext>
            </a:extLst>
          </p:cNvPr>
          <p:cNvSpPr>
            <a:spLocks noGrp="1"/>
          </p:cNvSpPr>
          <p:nvPr>
            <p:ph type="sldNum" sz="quarter" idx="12"/>
          </p:nvPr>
        </p:nvSpPr>
        <p:spPr/>
        <p:txBody>
          <a:bodyPr/>
          <a:lstStyle/>
          <a:p>
            <a:fld id="{834A3715-FC91-284B-8702-1BAEDE956EBF}" type="slidenum">
              <a:rPr lang="en-US" smtClean="0"/>
              <a:pPr/>
              <a:t>22</a:t>
            </a:fld>
            <a:endParaRPr lang="en-US"/>
          </a:p>
        </p:txBody>
      </p:sp>
    </p:spTree>
    <p:extLst>
      <p:ext uri="{BB962C8B-B14F-4D97-AF65-F5344CB8AC3E}">
        <p14:creationId xmlns:p14="http://schemas.microsoft.com/office/powerpoint/2010/main" val="1677300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B65CE-76B9-D598-3052-19035520A225}"/>
              </a:ext>
            </a:extLst>
          </p:cNvPr>
          <p:cNvSpPr>
            <a:spLocks noGrp="1"/>
          </p:cNvSpPr>
          <p:nvPr>
            <p:ph type="title"/>
          </p:nvPr>
        </p:nvSpPr>
        <p:spPr/>
        <p:txBody>
          <a:bodyPr/>
          <a:lstStyle/>
          <a:p>
            <a:r>
              <a:rPr lang="en-US" dirty="0"/>
              <a:t>1.4 </a:t>
            </a:r>
            <a:r>
              <a:rPr lang="en-US" dirty="0" err="1"/>
              <a:t>Hướng</a:t>
            </a:r>
            <a:r>
              <a:rPr lang="en-US" dirty="0"/>
              <a:t> </a:t>
            </a:r>
            <a:r>
              <a:rPr lang="en-US" dirty="0" err="1"/>
              <a:t>dẫn</a:t>
            </a:r>
            <a:r>
              <a:rPr lang="en-US" dirty="0"/>
              <a:t> </a:t>
            </a:r>
            <a:r>
              <a:rPr lang="en-US" dirty="0" err="1"/>
              <a:t>sử</a:t>
            </a:r>
            <a:r>
              <a:rPr lang="en-US" dirty="0"/>
              <a:t> </a:t>
            </a:r>
            <a:r>
              <a:rPr lang="en-US" dirty="0" err="1"/>
              <a:t>dụng</a:t>
            </a:r>
            <a:r>
              <a:rPr lang="en-US" dirty="0"/>
              <a:t> </a:t>
            </a:r>
            <a:r>
              <a:rPr lang="en-US" dirty="0" err="1"/>
              <a:t>phần</a:t>
            </a:r>
            <a:r>
              <a:rPr lang="en-US" dirty="0"/>
              <a:t> </a:t>
            </a:r>
            <a:r>
              <a:rPr lang="en-US" dirty="0" err="1"/>
              <a:t>mềm</a:t>
            </a:r>
            <a:r>
              <a:rPr lang="en-US" dirty="0"/>
              <a:t> </a:t>
            </a:r>
            <a:r>
              <a:rPr lang="en-US" dirty="0" err="1"/>
              <a:t>mô</a:t>
            </a:r>
            <a:r>
              <a:rPr lang="en-US" dirty="0"/>
              <a:t> </a:t>
            </a:r>
            <a:r>
              <a:rPr lang="en-US" dirty="0" err="1"/>
              <a:t>phỏng</a:t>
            </a:r>
            <a:r>
              <a:rPr lang="en-US" dirty="0"/>
              <a:t> Proteus</a:t>
            </a:r>
          </a:p>
        </p:txBody>
      </p:sp>
      <p:sp>
        <p:nvSpPr>
          <p:cNvPr id="3" name="Content Placeholder 2">
            <a:extLst>
              <a:ext uri="{FF2B5EF4-FFF2-40B4-BE49-F238E27FC236}">
                <a16:creationId xmlns:a16="http://schemas.microsoft.com/office/drawing/2014/main" id="{AF70A399-D1BF-5D73-4351-6ED5DB0C7276}"/>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Trong Proteus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không</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có</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sẵn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giả</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lập</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 ta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cần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download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thư</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viện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cho</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Proteus </a:t>
            </a:r>
            <a:r>
              <a:rPr kumimoji="0" lang="en-US" altLang="en-US" sz="2800" b="1" i="0" u="none" strike="noStrike" cap="none" normalizeH="0" baseline="0" dirty="0" err="1">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hlinkClick r:id="rId2"/>
              </a:rPr>
              <a:t>tại</a:t>
            </a:r>
            <a:r>
              <a:rPr kumimoji="0" lang="en-US" altLang="en-US" sz="2800" b="1" i="0" u="none" strike="noStrike" cap="none" normalizeH="0" baseline="0" dirty="0">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hlinkClick r:id="rId2"/>
              </a:rPr>
              <a:t> </a:t>
            </a:r>
            <a:r>
              <a:rPr kumimoji="0" lang="en-US" altLang="en-US" sz="2800" b="1" i="0" u="none" strike="noStrike" cap="none" normalizeH="0" baseline="0" dirty="0" err="1">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hlinkClick r:id="rId2"/>
              </a:rPr>
              <a:t>đây</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Giải</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nén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copy 2 file </a:t>
            </a:r>
            <a:r>
              <a:rPr kumimoji="0" lang="en-US" altLang="en-US" sz="2800" b="0" i="1"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.IDX</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1"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LIB</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bỏ</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vào</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đường</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dẫn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thư</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viện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của</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Proteus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là</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en-US" b="1" dirty="0">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C:\Program Files (x86)\</a:t>
            </a:r>
            <a:r>
              <a:rPr lang="en-US" altLang="en-US" b="1" dirty="0" err="1">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Labcenter</a:t>
            </a:r>
            <a:r>
              <a:rPr lang="en-US" altLang="en-US" b="1" dirty="0">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 Electronics\Proteus 8 Professional\LIBRARY</a:t>
            </a:r>
            <a:r>
              <a:rPr lang="en-US" altLang="en-US" dirty="0">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a:t>
            </a:r>
            <a:endParaRPr lang="en-US" altLang="en-US" sz="1400" dirty="0">
              <a:latin typeface="Calibri" panose="020F0502020204030204" pitchFamily="34" charset="0"/>
              <a:ea typeface="Calibri" panose="020F0502020204030204" pitchFamily="34" charset="0"/>
              <a:cs typeface="Calibri" panose="020F0502020204030204" pitchFamily="34" charset="0"/>
              <a:hlinkClick r:id="rId3"/>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0A2587"/>
                </a:solidFill>
                <a:latin typeface="Calibri" panose="020F0502020204030204" pitchFamily="34" charset="0"/>
                <a:ea typeface="Calibri" panose="020F0502020204030204" pitchFamily="34" charset="0"/>
                <a:cs typeface="Calibri" panose="020F0502020204030204" pitchFamily="34" charset="0"/>
                <a:hlinkClick r:id="rId3"/>
              </a:rPr>
              <a:t>  </a:t>
            </a:r>
            <a:endParaRPr lang="en-US" altLang="en-US" sz="1800" dirty="0">
              <a:solidFill>
                <a:srgbClr val="0A2587"/>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rgbClr val="E12866"/>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Bắt</a:t>
            </a:r>
            <a:r>
              <a:rPr kumimoji="0" lang="en-US" altLang="en-US" sz="2800" b="1" i="0" u="none" strike="noStrike" cap="none" normalizeH="0" baseline="0" dirty="0">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1" i="0" u="none" strike="noStrike" cap="none" normalizeH="0" baseline="0" dirty="0" err="1">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đầu</a:t>
            </a:r>
            <a:r>
              <a:rPr kumimoji="0" lang="en-US" altLang="en-US" sz="2800" b="1" i="0" u="none" strike="noStrike" cap="none" normalizeH="0" baseline="0" dirty="0">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1" i="0" u="none" strike="noStrike" cap="none" normalizeH="0" baseline="0" dirty="0" err="1">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thiết</a:t>
            </a:r>
            <a:r>
              <a:rPr kumimoji="0" lang="en-US" altLang="en-US" sz="2800" b="1" i="0" u="none" strike="noStrike" cap="none" normalizeH="0" baseline="0" dirty="0">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1" i="0" u="none" strike="noStrike" cap="none" normalizeH="0" baseline="0" dirty="0" err="1">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kế</a:t>
            </a:r>
            <a:r>
              <a:rPr kumimoji="0" lang="en-US" altLang="en-US" sz="2800" b="1" i="0" u="none" strike="noStrike" cap="none" normalizeH="0" baseline="0" dirty="0">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1" i="0" u="none" strike="noStrike" cap="none" normalizeH="0" baseline="0" dirty="0" err="1">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rPr>
              <a:t>mạch</a:t>
            </a:r>
            <a:endParaRPr kumimoji="0" lang="en-US" altLang="en-US" sz="2800" b="1" i="0" u="none" strike="noStrike" cap="none" normalizeH="0" baseline="0" dirty="0">
              <a:ln>
                <a:noFill/>
              </a:ln>
              <a:solidFill>
                <a:schemeClr val="accent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Nhấn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phím</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để</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thêm</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các</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linh</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kiện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vào</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Project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của</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Proteus.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Tìm</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Arduino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thì</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gõ</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arduino</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đèn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led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thì</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gõ</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led,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điện</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trở</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thì</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800" b="0" i="0" u="none" strike="noStrike" cap="none" normalizeH="0" baseline="0" dirty="0" err="1">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gõ</a:t>
            </a:r>
            <a:r>
              <a:rPr kumimoji="0" lang="en-US" altLang="en-US" sz="28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A2587"/>
                </a:solidFill>
                <a:effectLst/>
                <a:latin typeface="Calibri" panose="020F0502020204030204" pitchFamily="34" charset="0"/>
                <a:ea typeface="Calibri" panose="020F0502020204030204" pitchFamily="34" charset="0"/>
                <a:cs typeface="Calibri" panose="020F0502020204030204" pitchFamily="34" charset="0"/>
              </a:rPr>
              <a:t>  </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910BFFD-1CFA-FE96-29A7-F99F68913784}"/>
              </a:ext>
            </a:extLst>
          </p:cNvPr>
          <p:cNvSpPr>
            <a:spLocks noGrp="1"/>
          </p:cNvSpPr>
          <p:nvPr>
            <p:ph type="sldNum" sz="quarter" idx="12"/>
          </p:nvPr>
        </p:nvSpPr>
        <p:spPr/>
        <p:txBody>
          <a:bodyPr/>
          <a:lstStyle/>
          <a:p>
            <a:fld id="{834A3715-FC91-284B-8702-1BAEDE956EBF}" type="slidenum">
              <a:rPr lang="en-US" smtClean="0"/>
              <a:pPr/>
              <a:t>23</a:t>
            </a:fld>
            <a:endParaRPr lang="en-US"/>
          </a:p>
        </p:txBody>
      </p:sp>
    </p:spTree>
    <p:extLst>
      <p:ext uri="{BB962C8B-B14F-4D97-AF65-F5344CB8AC3E}">
        <p14:creationId xmlns:p14="http://schemas.microsoft.com/office/powerpoint/2010/main" val="2090836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8217D-A8A4-3921-FA1F-41AD69E506E5}"/>
              </a:ext>
            </a:extLst>
          </p:cNvPr>
          <p:cNvSpPr>
            <a:spLocks noGrp="1"/>
          </p:cNvSpPr>
          <p:nvPr>
            <p:ph type="title"/>
          </p:nvPr>
        </p:nvSpPr>
        <p:spPr/>
        <p:txBody>
          <a:bodyPr/>
          <a:lstStyle/>
          <a:p>
            <a:r>
              <a:rPr lang="en-US" dirty="0"/>
              <a:t>1.4 </a:t>
            </a:r>
            <a:r>
              <a:rPr lang="en-US" dirty="0" err="1"/>
              <a:t>Hướng</a:t>
            </a:r>
            <a:r>
              <a:rPr lang="en-US" dirty="0"/>
              <a:t> </a:t>
            </a:r>
            <a:r>
              <a:rPr lang="en-US" dirty="0" err="1"/>
              <a:t>dẫn</a:t>
            </a:r>
            <a:r>
              <a:rPr lang="en-US" dirty="0"/>
              <a:t> </a:t>
            </a:r>
            <a:r>
              <a:rPr lang="en-US" dirty="0" err="1"/>
              <a:t>sử</a:t>
            </a:r>
            <a:r>
              <a:rPr lang="en-US" dirty="0"/>
              <a:t> </a:t>
            </a:r>
            <a:r>
              <a:rPr lang="en-US" dirty="0" err="1"/>
              <a:t>dụng</a:t>
            </a:r>
            <a:r>
              <a:rPr lang="en-US" dirty="0"/>
              <a:t> </a:t>
            </a:r>
            <a:r>
              <a:rPr lang="en-US" dirty="0" err="1"/>
              <a:t>phần</a:t>
            </a:r>
            <a:r>
              <a:rPr lang="en-US" dirty="0"/>
              <a:t> </a:t>
            </a:r>
            <a:r>
              <a:rPr lang="en-US" dirty="0" err="1"/>
              <a:t>mềm</a:t>
            </a:r>
            <a:r>
              <a:rPr lang="en-US" dirty="0"/>
              <a:t> </a:t>
            </a:r>
            <a:r>
              <a:rPr lang="en-US" dirty="0" err="1"/>
              <a:t>mô</a:t>
            </a:r>
            <a:r>
              <a:rPr lang="en-US" dirty="0"/>
              <a:t> </a:t>
            </a:r>
            <a:r>
              <a:rPr lang="en-US" dirty="0" err="1"/>
              <a:t>phỏng</a:t>
            </a:r>
            <a:r>
              <a:rPr lang="en-US" dirty="0"/>
              <a:t> Proteus</a:t>
            </a:r>
          </a:p>
        </p:txBody>
      </p:sp>
      <p:sp>
        <p:nvSpPr>
          <p:cNvPr id="4" name="Slide Number Placeholder 3">
            <a:extLst>
              <a:ext uri="{FF2B5EF4-FFF2-40B4-BE49-F238E27FC236}">
                <a16:creationId xmlns:a16="http://schemas.microsoft.com/office/drawing/2014/main" id="{F6342C53-DF46-1067-EFC8-54A4F1E91454}"/>
              </a:ext>
            </a:extLst>
          </p:cNvPr>
          <p:cNvSpPr>
            <a:spLocks noGrp="1"/>
          </p:cNvSpPr>
          <p:nvPr>
            <p:ph type="sldNum" sz="quarter" idx="12"/>
          </p:nvPr>
        </p:nvSpPr>
        <p:spPr/>
        <p:txBody>
          <a:bodyPr/>
          <a:lstStyle/>
          <a:p>
            <a:fld id="{834A3715-FC91-284B-8702-1BAEDE956EBF}" type="slidenum">
              <a:rPr lang="en-US" smtClean="0"/>
              <a:pPr/>
              <a:t>24</a:t>
            </a:fld>
            <a:endParaRPr lang="en-US"/>
          </a:p>
        </p:txBody>
      </p:sp>
      <p:pic>
        <p:nvPicPr>
          <p:cNvPr id="5" name="Content Placeholder 4">
            <a:extLst>
              <a:ext uri="{FF2B5EF4-FFF2-40B4-BE49-F238E27FC236}">
                <a16:creationId xmlns:a16="http://schemas.microsoft.com/office/drawing/2014/main" id="{622EA697-91B7-419A-5EE3-4E39CBA56E1B}"/>
              </a:ext>
            </a:extLst>
          </p:cNvPr>
          <p:cNvPicPr>
            <a:picLocks noGrp="1" noChangeAspect="1"/>
          </p:cNvPicPr>
          <p:nvPr>
            <p:ph idx="1"/>
          </p:nvPr>
        </p:nvPicPr>
        <p:blipFill>
          <a:blip r:embed="rId2"/>
          <a:stretch>
            <a:fillRect/>
          </a:stretch>
        </p:blipFill>
        <p:spPr>
          <a:xfrm>
            <a:off x="1293395" y="859297"/>
            <a:ext cx="8267700" cy="5345496"/>
          </a:xfrm>
          <a:prstGeom prst="rect">
            <a:avLst/>
          </a:prstGeom>
        </p:spPr>
      </p:pic>
    </p:spTree>
    <p:extLst>
      <p:ext uri="{BB962C8B-B14F-4D97-AF65-F5344CB8AC3E}">
        <p14:creationId xmlns:p14="http://schemas.microsoft.com/office/powerpoint/2010/main" val="1847785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0C25-03A8-ABAE-92B0-DE728B925D2B}"/>
              </a:ext>
            </a:extLst>
          </p:cNvPr>
          <p:cNvSpPr>
            <a:spLocks noGrp="1"/>
          </p:cNvSpPr>
          <p:nvPr>
            <p:ph type="title"/>
          </p:nvPr>
        </p:nvSpPr>
        <p:spPr/>
        <p:txBody>
          <a:bodyPr/>
          <a:lstStyle/>
          <a:p>
            <a:r>
              <a:rPr lang="en-US" dirty="0"/>
              <a:t>1.4 </a:t>
            </a:r>
            <a:r>
              <a:rPr lang="en-US" dirty="0" err="1"/>
              <a:t>Hướng</a:t>
            </a:r>
            <a:r>
              <a:rPr lang="en-US" dirty="0"/>
              <a:t> </a:t>
            </a:r>
            <a:r>
              <a:rPr lang="en-US" dirty="0" err="1"/>
              <a:t>dẫn</a:t>
            </a:r>
            <a:r>
              <a:rPr lang="en-US" dirty="0"/>
              <a:t> </a:t>
            </a:r>
            <a:r>
              <a:rPr lang="en-US" dirty="0" err="1"/>
              <a:t>sử</a:t>
            </a:r>
            <a:r>
              <a:rPr lang="en-US" dirty="0"/>
              <a:t> </a:t>
            </a:r>
            <a:r>
              <a:rPr lang="en-US" dirty="0" err="1"/>
              <a:t>dụng</a:t>
            </a:r>
            <a:r>
              <a:rPr lang="en-US" dirty="0"/>
              <a:t> </a:t>
            </a:r>
            <a:r>
              <a:rPr lang="en-US" dirty="0" err="1"/>
              <a:t>phần</a:t>
            </a:r>
            <a:r>
              <a:rPr lang="en-US" dirty="0"/>
              <a:t> </a:t>
            </a:r>
            <a:r>
              <a:rPr lang="en-US" dirty="0" err="1"/>
              <a:t>mềm</a:t>
            </a:r>
            <a:r>
              <a:rPr lang="en-US" dirty="0"/>
              <a:t> </a:t>
            </a:r>
            <a:r>
              <a:rPr lang="en-US" dirty="0" err="1"/>
              <a:t>mô</a:t>
            </a:r>
            <a:r>
              <a:rPr lang="en-US" dirty="0"/>
              <a:t> </a:t>
            </a:r>
            <a:r>
              <a:rPr lang="en-US" dirty="0" err="1"/>
              <a:t>phỏng</a:t>
            </a:r>
            <a:r>
              <a:rPr lang="en-US" dirty="0"/>
              <a:t> Proteus</a:t>
            </a:r>
          </a:p>
        </p:txBody>
      </p:sp>
      <p:sp>
        <p:nvSpPr>
          <p:cNvPr id="3" name="Content Placeholder 2">
            <a:extLst>
              <a:ext uri="{FF2B5EF4-FFF2-40B4-BE49-F238E27FC236}">
                <a16:creationId xmlns:a16="http://schemas.microsoft.com/office/drawing/2014/main" id="{D50AA864-3C81-30BC-5D7E-60858028E3F8}"/>
              </a:ext>
            </a:extLst>
          </p:cNvPr>
          <p:cNvSpPr>
            <a:spLocks noGrp="1"/>
          </p:cNvSpPr>
          <p:nvPr>
            <p:ph idx="1"/>
          </p:nvPr>
        </p:nvSpPr>
        <p:spPr/>
        <p:txBody>
          <a:bodyPr/>
          <a:lstStyle/>
          <a:p>
            <a:r>
              <a:rPr lang="en-US" sz="2800" b="1" dirty="0" err="1"/>
              <a:t>Nhúng</a:t>
            </a:r>
            <a:r>
              <a:rPr lang="en-US" sz="2800" b="1" dirty="0"/>
              <a:t> code </a:t>
            </a:r>
            <a:r>
              <a:rPr lang="en-US" sz="2800" b="1" dirty="0" err="1"/>
              <a:t>và</a:t>
            </a:r>
            <a:r>
              <a:rPr lang="en-US" sz="2800" b="1" dirty="0"/>
              <a:t> </a:t>
            </a:r>
            <a:r>
              <a:rPr lang="en-US" sz="2800" b="1" dirty="0" err="1"/>
              <a:t>chạy</a:t>
            </a:r>
            <a:r>
              <a:rPr lang="en-US" sz="2800" b="1" dirty="0"/>
              <a:t> </a:t>
            </a:r>
            <a:r>
              <a:rPr lang="en-US" sz="2800" b="1" dirty="0" err="1"/>
              <a:t>điều</a:t>
            </a:r>
            <a:r>
              <a:rPr lang="en-US" sz="2800" b="1" dirty="0"/>
              <a:t> </a:t>
            </a:r>
            <a:r>
              <a:rPr lang="en-US" sz="2800" b="1" dirty="0" err="1"/>
              <a:t>khiển</a:t>
            </a:r>
            <a:r>
              <a:rPr lang="en-US" sz="2800" b="1" dirty="0"/>
              <a:t> Arduino </a:t>
            </a:r>
            <a:r>
              <a:rPr lang="en-US" sz="2800" b="1" dirty="0" err="1"/>
              <a:t>với</a:t>
            </a:r>
            <a:r>
              <a:rPr lang="en-US" sz="2800" b="1" dirty="0"/>
              <a:t> Proteus</a:t>
            </a:r>
          </a:p>
          <a:p>
            <a:pPr marL="0" indent="0">
              <a:buNone/>
            </a:pPr>
            <a:endParaRPr lang="en-US" sz="2800" b="1" dirty="0"/>
          </a:p>
          <a:p>
            <a:pPr marL="0" indent="0">
              <a:buNone/>
            </a:pPr>
            <a:r>
              <a:rPr lang="en-US" sz="2800" b="1" dirty="0"/>
              <a:t>VIDEO HƯỚNG DẪN: </a:t>
            </a:r>
          </a:p>
          <a:p>
            <a:pPr marL="0" indent="0">
              <a:buNone/>
            </a:pPr>
            <a:r>
              <a:rPr lang="en-US" sz="2800" b="1" dirty="0">
                <a:hlinkClick r:id="rId2"/>
              </a:rPr>
              <a:t>https://www.youtube.com/watch?v=Pe7Gfkmh3MA</a:t>
            </a:r>
            <a:endParaRPr lang="en-US" sz="2800" b="1" dirty="0"/>
          </a:p>
          <a:p>
            <a:pPr marL="0" indent="0">
              <a:buNone/>
            </a:pPr>
            <a:endParaRPr lang="en-US" sz="2800" b="1" dirty="0"/>
          </a:p>
          <a:p>
            <a:pPr marL="0" indent="0">
              <a:buNone/>
            </a:pPr>
            <a:r>
              <a:rPr lang="en-US" sz="2800" b="1" dirty="0"/>
              <a:t>setup</a:t>
            </a:r>
          </a:p>
          <a:p>
            <a:pPr marL="0" indent="0">
              <a:buNone/>
            </a:pPr>
            <a:r>
              <a:rPr lang="en-US" sz="2800" b="1" dirty="0">
                <a:hlinkClick r:id="rId3"/>
              </a:rPr>
              <a:t>https://drive.google.com/drive/folders/0B7wC5tF4pJiqY2NrcmVhZXEwclk?resourcekey=0-Cgw49IW2_hDVqiE-hn9-jA</a:t>
            </a:r>
            <a:endParaRPr lang="en-US" sz="2800" b="1" dirty="0"/>
          </a:p>
          <a:p>
            <a:pPr marL="0" indent="0">
              <a:buNone/>
            </a:pPr>
            <a:endParaRPr lang="en-US" sz="2800" b="1" dirty="0"/>
          </a:p>
          <a:p>
            <a:pPr marL="0" indent="0">
              <a:buNone/>
            </a:pPr>
            <a:endParaRPr lang="en-US" sz="2800" b="1" dirty="0"/>
          </a:p>
          <a:p>
            <a:endParaRPr lang="en-US" dirty="0"/>
          </a:p>
        </p:txBody>
      </p:sp>
      <p:sp>
        <p:nvSpPr>
          <p:cNvPr id="4" name="Slide Number Placeholder 3">
            <a:extLst>
              <a:ext uri="{FF2B5EF4-FFF2-40B4-BE49-F238E27FC236}">
                <a16:creationId xmlns:a16="http://schemas.microsoft.com/office/drawing/2014/main" id="{97FCFFA2-991C-84C4-D7B8-716D4DFFC7E2}"/>
              </a:ext>
            </a:extLst>
          </p:cNvPr>
          <p:cNvSpPr>
            <a:spLocks noGrp="1"/>
          </p:cNvSpPr>
          <p:nvPr>
            <p:ph type="sldNum" sz="quarter" idx="12"/>
          </p:nvPr>
        </p:nvSpPr>
        <p:spPr/>
        <p:txBody>
          <a:bodyPr/>
          <a:lstStyle/>
          <a:p>
            <a:fld id="{834A3715-FC91-284B-8702-1BAEDE956EBF}" type="slidenum">
              <a:rPr lang="en-US" smtClean="0"/>
              <a:pPr/>
              <a:t>25</a:t>
            </a:fld>
            <a:endParaRPr lang="en-US"/>
          </a:p>
        </p:txBody>
      </p:sp>
    </p:spTree>
    <p:extLst>
      <p:ext uri="{BB962C8B-B14F-4D97-AF65-F5344CB8AC3E}">
        <p14:creationId xmlns:p14="http://schemas.microsoft.com/office/powerpoint/2010/main" val="592151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9F1C6C-C4A7-30F6-D2E2-187879F9CC2F}"/>
              </a:ext>
            </a:extLst>
          </p:cNvPr>
          <p:cNvSpPr>
            <a:spLocks noGrp="1"/>
          </p:cNvSpPr>
          <p:nvPr>
            <p:ph type="ctrTitle"/>
          </p:nvPr>
        </p:nvSpPr>
        <p:spPr>
          <a:xfrm>
            <a:off x="492370" y="2374233"/>
            <a:ext cx="10769187" cy="1696606"/>
          </a:xfrm>
        </p:spPr>
        <p:txBody>
          <a:bodyPr/>
          <a:lstStyle/>
          <a:p>
            <a:pPr algn="l"/>
            <a:r>
              <a:rPr lang="en-US" sz="6000" dirty="0"/>
              <a:t>1.5 </a:t>
            </a:r>
            <a:r>
              <a:rPr lang="en-US" sz="6000" dirty="0" err="1"/>
              <a:t>Lập</a:t>
            </a:r>
            <a:r>
              <a:rPr lang="en-US" sz="6000" dirty="0"/>
              <a:t> </a:t>
            </a:r>
            <a:r>
              <a:rPr lang="en-US" sz="6000" dirty="0" err="1"/>
              <a:t>trình</a:t>
            </a:r>
            <a:r>
              <a:rPr lang="en-US" sz="6000" dirty="0"/>
              <a:t> </a:t>
            </a:r>
            <a:r>
              <a:rPr lang="en-US" sz="6000" dirty="0" err="1"/>
              <a:t>và</a:t>
            </a:r>
            <a:r>
              <a:rPr lang="en-US" sz="6000" dirty="0"/>
              <a:t> </a:t>
            </a:r>
            <a:r>
              <a:rPr lang="en-US" sz="6000" dirty="0" err="1"/>
              <a:t>chạy</a:t>
            </a:r>
            <a:r>
              <a:rPr lang="en-US" sz="6000" dirty="0"/>
              <a:t> </a:t>
            </a:r>
            <a:r>
              <a:rPr lang="en-US" sz="6000" dirty="0" err="1"/>
              <a:t>chương</a:t>
            </a:r>
            <a:r>
              <a:rPr lang="en-US" sz="6000" dirty="0"/>
              <a:t> </a:t>
            </a:r>
            <a:r>
              <a:rPr lang="en-US" sz="6000" dirty="0" err="1"/>
              <a:t>trình</a:t>
            </a:r>
            <a:r>
              <a:rPr lang="en-US" sz="6000" dirty="0"/>
              <a:t> </a:t>
            </a:r>
            <a:r>
              <a:rPr lang="en-US" sz="6000" dirty="0" err="1"/>
              <a:t>với</a:t>
            </a:r>
            <a:r>
              <a:rPr lang="en-US" sz="6000" dirty="0"/>
              <a:t> Arduino</a:t>
            </a:r>
          </a:p>
        </p:txBody>
      </p:sp>
      <p:sp>
        <p:nvSpPr>
          <p:cNvPr id="4" name="Slide Number Placeholder 3" hidden="1">
            <a:extLst>
              <a:ext uri="{FF2B5EF4-FFF2-40B4-BE49-F238E27FC236}">
                <a16:creationId xmlns:a16="http://schemas.microsoft.com/office/drawing/2014/main" id="{1BF316D0-CD1B-D6CA-DCD9-D181DFB55220}"/>
              </a:ext>
            </a:extLst>
          </p:cNvPr>
          <p:cNvSpPr>
            <a:spLocks noGrp="1"/>
          </p:cNvSpPr>
          <p:nvPr>
            <p:ph type="sldNum" sz="quarter" idx="4294967295"/>
          </p:nvPr>
        </p:nvSpPr>
        <p:spPr>
          <a:xfrm>
            <a:off x="10879016" y="6550272"/>
            <a:ext cx="937845" cy="298937"/>
          </a:xfrm>
        </p:spPr>
        <p:txBody>
          <a:bodyPr/>
          <a:lstStyle/>
          <a:p>
            <a:pPr>
              <a:spcAft>
                <a:spcPts val="600"/>
              </a:spcAft>
            </a:pPr>
            <a:fld id="{834A3715-FC91-284B-8702-1BAEDE956EBF}" type="slidenum">
              <a:rPr lang="en-US" smtClean="0"/>
              <a:pPr>
                <a:spcAft>
                  <a:spcPts val="600"/>
                </a:spcAft>
              </a:pPr>
              <a:t>26</a:t>
            </a:fld>
            <a:endParaRPr lang="en-US"/>
          </a:p>
        </p:txBody>
      </p:sp>
    </p:spTree>
    <p:extLst>
      <p:ext uri="{BB962C8B-B14F-4D97-AF65-F5344CB8AC3E}">
        <p14:creationId xmlns:p14="http://schemas.microsoft.com/office/powerpoint/2010/main" val="2155093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3659-7031-AEAE-0FFA-DB2E48A4C099}"/>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3" name="Content Placeholder 2">
            <a:extLst>
              <a:ext uri="{FF2B5EF4-FFF2-40B4-BE49-F238E27FC236}">
                <a16:creationId xmlns:a16="http://schemas.microsoft.com/office/drawing/2014/main" id="{9121CAD1-3F86-8471-B191-10C80D23D2A9}"/>
              </a:ext>
            </a:extLst>
          </p:cNvPr>
          <p:cNvSpPr>
            <a:spLocks noGrp="1"/>
          </p:cNvSpPr>
          <p:nvPr>
            <p:ph idx="1"/>
          </p:nvPr>
        </p:nvSpPr>
        <p:spPr>
          <a:xfrm>
            <a:off x="386861" y="861647"/>
            <a:ext cx="11430000" cy="5460023"/>
          </a:xfrm>
        </p:spPr>
        <p:txBody>
          <a:bodyPr>
            <a:normAutofit lnSpcReduction="10000"/>
          </a:bodyPr>
          <a:lstStyle/>
          <a:p>
            <a:pPr marL="0" indent="0" algn="just">
              <a:buNone/>
            </a:pPr>
            <a:r>
              <a:rPr lang="en-US" b="1" dirty="0" err="1"/>
              <a:t>Cấu</a:t>
            </a:r>
            <a:r>
              <a:rPr lang="en-US" b="1" dirty="0"/>
              <a:t> </a:t>
            </a:r>
            <a:r>
              <a:rPr lang="en-US" b="1" dirty="0" err="1"/>
              <a:t>trúc</a:t>
            </a:r>
            <a:r>
              <a:rPr lang="en-US" b="1" dirty="0"/>
              <a:t> </a:t>
            </a:r>
            <a:r>
              <a:rPr lang="en-US" b="1" dirty="0" err="1"/>
              <a:t>cơ</a:t>
            </a:r>
            <a:r>
              <a:rPr lang="en-US" b="1" dirty="0"/>
              <a:t> </a:t>
            </a:r>
            <a:r>
              <a:rPr lang="en-US" b="1" dirty="0" err="1"/>
              <a:t>bản</a:t>
            </a:r>
            <a:r>
              <a:rPr lang="en-US" b="1" dirty="0"/>
              <a:t> </a:t>
            </a:r>
            <a:r>
              <a:rPr lang="en-US" b="1" dirty="0" err="1"/>
              <a:t>của</a:t>
            </a:r>
            <a:r>
              <a:rPr lang="en-US" b="1" dirty="0"/>
              <a:t> </a:t>
            </a:r>
            <a:r>
              <a:rPr lang="en-US" b="1" dirty="0" err="1"/>
              <a:t>chương</a:t>
            </a:r>
            <a:r>
              <a:rPr lang="en-US" b="1" dirty="0"/>
              <a:t> </a:t>
            </a:r>
            <a:r>
              <a:rPr lang="en-US" b="1" dirty="0" err="1"/>
              <a:t>trình</a:t>
            </a:r>
            <a:r>
              <a:rPr lang="en-US" b="1" dirty="0"/>
              <a:t> Arduino:</a:t>
            </a:r>
            <a:endParaRPr lang="en-US" b="1" i="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i="1" dirty="0">
                <a:latin typeface="Calibri" panose="020F0502020204030204" pitchFamily="34" charset="0"/>
                <a:ea typeface="Calibri" panose="020F0502020204030204" pitchFamily="34" charset="0"/>
                <a:cs typeface="Calibri" panose="020F0502020204030204" pitchFamily="34" charset="0"/>
              </a:rPr>
              <a:t>① Khai báo các thư viện (nếu có)</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② Khai báo biến và hằng cho chương trình (nếu có)</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③ Khởi tạo những giá trị và định nghĩa chức năng chân</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b="1" i="1" dirty="0">
                <a:latin typeface="Calibri" panose="020F0502020204030204" pitchFamily="34" charset="0"/>
                <a:ea typeface="Calibri" panose="020F0502020204030204" pitchFamily="34" charset="0"/>
                <a:cs typeface="Calibri" panose="020F0502020204030204" pitchFamily="34" charset="0"/>
              </a:rPr>
              <a:t>void setup( ) {</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en-US" sz="2200"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 Khởi tạo giá trị cho chương trình</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i="1" dirty="0">
                <a:latin typeface="Calibri" panose="020F0502020204030204" pitchFamily="34" charset="0"/>
                <a:ea typeface="Calibri" panose="020F0502020204030204" pitchFamily="34" charset="0"/>
                <a:cs typeface="Calibri" panose="020F0502020204030204" pitchFamily="34" charset="0"/>
              </a:rPr>
              <a:t>     </a:t>
            </a:r>
            <a:r>
              <a:rPr lang="en-US" sz="2200" i="1"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 Định nghĩa chức năng của các port</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en-US" sz="2200" dirty="0">
                <a:latin typeface="Calibri" panose="020F0502020204030204" pitchFamily="34" charset="0"/>
                <a:ea typeface="Calibri" panose="020F0502020204030204" pitchFamily="34" charset="0"/>
                <a:cs typeface="Calibri" panose="020F0502020204030204" pitchFamily="34" charset="0"/>
              </a:rPr>
              <a:t> </a:t>
            </a:r>
            <a:r>
              <a:rPr lang="vi-VN" sz="2200" b="1" i="1" dirty="0">
                <a:latin typeface="Calibri" panose="020F0502020204030204" pitchFamily="34" charset="0"/>
                <a:ea typeface="Calibri" panose="020F0502020204030204" pitchFamily="34" charset="0"/>
                <a:cs typeface="Calibri" panose="020F0502020204030204" pitchFamily="34" charset="0"/>
              </a:rPr>
              <a:t>}</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④  Chương trình chính</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b="1" i="1" dirty="0">
                <a:latin typeface="Calibri" panose="020F0502020204030204" pitchFamily="34" charset="0"/>
                <a:ea typeface="Calibri" panose="020F0502020204030204" pitchFamily="34" charset="0"/>
                <a:cs typeface="Calibri" panose="020F0502020204030204" pitchFamily="34" charset="0"/>
              </a:rPr>
              <a:t>void loop( ) {</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i="1" dirty="0">
                <a:latin typeface="Calibri" panose="020F0502020204030204" pitchFamily="34" charset="0"/>
                <a:ea typeface="Calibri" panose="020F0502020204030204" pitchFamily="34" charset="0"/>
                <a:cs typeface="Calibri" panose="020F0502020204030204" pitchFamily="34" charset="0"/>
              </a:rPr>
              <a:t>     </a:t>
            </a:r>
            <a:r>
              <a:rPr lang="en-US" sz="2200" i="1"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 // Nội dung chương trình (nội dung code)</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200" b="1" i="1" dirty="0">
                <a:latin typeface="Calibri" panose="020F0502020204030204" pitchFamily="34" charset="0"/>
                <a:ea typeface="Calibri" panose="020F0502020204030204" pitchFamily="34" charset="0"/>
                <a:cs typeface="Calibri" panose="020F0502020204030204" pitchFamily="34" charset="0"/>
              </a:rPr>
              <a:t>     </a:t>
            </a:r>
            <a:r>
              <a:rPr lang="vi-VN" sz="2200" b="1" i="1" dirty="0">
                <a:latin typeface="Calibri" panose="020F0502020204030204" pitchFamily="34" charset="0"/>
                <a:ea typeface="Calibri" panose="020F0502020204030204" pitchFamily="34" charset="0"/>
                <a:cs typeface="Calibri" panose="020F0502020204030204" pitchFamily="34" charset="0"/>
              </a:rPr>
              <a:t>}</a:t>
            </a:r>
            <a:r>
              <a:rPr lang="vi-VN" sz="2200" b="1" dirty="0">
                <a:latin typeface="Calibri" panose="020F0502020204030204" pitchFamily="34" charset="0"/>
                <a:ea typeface="Calibri" panose="020F0502020204030204" pitchFamily="34" charset="0"/>
                <a:cs typeface="Calibri" panose="020F0502020204030204" pitchFamily="34" charset="0"/>
              </a:rPr>
              <a:t>      </a:t>
            </a:r>
            <a:endParaRPr lang="vi-VN" sz="22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vi-VN" sz="2200" dirty="0">
                <a:latin typeface="Calibri" panose="020F0502020204030204" pitchFamily="34" charset="0"/>
                <a:ea typeface="Calibri" panose="020F0502020204030204" pitchFamily="34" charset="0"/>
                <a:cs typeface="Calibri" panose="020F0502020204030204" pitchFamily="34" charset="0"/>
              </a:rPr>
              <a:t>   </a:t>
            </a:r>
            <a:r>
              <a:rPr lang="vi-VN" sz="2200" i="1" dirty="0">
                <a:latin typeface="Calibri" panose="020F0502020204030204" pitchFamily="34" charset="0"/>
                <a:ea typeface="Calibri" panose="020F0502020204030204" pitchFamily="34" charset="0"/>
                <a:cs typeface="Calibri" panose="020F0502020204030204" pitchFamily="34" charset="0"/>
              </a:rPr>
              <a:t> ⑤ Khai báo và viết hàm chương trình con cho chương trình  (nếu có)</a:t>
            </a:r>
            <a:endParaRPr lang="vi-VN" sz="2200" b="0" i="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2154247-4C0C-A363-C706-49A984D28A5F}"/>
              </a:ext>
            </a:extLst>
          </p:cNvPr>
          <p:cNvSpPr>
            <a:spLocks noGrp="1"/>
          </p:cNvSpPr>
          <p:nvPr>
            <p:ph type="sldNum" sz="quarter" idx="12"/>
          </p:nvPr>
        </p:nvSpPr>
        <p:spPr/>
        <p:txBody>
          <a:bodyPr/>
          <a:lstStyle/>
          <a:p>
            <a:fld id="{834A3715-FC91-284B-8702-1BAEDE956EBF}" type="slidenum">
              <a:rPr lang="en-US" smtClean="0"/>
              <a:pPr/>
              <a:t>27</a:t>
            </a:fld>
            <a:endParaRPr lang="en-US"/>
          </a:p>
        </p:txBody>
      </p:sp>
    </p:spTree>
    <p:extLst>
      <p:ext uri="{BB962C8B-B14F-4D97-AF65-F5344CB8AC3E}">
        <p14:creationId xmlns:p14="http://schemas.microsoft.com/office/powerpoint/2010/main" val="1079638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DA1C4-4BA7-E8E7-7B86-AF40954DEF78}"/>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3" name="Content Placeholder 2">
            <a:extLst>
              <a:ext uri="{FF2B5EF4-FFF2-40B4-BE49-F238E27FC236}">
                <a16:creationId xmlns:a16="http://schemas.microsoft.com/office/drawing/2014/main" id="{492D6533-EEE0-C465-9989-4C16F1D44A49}"/>
              </a:ext>
            </a:extLst>
          </p:cNvPr>
          <p:cNvSpPr>
            <a:spLocks noGrp="1"/>
          </p:cNvSpPr>
          <p:nvPr>
            <p:ph idx="1"/>
          </p:nvPr>
        </p:nvSpPr>
        <p:spPr/>
        <p:txBody>
          <a:bodyPr>
            <a:normAutofit/>
          </a:bodyPr>
          <a:lstStyle/>
          <a:p>
            <a:pPr marL="0" indent="0">
              <a:buNone/>
            </a:pPr>
            <a:r>
              <a:rPr lang="en-US"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A. </a:t>
            </a:r>
            <a:r>
              <a:rPr lang="vi-VN"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Nhiệm vụ chương trình void setup()</a:t>
            </a:r>
          </a:p>
          <a:p>
            <a:r>
              <a:rPr lang="vi-VN" sz="2400" dirty="0">
                <a:latin typeface="Calibri" panose="020F0502020204030204" pitchFamily="34" charset="0"/>
                <a:ea typeface="Calibri" panose="020F0502020204030204" pitchFamily="34" charset="0"/>
                <a:cs typeface="Calibri" panose="020F0502020204030204" pitchFamily="34" charset="0"/>
              </a:rPr>
              <a:t>Các lệnh trong chương trình này được sử dụng để khai báo cho biến hoặc định nghĩa chức năng cho các chân cần điều khiển. Thường thì sử dụng các hàm pinMode hoặc các câu lệnh gán giá trị cho biến. </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vi-VN" sz="2400" dirty="0">
                <a:latin typeface="Calibri" panose="020F0502020204030204" pitchFamily="34" charset="0"/>
                <a:ea typeface="Calibri" panose="020F0502020204030204" pitchFamily="34" charset="0"/>
                <a:cs typeface="Calibri" panose="020F0502020204030204" pitchFamily="34" charset="0"/>
              </a:rPr>
              <a:t>Khi biên dịch thì các lệnh trong void setup() sẽ chỉ thực hiện 1 lần. Sau khi thực hiện xong các câu lệnh trong void setup() chương trình sẽ thực hiện các khối lệnh trong vòng lặp void loop().</a:t>
            </a:r>
          </a:p>
          <a:p>
            <a:pPr marL="0" indent="0">
              <a:buNone/>
            </a:pPr>
            <a:r>
              <a:rPr lang="en-US"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B</a:t>
            </a:r>
            <a:r>
              <a:rPr lang="vi-VN"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 Nhiệm vụ chương trình void loop()</a:t>
            </a:r>
          </a:p>
          <a:p>
            <a:r>
              <a:rPr lang="vi-VN" sz="2400" dirty="0">
                <a:latin typeface="Calibri" panose="020F0502020204030204" pitchFamily="34" charset="0"/>
                <a:ea typeface="Calibri" panose="020F0502020204030204" pitchFamily="34" charset="0"/>
                <a:cs typeface="Calibri" panose="020F0502020204030204" pitchFamily="34" charset="0"/>
              </a:rPr>
              <a:t>Các lệnh trong chương trình void loop() sẽ được thực hiện liên tục đến khi tắt nguồn điện. </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vi-VN" sz="2400" dirty="0">
                <a:latin typeface="Calibri" panose="020F0502020204030204" pitchFamily="34" charset="0"/>
                <a:ea typeface="Calibri" panose="020F0502020204030204" pitchFamily="34" charset="0"/>
                <a:cs typeface="Calibri" panose="020F0502020204030204" pitchFamily="34" charset="0"/>
              </a:rPr>
              <a:t>Các lệnh sẽ được thực hiện tuần tự và sẽ lặp lại liên tục. Do vậy, trong chương trình này chúng ta không sử dụng các lệnh khởi tạo hay thay đổi giá trị biến, những lệnh thay đổi có thể làm sai quy trình lặp lại của chương trình.</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509A47E-2BEF-9E3F-142D-C0960655C392}"/>
              </a:ext>
            </a:extLst>
          </p:cNvPr>
          <p:cNvSpPr>
            <a:spLocks noGrp="1"/>
          </p:cNvSpPr>
          <p:nvPr>
            <p:ph type="sldNum" sz="quarter" idx="12"/>
          </p:nvPr>
        </p:nvSpPr>
        <p:spPr/>
        <p:txBody>
          <a:bodyPr/>
          <a:lstStyle/>
          <a:p>
            <a:fld id="{834A3715-FC91-284B-8702-1BAEDE956EBF}" type="slidenum">
              <a:rPr lang="en-US" smtClean="0"/>
              <a:pPr/>
              <a:t>28</a:t>
            </a:fld>
            <a:endParaRPr lang="en-US"/>
          </a:p>
        </p:txBody>
      </p:sp>
    </p:spTree>
    <p:extLst>
      <p:ext uri="{BB962C8B-B14F-4D97-AF65-F5344CB8AC3E}">
        <p14:creationId xmlns:p14="http://schemas.microsoft.com/office/powerpoint/2010/main" val="3822844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793D-3F5D-E12F-65F8-07C6D84B9D79}"/>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3" name="Content Placeholder 2">
            <a:extLst>
              <a:ext uri="{FF2B5EF4-FFF2-40B4-BE49-F238E27FC236}">
                <a16:creationId xmlns:a16="http://schemas.microsoft.com/office/drawing/2014/main" id="{4A36852F-FE7C-F5F4-890B-A99CA2BB7F4D}"/>
              </a:ext>
            </a:extLst>
          </p:cNvPr>
          <p:cNvSpPr>
            <a:spLocks noGrp="1"/>
          </p:cNvSpPr>
          <p:nvPr>
            <p:ph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b="1" i="0" u="none" strike="noStrike" kern="1200" cap="none" spc="0" normalizeH="0" baseline="0" noProof="0" dirty="0">
                <a:ln>
                  <a:noFill/>
                </a:ln>
                <a:solidFill>
                  <a:srgbClr val="3366FF"/>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2. Ví dụ: chương trình sáng tắt 1 led đơn</a:t>
            </a:r>
            <a:endParaRPr kumimoji="0" lang="vi-VN" sz="2400" b="1" i="0" u="none" strike="noStrike" kern="1200" cap="none" spc="0" normalizeH="0" baseline="0" noProof="0" dirty="0">
              <a:ln>
                <a:noFill/>
              </a:ln>
              <a:solidFill>
                <a:srgbClr val="3C424F"/>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void setup( ) {</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pinMode(13, OUTPUT);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//Định nghĩa chân 13 là chân xuất dữ liệu</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void loop( ) {</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digitalWrite(13, HIGH);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//Bật sáng đèn led tại chân 13</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delay(1000);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Đợi led sáng 1 giây</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digitalWrite(13, LOW);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Tắt led</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delay(1000);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Đợi led tắt 1 giây</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kumimoji="0" lang="vi-VN" sz="240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endParaRPr kumimoji="0" lang="vi-VN" sz="24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DFD15316-0385-2CA1-C094-B20B8694839F}"/>
              </a:ext>
            </a:extLst>
          </p:cNvPr>
          <p:cNvSpPr>
            <a:spLocks noGrp="1"/>
          </p:cNvSpPr>
          <p:nvPr>
            <p:ph type="sldNum" sz="quarter" idx="12"/>
          </p:nvPr>
        </p:nvSpPr>
        <p:spPr/>
        <p:txBody>
          <a:bodyPr/>
          <a:lstStyle/>
          <a:p>
            <a:fld id="{834A3715-FC91-284B-8702-1BAEDE956EBF}" type="slidenum">
              <a:rPr lang="en-US" smtClean="0"/>
              <a:pPr/>
              <a:t>29</a:t>
            </a:fld>
            <a:endParaRPr lang="en-US"/>
          </a:p>
        </p:txBody>
      </p:sp>
    </p:spTree>
    <p:extLst>
      <p:ext uri="{BB962C8B-B14F-4D97-AF65-F5344CB8AC3E}">
        <p14:creationId xmlns:p14="http://schemas.microsoft.com/office/powerpoint/2010/main" val="3763626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793D-3F5D-E12F-65F8-07C6D84B9D79}"/>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4" name="Slide Number Placeholder 3">
            <a:extLst>
              <a:ext uri="{FF2B5EF4-FFF2-40B4-BE49-F238E27FC236}">
                <a16:creationId xmlns:a16="http://schemas.microsoft.com/office/drawing/2014/main" id="{DFD15316-0385-2CA1-C094-B20B8694839F}"/>
              </a:ext>
            </a:extLst>
          </p:cNvPr>
          <p:cNvSpPr>
            <a:spLocks noGrp="1"/>
          </p:cNvSpPr>
          <p:nvPr>
            <p:ph type="sldNum" sz="quarter" idx="12"/>
          </p:nvPr>
        </p:nvSpPr>
        <p:spPr/>
        <p:txBody>
          <a:bodyPr/>
          <a:lstStyle/>
          <a:p>
            <a:fld id="{834A3715-FC91-284B-8702-1BAEDE956EBF}" type="slidenum">
              <a:rPr lang="en-US" smtClean="0"/>
              <a:pPr/>
              <a:t>30</a:t>
            </a:fld>
            <a:endParaRPr lang="en-US"/>
          </a:p>
        </p:txBody>
      </p:sp>
      <p:sp>
        <p:nvSpPr>
          <p:cNvPr id="10" name="TextBox 9">
            <a:extLst>
              <a:ext uri="{FF2B5EF4-FFF2-40B4-BE49-F238E27FC236}">
                <a16:creationId xmlns:a16="http://schemas.microsoft.com/office/drawing/2014/main" id="{C0E7D099-2F8B-C136-49B6-44D792A0960D}"/>
              </a:ext>
            </a:extLst>
          </p:cNvPr>
          <p:cNvSpPr txBox="1"/>
          <p:nvPr/>
        </p:nvSpPr>
        <p:spPr>
          <a:xfrm>
            <a:off x="386861" y="671352"/>
            <a:ext cx="4970714" cy="461665"/>
          </a:xfrm>
          <a:prstGeom prst="rect">
            <a:avLst/>
          </a:prstGeom>
          <a:noFill/>
        </p:spPr>
        <p:txBody>
          <a:bodyPr wrap="square" rtlCol="0">
            <a:spAutoFit/>
          </a:bodyPr>
          <a:lstStyle/>
          <a:p>
            <a:r>
              <a:rPr lang="en-US" sz="2400" b="1" dirty="0" err="1"/>
              <a:t>Cú</a:t>
            </a:r>
            <a:r>
              <a:rPr lang="en-US" sz="2400" b="1" dirty="0"/>
              <a:t> </a:t>
            </a:r>
            <a:r>
              <a:rPr lang="en-US" sz="2400" b="1" dirty="0" err="1"/>
              <a:t>pháp</a:t>
            </a:r>
            <a:r>
              <a:rPr lang="en-US" sz="2400" b="1" dirty="0"/>
              <a:t> </a:t>
            </a:r>
            <a:r>
              <a:rPr lang="en-US" sz="2400" b="1" dirty="0" err="1"/>
              <a:t>câu</a:t>
            </a:r>
            <a:r>
              <a:rPr lang="en-US" sz="2400" b="1" dirty="0"/>
              <a:t> </a:t>
            </a:r>
            <a:r>
              <a:rPr lang="en-US" sz="2400" b="1" dirty="0" err="1"/>
              <a:t>lệnh</a:t>
            </a:r>
            <a:r>
              <a:rPr lang="en-US" sz="2400" b="1" dirty="0"/>
              <a:t> </a:t>
            </a:r>
            <a:r>
              <a:rPr lang="en-US" sz="2400" b="1" dirty="0" err="1"/>
              <a:t>trong</a:t>
            </a:r>
            <a:r>
              <a:rPr lang="en-US" sz="2400" b="1" dirty="0"/>
              <a:t> Arduino</a:t>
            </a:r>
          </a:p>
        </p:txBody>
      </p:sp>
      <p:sp>
        <p:nvSpPr>
          <p:cNvPr id="14" name="Rectangle 13">
            <a:extLst>
              <a:ext uri="{FF2B5EF4-FFF2-40B4-BE49-F238E27FC236}">
                <a16:creationId xmlns:a16="http://schemas.microsoft.com/office/drawing/2014/main" id="{25F3F7C2-2877-CC77-1808-DC2F42BBDF71}"/>
              </a:ext>
            </a:extLst>
          </p:cNvPr>
          <p:cNvSpPr/>
          <p:nvPr/>
        </p:nvSpPr>
        <p:spPr>
          <a:xfrm>
            <a:off x="386862" y="1215283"/>
            <a:ext cx="2296962" cy="3785652"/>
          </a:xfrm>
          <a:prstGeom prst="rect">
            <a:avLst/>
          </a:prstGeom>
        </p:spPr>
        <p:txBody>
          <a:bodyPr wrap="square">
            <a:spAutoFit/>
          </a:bodyPr>
          <a:lstStyle/>
          <a:p>
            <a:r>
              <a:rPr lang="vi-VN" sz="2000" dirty="0">
                <a:latin typeface="Calibri" panose="020F0502020204030204" pitchFamily="34" charset="0"/>
                <a:ea typeface="Calibri" panose="020F0502020204030204" pitchFamily="34" charset="0"/>
                <a:cs typeface="Calibri" panose="020F0502020204030204" pitchFamily="34" charset="0"/>
              </a:rPr>
              <a:t>setup()</a:t>
            </a:r>
          </a:p>
          <a:p>
            <a:r>
              <a:rPr lang="vi-VN" sz="2000" dirty="0">
                <a:latin typeface="Calibri" panose="020F0502020204030204" pitchFamily="34" charset="0"/>
                <a:ea typeface="Calibri" panose="020F0502020204030204" pitchFamily="34" charset="0"/>
                <a:cs typeface="Calibri" panose="020F0502020204030204" pitchFamily="34" charset="0"/>
              </a:rPr>
              <a:t>loop()</a:t>
            </a:r>
          </a:p>
          <a:p>
            <a:r>
              <a:rPr lang="vi-VN" sz="2000" b="1" dirty="0">
                <a:latin typeface="Calibri" panose="020F0502020204030204" pitchFamily="34" charset="0"/>
                <a:ea typeface="Calibri" panose="020F0502020204030204" pitchFamily="34" charset="0"/>
                <a:cs typeface="Calibri" panose="020F0502020204030204" pitchFamily="34" charset="0"/>
              </a:rPr>
              <a:t>Cấu trúc điều khiển</a:t>
            </a:r>
          </a:p>
          <a:p>
            <a:r>
              <a:rPr lang="vi-VN" sz="2000" dirty="0">
                <a:latin typeface="Calibri" panose="020F0502020204030204" pitchFamily="34" charset="0"/>
                <a:ea typeface="Calibri" panose="020F0502020204030204" pitchFamily="34" charset="0"/>
                <a:cs typeface="Calibri" panose="020F0502020204030204" pitchFamily="34" charset="0"/>
              </a:rPr>
              <a:t>if</a:t>
            </a:r>
          </a:p>
          <a:p>
            <a:r>
              <a:rPr lang="vi-VN" sz="2000" dirty="0">
                <a:latin typeface="Calibri" panose="020F0502020204030204" pitchFamily="34" charset="0"/>
                <a:ea typeface="Calibri" panose="020F0502020204030204" pitchFamily="34" charset="0"/>
                <a:cs typeface="Calibri" panose="020F0502020204030204" pitchFamily="34" charset="0"/>
              </a:rPr>
              <a:t>if...else</a:t>
            </a:r>
          </a:p>
          <a:p>
            <a:r>
              <a:rPr lang="vi-VN" sz="2000" dirty="0">
                <a:latin typeface="Calibri" panose="020F0502020204030204" pitchFamily="34" charset="0"/>
                <a:ea typeface="Calibri" panose="020F0502020204030204" pitchFamily="34" charset="0"/>
                <a:cs typeface="Calibri" panose="020F0502020204030204" pitchFamily="34" charset="0"/>
              </a:rPr>
              <a:t>switch / case</a:t>
            </a:r>
          </a:p>
          <a:p>
            <a:r>
              <a:rPr lang="vi-VN" sz="2000" dirty="0">
                <a:latin typeface="Calibri" panose="020F0502020204030204" pitchFamily="34" charset="0"/>
                <a:ea typeface="Calibri" panose="020F0502020204030204" pitchFamily="34" charset="0"/>
                <a:cs typeface="Calibri" panose="020F0502020204030204" pitchFamily="34" charset="0"/>
              </a:rPr>
              <a:t>for</a:t>
            </a:r>
          </a:p>
          <a:p>
            <a:r>
              <a:rPr lang="vi-VN" sz="2000" dirty="0">
                <a:latin typeface="Calibri" panose="020F0502020204030204" pitchFamily="34" charset="0"/>
                <a:ea typeface="Calibri" panose="020F0502020204030204" pitchFamily="34" charset="0"/>
                <a:cs typeface="Calibri" panose="020F0502020204030204" pitchFamily="34" charset="0"/>
              </a:rPr>
              <a:t>while</a:t>
            </a:r>
          </a:p>
          <a:p>
            <a:r>
              <a:rPr lang="vi-VN" sz="2000" dirty="0">
                <a:latin typeface="Calibri" panose="020F0502020204030204" pitchFamily="34" charset="0"/>
                <a:ea typeface="Calibri" panose="020F0502020204030204" pitchFamily="34" charset="0"/>
                <a:cs typeface="Calibri" panose="020F0502020204030204" pitchFamily="34" charset="0"/>
              </a:rPr>
              <a:t>break</a:t>
            </a:r>
          </a:p>
          <a:p>
            <a:r>
              <a:rPr lang="vi-VN" sz="2000" dirty="0">
                <a:latin typeface="Calibri" panose="020F0502020204030204" pitchFamily="34" charset="0"/>
                <a:ea typeface="Calibri" panose="020F0502020204030204" pitchFamily="34" charset="0"/>
                <a:cs typeface="Calibri" panose="020F0502020204030204" pitchFamily="34" charset="0"/>
              </a:rPr>
              <a:t>continue</a:t>
            </a:r>
          </a:p>
          <a:p>
            <a:r>
              <a:rPr lang="vi-VN" sz="2000" dirty="0">
                <a:latin typeface="Calibri" panose="020F0502020204030204" pitchFamily="34" charset="0"/>
                <a:ea typeface="Calibri" panose="020F0502020204030204" pitchFamily="34" charset="0"/>
                <a:cs typeface="Calibri" panose="020F0502020204030204" pitchFamily="34" charset="0"/>
              </a:rPr>
              <a:t>return</a:t>
            </a:r>
          </a:p>
          <a:p>
            <a:r>
              <a:rPr lang="vi-VN" sz="2000" dirty="0">
                <a:latin typeface="Calibri" panose="020F0502020204030204" pitchFamily="34" charset="0"/>
                <a:ea typeface="Calibri" panose="020F0502020204030204" pitchFamily="34" charset="0"/>
                <a:cs typeface="Calibri" panose="020F0502020204030204" pitchFamily="34" charset="0"/>
              </a:rPr>
              <a:t>goto</a:t>
            </a:r>
          </a:p>
        </p:txBody>
      </p:sp>
      <p:sp>
        <p:nvSpPr>
          <p:cNvPr id="15" name="Rectangle 14">
            <a:extLst>
              <a:ext uri="{FF2B5EF4-FFF2-40B4-BE49-F238E27FC236}">
                <a16:creationId xmlns:a16="http://schemas.microsoft.com/office/drawing/2014/main" id="{6DFB8009-8D37-AAA8-7FCA-2C12523E751C}"/>
              </a:ext>
            </a:extLst>
          </p:cNvPr>
          <p:cNvSpPr/>
          <p:nvPr/>
        </p:nvSpPr>
        <p:spPr>
          <a:xfrm>
            <a:off x="2872218" y="1268321"/>
            <a:ext cx="2783189" cy="2554545"/>
          </a:xfrm>
          <a:prstGeom prst="rect">
            <a:avLst/>
          </a:prstGeom>
        </p:spPr>
        <p:txBody>
          <a:bodyPr wrap="square">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Cú pháp mở rộng</a:t>
            </a:r>
          </a:p>
          <a:p>
            <a:r>
              <a:rPr lang="vi-VN" sz="2000" dirty="0">
                <a:latin typeface="Calibri" panose="020F0502020204030204" pitchFamily="34" charset="0"/>
                <a:ea typeface="Calibri" panose="020F0502020204030204" pitchFamily="34" charset="0"/>
                <a:cs typeface="Calibri" panose="020F0502020204030204" pitchFamily="34" charset="0"/>
              </a:rPr>
              <a:t>; (dấu chấm phẩy)</a:t>
            </a:r>
          </a:p>
          <a:p>
            <a:r>
              <a:rPr lang="vi-VN" sz="2000" dirty="0">
                <a:latin typeface="Calibri" panose="020F0502020204030204" pitchFamily="34" charset="0"/>
                <a:ea typeface="Calibri" panose="020F0502020204030204" pitchFamily="34" charset="0"/>
                <a:cs typeface="Calibri" panose="020F0502020204030204" pitchFamily="34" charset="0"/>
              </a:rPr>
              <a:t>{} (dấu ngoặc nhọn)</a:t>
            </a:r>
          </a:p>
          <a:p>
            <a:r>
              <a:rPr lang="vi-VN" sz="2000" dirty="0">
                <a:latin typeface="Calibri" panose="020F0502020204030204" pitchFamily="34" charset="0"/>
                <a:ea typeface="Calibri" panose="020F0502020204030204" pitchFamily="34" charset="0"/>
                <a:cs typeface="Calibri" panose="020F0502020204030204" pitchFamily="34" charset="0"/>
              </a:rPr>
              <a:t>// (single line comment)</a:t>
            </a:r>
          </a:p>
          <a:p>
            <a:r>
              <a:rPr lang="vi-VN" sz="2000" dirty="0">
                <a:latin typeface="Calibri" panose="020F0502020204030204" pitchFamily="34" charset="0"/>
                <a:ea typeface="Calibri" panose="020F0502020204030204" pitchFamily="34" charset="0"/>
                <a:cs typeface="Calibri" panose="020F0502020204030204" pitchFamily="34" charset="0"/>
              </a:rPr>
              <a:t>/* */ (multi-line comment)</a:t>
            </a:r>
          </a:p>
          <a:p>
            <a:r>
              <a:rPr lang="vi-VN" sz="2000" dirty="0">
                <a:latin typeface="Calibri" panose="020F0502020204030204" pitchFamily="34" charset="0"/>
                <a:ea typeface="Calibri" panose="020F0502020204030204" pitchFamily="34" charset="0"/>
                <a:cs typeface="Calibri" panose="020F0502020204030204" pitchFamily="34" charset="0"/>
              </a:rPr>
              <a:t>#define</a:t>
            </a:r>
          </a:p>
          <a:p>
            <a:r>
              <a:rPr lang="vi-VN" sz="2000" dirty="0">
                <a:latin typeface="Calibri" panose="020F0502020204030204" pitchFamily="34" charset="0"/>
                <a:ea typeface="Calibri" panose="020F0502020204030204" pitchFamily="34" charset="0"/>
                <a:cs typeface="Calibri" panose="020F0502020204030204" pitchFamily="34" charset="0"/>
              </a:rPr>
              <a:t>#include</a:t>
            </a:r>
          </a:p>
        </p:txBody>
      </p:sp>
      <p:sp>
        <p:nvSpPr>
          <p:cNvPr id="16" name="Rectangle 15">
            <a:extLst>
              <a:ext uri="{FF2B5EF4-FFF2-40B4-BE49-F238E27FC236}">
                <a16:creationId xmlns:a16="http://schemas.microsoft.com/office/drawing/2014/main" id="{992939EB-E4A1-D511-CC76-C565BEEE9E05}"/>
              </a:ext>
            </a:extLst>
          </p:cNvPr>
          <p:cNvSpPr/>
          <p:nvPr/>
        </p:nvSpPr>
        <p:spPr>
          <a:xfrm>
            <a:off x="6143587" y="1215283"/>
            <a:ext cx="2647487" cy="4401205"/>
          </a:xfrm>
          <a:prstGeom prst="rect">
            <a:avLst/>
          </a:prstGeom>
        </p:spPr>
        <p:txBody>
          <a:bodyPr wrap="square">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Toán tử số học</a:t>
            </a:r>
          </a:p>
          <a:p>
            <a:r>
              <a:rPr lang="vi-VN" sz="2000" dirty="0">
                <a:latin typeface="Calibri" panose="020F0502020204030204" pitchFamily="34" charset="0"/>
                <a:ea typeface="Calibri" panose="020F0502020204030204" pitchFamily="34" charset="0"/>
                <a:cs typeface="Calibri" panose="020F0502020204030204" pitchFamily="34" charset="0"/>
              </a:rPr>
              <a:t>= (phép gán)</a:t>
            </a:r>
          </a:p>
          <a:p>
            <a:r>
              <a:rPr lang="vi-VN" sz="2000" dirty="0">
                <a:latin typeface="Calibri" panose="020F0502020204030204" pitchFamily="34" charset="0"/>
                <a:ea typeface="Calibri" panose="020F0502020204030204" pitchFamily="34" charset="0"/>
                <a:cs typeface="Calibri" panose="020F0502020204030204" pitchFamily="34" charset="0"/>
              </a:rPr>
              <a:t>+ (phép cộng)</a:t>
            </a:r>
          </a:p>
          <a:p>
            <a:r>
              <a:rPr lang="vi-VN" sz="2000" dirty="0">
                <a:latin typeface="Calibri" panose="020F0502020204030204" pitchFamily="34" charset="0"/>
                <a:ea typeface="Calibri" panose="020F0502020204030204" pitchFamily="34" charset="0"/>
                <a:cs typeface="Calibri" panose="020F0502020204030204" pitchFamily="34" charset="0"/>
              </a:rPr>
              <a:t>- (phép trừ)</a:t>
            </a:r>
          </a:p>
          <a:p>
            <a:r>
              <a:rPr lang="vi-VN" sz="2000" dirty="0">
                <a:latin typeface="Calibri" panose="020F0502020204030204" pitchFamily="34" charset="0"/>
                <a:ea typeface="Calibri" panose="020F0502020204030204" pitchFamily="34" charset="0"/>
                <a:cs typeface="Calibri" panose="020F0502020204030204" pitchFamily="34" charset="0"/>
              </a:rPr>
              <a:t>* (phép nhân)</a:t>
            </a:r>
          </a:p>
          <a:p>
            <a:r>
              <a:rPr lang="vi-VN" sz="2000" dirty="0">
                <a:latin typeface="Calibri" panose="020F0502020204030204" pitchFamily="34" charset="0"/>
                <a:ea typeface="Calibri" panose="020F0502020204030204" pitchFamily="34" charset="0"/>
                <a:cs typeface="Calibri" panose="020F0502020204030204" pitchFamily="34" charset="0"/>
              </a:rPr>
              <a:t>/ (phép chia)</a:t>
            </a:r>
          </a:p>
          <a:p>
            <a:r>
              <a:rPr lang="vi-VN" sz="2000" dirty="0">
                <a:latin typeface="Calibri" panose="020F0502020204030204" pitchFamily="34" charset="0"/>
                <a:ea typeface="Calibri" panose="020F0502020204030204" pitchFamily="34" charset="0"/>
                <a:cs typeface="Calibri" panose="020F0502020204030204" pitchFamily="34" charset="0"/>
              </a:rPr>
              <a:t>% (phép chia lấy dư)</a:t>
            </a:r>
          </a:p>
          <a:p>
            <a:r>
              <a:rPr lang="vi-VN" sz="2000" b="1" dirty="0">
                <a:latin typeface="Calibri" panose="020F0502020204030204" pitchFamily="34" charset="0"/>
                <a:ea typeface="Calibri" panose="020F0502020204030204" pitchFamily="34" charset="0"/>
                <a:cs typeface="Calibri" panose="020F0502020204030204" pitchFamily="34" charset="0"/>
              </a:rPr>
              <a:t>Toán tử so sánh</a:t>
            </a:r>
          </a:p>
          <a:p>
            <a:r>
              <a:rPr lang="vi-VN" sz="2000" dirty="0">
                <a:latin typeface="Calibri" panose="020F0502020204030204" pitchFamily="34" charset="0"/>
                <a:ea typeface="Calibri" panose="020F0502020204030204" pitchFamily="34" charset="0"/>
                <a:cs typeface="Calibri" panose="020F0502020204030204" pitchFamily="34" charset="0"/>
              </a:rPr>
              <a:t>== (so sánh bằng)</a:t>
            </a:r>
          </a:p>
          <a:p>
            <a:r>
              <a:rPr lang="vi-VN" sz="2000" dirty="0">
                <a:latin typeface="Calibri" panose="020F0502020204030204" pitchFamily="34" charset="0"/>
                <a:ea typeface="Calibri" panose="020F0502020204030204" pitchFamily="34" charset="0"/>
                <a:cs typeface="Calibri" panose="020F0502020204030204" pitchFamily="34" charset="0"/>
              </a:rPr>
              <a:t>!= (khác bằng)</a:t>
            </a:r>
          </a:p>
          <a:p>
            <a:r>
              <a:rPr lang="vi-VN" sz="2000" dirty="0">
                <a:latin typeface="Calibri" panose="020F0502020204030204" pitchFamily="34" charset="0"/>
                <a:ea typeface="Calibri" panose="020F0502020204030204" pitchFamily="34" charset="0"/>
                <a:cs typeface="Calibri" panose="020F0502020204030204" pitchFamily="34" charset="0"/>
              </a:rPr>
              <a:t>&gt; (lớn hơn)</a:t>
            </a:r>
          </a:p>
          <a:p>
            <a:r>
              <a:rPr lang="vi-VN" sz="2000" dirty="0">
                <a:latin typeface="Calibri" panose="020F0502020204030204" pitchFamily="34" charset="0"/>
                <a:ea typeface="Calibri" panose="020F0502020204030204" pitchFamily="34" charset="0"/>
                <a:cs typeface="Calibri" panose="020F0502020204030204" pitchFamily="34" charset="0"/>
              </a:rPr>
              <a:t>&lt; (bé hơn)</a:t>
            </a:r>
          </a:p>
          <a:p>
            <a:r>
              <a:rPr lang="vi-VN" sz="2000" dirty="0">
                <a:latin typeface="Calibri" panose="020F0502020204030204" pitchFamily="34" charset="0"/>
                <a:ea typeface="Calibri" panose="020F0502020204030204" pitchFamily="34" charset="0"/>
                <a:cs typeface="Calibri" panose="020F0502020204030204" pitchFamily="34" charset="0"/>
              </a:rPr>
              <a:t>&gt;= (lớn hơn hoặc bằng)</a:t>
            </a:r>
          </a:p>
          <a:p>
            <a:r>
              <a:rPr lang="vi-VN" sz="2000" dirty="0">
                <a:latin typeface="Calibri" panose="020F0502020204030204" pitchFamily="34" charset="0"/>
                <a:ea typeface="Calibri" panose="020F0502020204030204" pitchFamily="34" charset="0"/>
                <a:cs typeface="Calibri" panose="020F0502020204030204" pitchFamily="34" charset="0"/>
              </a:rPr>
              <a:t>&lt;= (bé hơn hoặc bằng)</a:t>
            </a:r>
          </a:p>
        </p:txBody>
      </p:sp>
      <p:sp>
        <p:nvSpPr>
          <p:cNvPr id="17" name="Rectangle 16">
            <a:extLst>
              <a:ext uri="{FF2B5EF4-FFF2-40B4-BE49-F238E27FC236}">
                <a16:creationId xmlns:a16="http://schemas.microsoft.com/office/drawing/2014/main" id="{65B563FB-3C0B-FE1E-1992-7149C0A45110}"/>
              </a:ext>
            </a:extLst>
          </p:cNvPr>
          <p:cNvSpPr/>
          <p:nvPr/>
        </p:nvSpPr>
        <p:spPr>
          <a:xfrm>
            <a:off x="9089154" y="1215283"/>
            <a:ext cx="2647487" cy="2554545"/>
          </a:xfrm>
          <a:prstGeom prst="rect">
            <a:avLst/>
          </a:prstGeom>
        </p:spPr>
        <p:txBody>
          <a:bodyPr wrap="square">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Toán tử logic</a:t>
            </a:r>
          </a:p>
          <a:p>
            <a:r>
              <a:rPr lang="vi-VN" sz="2000" dirty="0">
                <a:latin typeface="Calibri" panose="020F0502020204030204" pitchFamily="34" charset="0"/>
                <a:ea typeface="Calibri" panose="020F0502020204030204" pitchFamily="34" charset="0"/>
                <a:cs typeface="Calibri" panose="020F0502020204030204" pitchFamily="34" charset="0"/>
              </a:rPr>
              <a:t>&amp;&amp; (và)</a:t>
            </a:r>
          </a:p>
          <a:p>
            <a:r>
              <a:rPr lang="vi-VN" sz="2000" dirty="0">
                <a:latin typeface="Calibri" panose="020F0502020204030204" pitchFamily="34" charset="0"/>
                <a:ea typeface="Calibri" panose="020F0502020204030204" pitchFamily="34" charset="0"/>
                <a:cs typeface="Calibri" panose="020F0502020204030204" pitchFamily="34" charset="0"/>
              </a:rPr>
              <a:t>|| (hoặc)</a:t>
            </a:r>
          </a:p>
          <a:p>
            <a:r>
              <a:rPr lang="vi-VN" sz="2000" dirty="0">
                <a:latin typeface="Calibri" panose="020F0502020204030204" pitchFamily="34" charset="0"/>
                <a:ea typeface="Calibri" panose="020F0502020204030204" pitchFamily="34" charset="0"/>
                <a:cs typeface="Calibri" panose="020F0502020204030204" pitchFamily="34" charset="0"/>
              </a:rPr>
              <a:t>! (phủ định)</a:t>
            </a:r>
          </a:p>
          <a:p>
            <a:r>
              <a:rPr lang="vi-VN" sz="2000" dirty="0">
                <a:latin typeface="Calibri" panose="020F0502020204030204" pitchFamily="34" charset="0"/>
                <a:ea typeface="Calibri" panose="020F0502020204030204" pitchFamily="34" charset="0"/>
                <a:cs typeface="Calibri" panose="020F0502020204030204" pitchFamily="34" charset="0"/>
              </a:rPr>
              <a:t>^ (loại trừ)</a:t>
            </a:r>
          </a:p>
          <a:p>
            <a:r>
              <a:rPr lang="vi-VN" sz="2000" dirty="0">
                <a:latin typeface="Calibri" panose="020F0502020204030204" pitchFamily="34" charset="0"/>
                <a:ea typeface="Calibri" panose="020F0502020204030204" pitchFamily="34" charset="0"/>
                <a:cs typeface="Calibri" panose="020F0502020204030204" pitchFamily="34" charset="0"/>
              </a:rPr>
              <a:t>Phép toán hợp nhất</a:t>
            </a:r>
          </a:p>
          <a:p>
            <a:r>
              <a:rPr lang="vi-VN" sz="2000" dirty="0">
                <a:latin typeface="Calibri" panose="020F0502020204030204" pitchFamily="34" charset="0"/>
                <a:ea typeface="Calibri" panose="020F0502020204030204" pitchFamily="34" charset="0"/>
                <a:cs typeface="Calibri" panose="020F0502020204030204" pitchFamily="34" charset="0"/>
              </a:rPr>
              <a:t>++ (cộng thêm 1 đơn vị)</a:t>
            </a:r>
          </a:p>
          <a:p>
            <a:r>
              <a:rPr lang="vi-VN" sz="2000" dirty="0">
                <a:latin typeface="Calibri" panose="020F0502020204030204" pitchFamily="34" charset="0"/>
                <a:ea typeface="Calibri" panose="020F0502020204030204" pitchFamily="34" charset="0"/>
                <a:cs typeface="Calibri" panose="020F0502020204030204" pitchFamily="34" charset="0"/>
              </a:rPr>
              <a:t>-- (trừ đi 1 đơn vị)</a:t>
            </a:r>
          </a:p>
        </p:txBody>
      </p:sp>
    </p:spTree>
    <p:extLst>
      <p:ext uri="{BB962C8B-B14F-4D97-AF65-F5344CB8AC3E}">
        <p14:creationId xmlns:p14="http://schemas.microsoft.com/office/powerpoint/2010/main" val="3957252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793D-3F5D-E12F-65F8-07C6D84B9D79}"/>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4" name="Slide Number Placeholder 3">
            <a:extLst>
              <a:ext uri="{FF2B5EF4-FFF2-40B4-BE49-F238E27FC236}">
                <a16:creationId xmlns:a16="http://schemas.microsoft.com/office/drawing/2014/main" id="{DFD15316-0385-2CA1-C094-B20B8694839F}"/>
              </a:ext>
            </a:extLst>
          </p:cNvPr>
          <p:cNvSpPr>
            <a:spLocks noGrp="1"/>
          </p:cNvSpPr>
          <p:nvPr>
            <p:ph type="sldNum" sz="quarter" idx="12"/>
          </p:nvPr>
        </p:nvSpPr>
        <p:spPr/>
        <p:txBody>
          <a:bodyPr/>
          <a:lstStyle/>
          <a:p>
            <a:fld id="{834A3715-FC91-284B-8702-1BAEDE956EBF}" type="slidenum">
              <a:rPr lang="en-US" smtClean="0"/>
              <a:pPr/>
              <a:t>31</a:t>
            </a:fld>
            <a:endParaRPr lang="en-US"/>
          </a:p>
        </p:txBody>
      </p:sp>
      <p:sp>
        <p:nvSpPr>
          <p:cNvPr id="7" name="Content Placeholder 6">
            <a:extLst>
              <a:ext uri="{FF2B5EF4-FFF2-40B4-BE49-F238E27FC236}">
                <a16:creationId xmlns:a16="http://schemas.microsoft.com/office/drawing/2014/main" id="{36AB4AE1-9425-3142-EE64-5F5662744A05}"/>
              </a:ext>
            </a:extLst>
          </p:cNvPr>
          <p:cNvSpPr>
            <a:spLocks noGrp="1"/>
          </p:cNvSpPr>
          <p:nvPr>
            <p:ph idx="1"/>
          </p:nvPr>
        </p:nvSpPr>
        <p:spPr>
          <a:xfrm>
            <a:off x="387350" y="1359033"/>
            <a:ext cx="3296071" cy="3760004"/>
          </a:xfrm>
          <a:prstGeom prst="rect">
            <a:avLst/>
          </a:prstGeom>
        </p:spPr>
        <p:txBody>
          <a:bodyPr wrap="square">
            <a:spAutoFit/>
          </a:bodyPr>
          <a:lstStyle/>
          <a:p>
            <a:r>
              <a:rPr lang="en-US" sz="2000" b="1" dirty="0" err="1">
                <a:solidFill>
                  <a:srgbClr val="FF8C00"/>
                </a:solidFill>
                <a:latin typeface="Calibri" panose="020F0502020204030204" pitchFamily="34" charset="0"/>
                <a:ea typeface="Calibri" panose="020F0502020204030204" pitchFamily="34" charset="0"/>
                <a:cs typeface="Calibri" panose="020F0502020204030204" pitchFamily="34" charset="0"/>
              </a:rPr>
              <a:t>Hằng</a:t>
            </a:r>
            <a:r>
              <a:rPr lang="en-US" sz="2000" b="1" dirty="0">
                <a:solidFill>
                  <a:srgbClr val="FF8C00"/>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rgbClr val="FF8C00"/>
                </a:solidFill>
                <a:latin typeface="Calibri" panose="020F0502020204030204" pitchFamily="34" charset="0"/>
                <a:ea typeface="Calibri" panose="020F0502020204030204" pitchFamily="34" charset="0"/>
                <a:cs typeface="Calibri" panose="020F0502020204030204" pitchFamily="34" charset="0"/>
              </a:rPr>
              <a:t>số</a:t>
            </a:r>
            <a:endPar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3"/>
              </a:rPr>
              <a:t>HIGH</a:t>
            </a:r>
            <a:r>
              <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rPr>
              <a:t> | </a:t>
            </a: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4"/>
              </a:rPr>
              <a:t>LOW</a:t>
            </a:r>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5"/>
              </a:rPr>
              <a:t>INPUT</a:t>
            </a:r>
            <a:r>
              <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rPr>
              <a:t> | </a:t>
            </a: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5"/>
              </a:rPr>
              <a:t>INPUT_PULLUP</a:t>
            </a:r>
            <a:r>
              <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rPr>
              <a:t> | </a:t>
            </a:r>
          </a:p>
          <a:p>
            <a:pPr>
              <a:buFont typeface="Arial" panose="020B0604020202020204" pitchFamily="34" charset="0"/>
              <a:buChar char="•"/>
            </a:pP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5"/>
              </a:rPr>
              <a:t>OUTPUT</a:t>
            </a:r>
            <a:r>
              <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rPr>
              <a:t> | </a:t>
            </a: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6"/>
              </a:rPr>
              <a:t>LED_BUILTIN</a:t>
            </a:r>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7"/>
              </a:rPr>
              <a:t>true</a:t>
            </a:r>
            <a:r>
              <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rPr>
              <a:t> | </a:t>
            </a:r>
            <a:r>
              <a:rPr lang="en-US" sz="2000"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8"/>
              </a:rPr>
              <a:t>false</a:t>
            </a:r>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Hằng</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 </a:t>
            </a: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số</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 </a:t>
            </a: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nguyên</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9"/>
              </a:rPr>
              <a:t> (integer constants)</a:t>
            </a:r>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Hằng</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 </a:t>
            </a: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số</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 </a:t>
            </a:r>
            <a:r>
              <a:rPr lang="en-US" sz="2000" dirty="0" err="1">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thực</a:t>
            </a:r>
            <a:r>
              <a:rPr lang="en-US" sz="2000" dirty="0">
                <a:solidFill>
                  <a:srgbClr val="2086BF"/>
                </a:solidFill>
                <a:latin typeface="Calibri" panose="020F0502020204030204" pitchFamily="34" charset="0"/>
                <a:ea typeface="Calibri" panose="020F0502020204030204" pitchFamily="34" charset="0"/>
                <a:cs typeface="Calibri" panose="020F0502020204030204" pitchFamily="34" charset="0"/>
                <a:hlinkClick r:id="rId10"/>
              </a:rPr>
              <a:t> (floating point constants)</a:t>
            </a:r>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a:p>
            <a:endParaRPr lang="en-US" sz="200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6">
            <a:extLst>
              <a:ext uri="{FF2B5EF4-FFF2-40B4-BE49-F238E27FC236}">
                <a16:creationId xmlns:a16="http://schemas.microsoft.com/office/drawing/2014/main" id="{2B58A92B-ACB2-E381-2536-B9456DF44166}"/>
              </a:ext>
            </a:extLst>
          </p:cNvPr>
          <p:cNvSpPr txBox="1">
            <a:spLocks/>
          </p:cNvSpPr>
          <p:nvPr/>
        </p:nvSpPr>
        <p:spPr>
          <a:xfrm>
            <a:off x="3683421" y="1355609"/>
            <a:ext cx="2652629" cy="3206006"/>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err="1">
                <a:solidFill>
                  <a:srgbClr val="FF8C00"/>
                </a:solidFill>
              </a:rPr>
              <a:t>Kiểu</a:t>
            </a:r>
            <a:r>
              <a:rPr lang="en-US" sz="2000" b="1" dirty="0">
                <a:solidFill>
                  <a:srgbClr val="FF8C00"/>
                </a:solidFill>
              </a:rPr>
              <a:t> </a:t>
            </a:r>
            <a:r>
              <a:rPr lang="en-US" sz="2000" b="1" dirty="0" err="1">
                <a:solidFill>
                  <a:srgbClr val="FF8C00"/>
                </a:solidFill>
              </a:rPr>
              <a:t>dữ</a:t>
            </a:r>
            <a:r>
              <a:rPr lang="en-US" sz="2000" b="1" dirty="0">
                <a:solidFill>
                  <a:srgbClr val="FF8C00"/>
                </a:solidFill>
              </a:rPr>
              <a:t> </a:t>
            </a:r>
            <a:r>
              <a:rPr lang="en-US" sz="2000" b="1" dirty="0" err="1">
                <a:solidFill>
                  <a:srgbClr val="FF8C00"/>
                </a:solidFill>
              </a:rPr>
              <a:t>liệu</a:t>
            </a:r>
            <a:endParaRPr lang="en-US" sz="2000" b="1" dirty="0">
              <a:solidFill>
                <a:srgbClr val="000000"/>
              </a:solidFill>
            </a:endParaRPr>
          </a:p>
          <a:p>
            <a:pPr>
              <a:buFont typeface="Arial" panose="020B0604020202020204" pitchFamily="34" charset="0"/>
              <a:buChar char="•"/>
            </a:pPr>
            <a:r>
              <a:rPr lang="en-US" sz="2000" dirty="0">
                <a:solidFill>
                  <a:srgbClr val="FFFFFF"/>
                </a:solidFill>
                <a:latin typeface="Segoe UI" panose="020B0502040204020203" pitchFamily="34" charset="0"/>
                <a:hlinkClick r:id="rId11"/>
              </a:rPr>
              <a:t>void</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err="1">
                <a:solidFill>
                  <a:srgbClr val="FFFFFF"/>
                </a:solidFill>
                <a:latin typeface="Segoe UI" panose="020B0502040204020203" pitchFamily="34" charset="0"/>
                <a:hlinkClick r:id="rId12"/>
              </a:rPr>
              <a:t>boolean</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a:solidFill>
                  <a:srgbClr val="FFFFFF"/>
                </a:solidFill>
                <a:latin typeface="Segoe UI" panose="020B0502040204020203" pitchFamily="34" charset="0"/>
                <a:hlinkClick r:id="rId13"/>
              </a:rPr>
              <a:t>char</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a:solidFill>
                  <a:srgbClr val="FFFFFF"/>
                </a:solidFill>
                <a:latin typeface="Segoe UI" panose="020B0502040204020203" pitchFamily="34" charset="0"/>
                <a:hlinkClick r:id="rId14"/>
              </a:rPr>
              <a:t>unsigned char</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a:solidFill>
                  <a:srgbClr val="FFFFFF"/>
                </a:solidFill>
                <a:latin typeface="Segoe UI" panose="020B0502040204020203" pitchFamily="34" charset="0"/>
                <a:hlinkClick r:id="rId15"/>
              </a:rPr>
              <a:t>byte</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a:solidFill>
                  <a:srgbClr val="FFFFFF"/>
                </a:solidFill>
                <a:latin typeface="Segoe UI" panose="020B0502040204020203" pitchFamily="34" charset="0"/>
                <a:hlinkClick r:id="rId16"/>
              </a:rPr>
              <a:t>int</a:t>
            </a:r>
            <a:endParaRPr lang="en-US" sz="2000" dirty="0">
              <a:solidFill>
                <a:srgbClr val="262626"/>
              </a:solidFill>
              <a:latin typeface="Segoe UI" panose="020B0502040204020203" pitchFamily="34" charset="0"/>
            </a:endParaRPr>
          </a:p>
          <a:p>
            <a:pPr>
              <a:buFont typeface="Arial" panose="020B0604020202020204" pitchFamily="34" charset="0"/>
              <a:buChar char="•"/>
            </a:pPr>
            <a:r>
              <a:rPr lang="en-US" sz="2000" dirty="0">
                <a:solidFill>
                  <a:srgbClr val="FFFFFF"/>
                </a:solidFill>
                <a:latin typeface="Segoe UI" panose="020B0502040204020203" pitchFamily="34" charset="0"/>
                <a:hlinkClick r:id="rId17"/>
              </a:rPr>
              <a:t>unsigned int</a:t>
            </a:r>
            <a:endParaRPr lang="en-US" sz="3200" dirty="0">
              <a:solidFill>
                <a:srgbClr val="262626"/>
              </a:solidFill>
              <a:latin typeface="Segoe UI" panose="020B0502040204020203" pitchFamily="34" charset="0"/>
            </a:endParaRPr>
          </a:p>
        </p:txBody>
      </p:sp>
      <p:sp>
        <p:nvSpPr>
          <p:cNvPr id="9" name="Content Placeholder 6">
            <a:extLst>
              <a:ext uri="{FF2B5EF4-FFF2-40B4-BE49-F238E27FC236}">
                <a16:creationId xmlns:a16="http://schemas.microsoft.com/office/drawing/2014/main" id="{FA04B051-C0F6-94D2-0787-521F9372A789}"/>
              </a:ext>
            </a:extLst>
          </p:cNvPr>
          <p:cNvSpPr txBox="1">
            <a:spLocks/>
          </p:cNvSpPr>
          <p:nvPr/>
        </p:nvSpPr>
        <p:spPr>
          <a:xfrm>
            <a:off x="5896435" y="1359033"/>
            <a:ext cx="2166113" cy="4199294"/>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000" dirty="0">
                <a:solidFill>
                  <a:srgbClr val="FFFFFF"/>
                </a:solidFill>
                <a:cs typeface="Segoe UI" panose="020B0502040204020203" pitchFamily="34" charset="0"/>
                <a:hlinkClick r:id="rId18"/>
              </a:rPr>
              <a:t>word</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19"/>
              </a:rPr>
              <a:t>long</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0"/>
              </a:rPr>
              <a:t>unsigned long</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1"/>
              </a:rPr>
              <a:t>short</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2"/>
              </a:rPr>
              <a:t>float</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3"/>
              </a:rPr>
              <a:t>double</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4"/>
              </a:rPr>
              <a:t>array</a:t>
            </a:r>
            <a:endParaRPr lang="en-US" sz="2000" dirty="0">
              <a:solidFill>
                <a:srgbClr val="262626"/>
              </a:solidFill>
              <a:cs typeface="Segoe UI" panose="020B0502040204020203" pitchFamily="34" charset="0"/>
            </a:endParaRPr>
          </a:p>
          <a:p>
            <a:pPr>
              <a:buFont typeface="Arial" panose="020B0604020202020204" pitchFamily="34" charset="0"/>
              <a:buChar char="•"/>
            </a:pPr>
            <a:r>
              <a:rPr lang="en-US" sz="2000" dirty="0">
                <a:solidFill>
                  <a:srgbClr val="FFFFFF"/>
                </a:solidFill>
                <a:cs typeface="Segoe UI" panose="020B0502040204020203" pitchFamily="34" charset="0"/>
                <a:hlinkClick r:id="rId25"/>
              </a:rPr>
              <a:t>string</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chuỗi</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kí</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tự</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biểu</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diễn</a:t>
            </a:r>
            <a:r>
              <a:rPr lang="en-US" sz="2000" dirty="0">
                <a:solidFill>
                  <a:srgbClr val="262626"/>
                </a:solidFill>
                <a:cs typeface="Segoe UI" panose="020B0502040204020203" pitchFamily="34" charset="0"/>
              </a:rPr>
              <a:t> </a:t>
            </a:r>
            <a:r>
              <a:rPr lang="en-US" sz="2000" dirty="0" err="1">
                <a:solidFill>
                  <a:srgbClr val="262626"/>
                </a:solidFill>
                <a:cs typeface="Segoe UI" panose="020B0502040204020203" pitchFamily="34" charset="0"/>
              </a:rPr>
              <a:t>bằng</a:t>
            </a:r>
            <a:r>
              <a:rPr lang="en-US" sz="2000" dirty="0">
                <a:solidFill>
                  <a:srgbClr val="262626"/>
                </a:solidFill>
                <a:cs typeface="Segoe UI" panose="020B0502040204020203" pitchFamily="34" charset="0"/>
              </a:rPr>
              <a:t> </a:t>
            </a:r>
            <a:r>
              <a:rPr lang="en-US" sz="2000" dirty="0">
                <a:solidFill>
                  <a:srgbClr val="FFFFFF"/>
                </a:solidFill>
                <a:cs typeface="Segoe UI" panose="020B0502040204020203" pitchFamily="34" charset="0"/>
                <a:hlinkClick r:id="rId24"/>
              </a:rPr>
              <a:t>array</a:t>
            </a:r>
            <a:r>
              <a:rPr lang="en-US" sz="2000" dirty="0">
                <a:solidFill>
                  <a:srgbClr val="262626"/>
                </a:solidFill>
                <a:cs typeface="Segoe UI" panose="020B0502040204020203" pitchFamily="34" charset="0"/>
              </a:rPr>
              <a:t>)</a:t>
            </a:r>
          </a:p>
          <a:p>
            <a:pPr>
              <a:buFont typeface="Arial" panose="020B0604020202020204" pitchFamily="34" charset="0"/>
              <a:buChar char="•"/>
            </a:pPr>
            <a:r>
              <a:rPr lang="en-US" sz="2000" dirty="0">
                <a:solidFill>
                  <a:srgbClr val="FFFFFF"/>
                </a:solidFill>
                <a:cs typeface="Segoe UI" panose="020B0502040204020203" pitchFamily="34" charset="0"/>
                <a:hlinkClick r:id="rId26"/>
              </a:rPr>
              <a:t>String</a:t>
            </a:r>
            <a:r>
              <a:rPr lang="en-US" sz="2000" dirty="0">
                <a:solidFill>
                  <a:srgbClr val="262626"/>
                </a:solidFill>
                <a:cs typeface="Segoe UI" panose="020B0502040204020203" pitchFamily="34" charset="0"/>
              </a:rPr>
              <a:t> (object)</a:t>
            </a:r>
          </a:p>
        </p:txBody>
      </p:sp>
      <p:sp>
        <p:nvSpPr>
          <p:cNvPr id="10" name="TextBox 9">
            <a:extLst>
              <a:ext uri="{FF2B5EF4-FFF2-40B4-BE49-F238E27FC236}">
                <a16:creationId xmlns:a16="http://schemas.microsoft.com/office/drawing/2014/main" id="{C0E7D099-2F8B-C136-49B6-44D792A0960D}"/>
              </a:ext>
            </a:extLst>
          </p:cNvPr>
          <p:cNvSpPr txBox="1"/>
          <p:nvPr/>
        </p:nvSpPr>
        <p:spPr>
          <a:xfrm>
            <a:off x="515686" y="787317"/>
            <a:ext cx="4970714" cy="461665"/>
          </a:xfrm>
          <a:prstGeom prst="rect">
            <a:avLst/>
          </a:prstGeom>
          <a:noFill/>
        </p:spPr>
        <p:txBody>
          <a:bodyPr wrap="square" rtlCol="0">
            <a:spAutoFit/>
          </a:bodyPr>
          <a:lstStyle/>
          <a:p>
            <a:r>
              <a:rPr lang="en-US" sz="2400" b="1" dirty="0" err="1"/>
              <a:t>Cú</a:t>
            </a:r>
            <a:r>
              <a:rPr lang="en-US" sz="2400" b="1" dirty="0"/>
              <a:t> </a:t>
            </a:r>
            <a:r>
              <a:rPr lang="en-US" sz="2400" b="1" dirty="0" err="1"/>
              <a:t>pháp</a:t>
            </a:r>
            <a:r>
              <a:rPr lang="en-US" sz="2400" b="1" dirty="0"/>
              <a:t> </a:t>
            </a:r>
            <a:r>
              <a:rPr lang="en-US" sz="2400" b="1" dirty="0" err="1"/>
              <a:t>câu</a:t>
            </a:r>
            <a:r>
              <a:rPr lang="en-US" sz="2400" b="1" dirty="0"/>
              <a:t> </a:t>
            </a:r>
            <a:r>
              <a:rPr lang="en-US" sz="2400" b="1" dirty="0" err="1"/>
              <a:t>lệnh</a:t>
            </a:r>
            <a:r>
              <a:rPr lang="en-US" sz="2400" b="1" dirty="0"/>
              <a:t> </a:t>
            </a:r>
            <a:r>
              <a:rPr lang="en-US" sz="2400" b="1" dirty="0" err="1"/>
              <a:t>trong</a:t>
            </a:r>
            <a:r>
              <a:rPr lang="en-US" sz="2400" b="1" dirty="0"/>
              <a:t> Arduino</a:t>
            </a:r>
          </a:p>
        </p:txBody>
      </p:sp>
      <p:sp>
        <p:nvSpPr>
          <p:cNvPr id="11" name="Rectangle 10">
            <a:extLst>
              <a:ext uri="{FF2B5EF4-FFF2-40B4-BE49-F238E27FC236}">
                <a16:creationId xmlns:a16="http://schemas.microsoft.com/office/drawing/2014/main" id="{649FB065-14A5-72EA-8967-253FD541DE59}"/>
              </a:ext>
            </a:extLst>
          </p:cNvPr>
          <p:cNvSpPr/>
          <p:nvPr/>
        </p:nvSpPr>
        <p:spPr>
          <a:xfrm>
            <a:off x="8599943" y="1355609"/>
            <a:ext cx="4558146" cy="4401205"/>
          </a:xfrm>
          <a:prstGeom prst="rect">
            <a:avLst/>
          </a:prstGeom>
        </p:spPr>
        <p:txBody>
          <a:bodyPr wrap="square">
            <a:spAutoFit/>
          </a:bodyPr>
          <a:lstStyle/>
          <a:p>
            <a:r>
              <a:rPr lang="en-US" sz="2000" b="1" dirty="0" err="1">
                <a:solidFill>
                  <a:srgbClr val="FF8C00"/>
                </a:solidFill>
              </a:rPr>
              <a:t>Chuyển</a:t>
            </a:r>
            <a:r>
              <a:rPr lang="en-US" sz="2000" b="1" dirty="0">
                <a:solidFill>
                  <a:srgbClr val="FF8C00"/>
                </a:solidFill>
              </a:rPr>
              <a:t> </a:t>
            </a:r>
            <a:r>
              <a:rPr lang="en-US" sz="2000" b="1" dirty="0" err="1">
                <a:solidFill>
                  <a:srgbClr val="FF8C00"/>
                </a:solidFill>
              </a:rPr>
              <a:t>đổi</a:t>
            </a:r>
            <a:r>
              <a:rPr lang="en-US" sz="2000" b="1" dirty="0">
                <a:solidFill>
                  <a:srgbClr val="FF8C00"/>
                </a:solidFill>
              </a:rPr>
              <a:t> </a:t>
            </a:r>
            <a:r>
              <a:rPr lang="en-US" sz="2000" b="1" dirty="0" err="1">
                <a:solidFill>
                  <a:srgbClr val="FF8C00"/>
                </a:solidFill>
              </a:rPr>
              <a:t>kiểu</a:t>
            </a:r>
            <a:r>
              <a:rPr lang="en-US" sz="2000" b="1" dirty="0">
                <a:solidFill>
                  <a:srgbClr val="FF8C00"/>
                </a:solidFill>
              </a:rPr>
              <a:t> </a:t>
            </a:r>
            <a:r>
              <a:rPr lang="en-US" sz="2000" b="1" dirty="0" err="1">
                <a:solidFill>
                  <a:srgbClr val="FF8C00"/>
                </a:solidFill>
              </a:rPr>
              <a:t>dữ</a:t>
            </a:r>
            <a:r>
              <a:rPr lang="en-US" sz="2000" b="1" dirty="0">
                <a:solidFill>
                  <a:srgbClr val="FF8C00"/>
                </a:solidFill>
              </a:rPr>
              <a:t> </a:t>
            </a:r>
            <a:r>
              <a:rPr lang="en-US" sz="2000" b="1" dirty="0" err="1">
                <a:solidFill>
                  <a:srgbClr val="FF8C00"/>
                </a:solidFill>
              </a:rPr>
              <a:t>liệu</a:t>
            </a:r>
            <a:endParaRPr lang="en-US" sz="2000" b="1" dirty="0">
              <a:solidFill>
                <a:srgbClr val="000000"/>
              </a:solidFill>
            </a:endParaRPr>
          </a:p>
          <a:p>
            <a:pPr>
              <a:buFont typeface="Arial" panose="020B0604020202020204" pitchFamily="34" charset="0"/>
              <a:buChar char="•"/>
            </a:pPr>
            <a:r>
              <a:rPr lang="en-US" sz="2000" dirty="0">
                <a:solidFill>
                  <a:srgbClr val="FFFFFF"/>
                </a:solidFill>
                <a:hlinkClick r:id="rId27"/>
              </a:rPr>
              <a:t>char()</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28"/>
              </a:rPr>
              <a:t>byte()</a:t>
            </a:r>
            <a:endParaRPr lang="en-US" sz="2000" dirty="0">
              <a:solidFill>
                <a:srgbClr val="262626"/>
              </a:solidFill>
            </a:endParaRPr>
          </a:p>
          <a:p>
            <a:pPr>
              <a:buFont typeface="Arial" panose="020B0604020202020204" pitchFamily="34" charset="0"/>
              <a:buChar char="•"/>
            </a:pPr>
            <a:r>
              <a:rPr lang="en-US" sz="2000" dirty="0" err="1">
                <a:solidFill>
                  <a:srgbClr val="FFFFFF"/>
                </a:solidFill>
                <a:hlinkClick r:id="rId29"/>
              </a:rPr>
              <a:t>int</a:t>
            </a:r>
            <a:r>
              <a:rPr lang="en-US" sz="2000" dirty="0">
                <a:solidFill>
                  <a:srgbClr val="FFFFFF"/>
                </a:solidFill>
                <a:hlinkClick r:id="rId29"/>
              </a:rPr>
              <a:t>()</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30"/>
              </a:rPr>
              <a:t>word()</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31"/>
              </a:rPr>
              <a:t>long()</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32"/>
              </a:rPr>
              <a:t>float()</a:t>
            </a:r>
            <a:endParaRPr lang="en-US" sz="2000" dirty="0">
              <a:solidFill>
                <a:srgbClr val="262626"/>
              </a:solidFill>
            </a:endParaRPr>
          </a:p>
          <a:p>
            <a:r>
              <a:rPr lang="en-US" sz="2000" b="1" dirty="0" err="1">
                <a:solidFill>
                  <a:srgbClr val="FF8C00"/>
                </a:solidFill>
              </a:rPr>
              <a:t>Phạm</a:t>
            </a:r>
            <a:r>
              <a:rPr lang="en-US" sz="2000" b="1" dirty="0">
                <a:solidFill>
                  <a:srgbClr val="FF8C00"/>
                </a:solidFill>
              </a:rPr>
              <a:t> vi </a:t>
            </a:r>
            <a:r>
              <a:rPr lang="en-US" sz="2000" b="1" dirty="0" err="1">
                <a:solidFill>
                  <a:srgbClr val="FF8C00"/>
                </a:solidFill>
              </a:rPr>
              <a:t>của</a:t>
            </a:r>
            <a:r>
              <a:rPr lang="en-US" sz="2000" b="1" dirty="0">
                <a:solidFill>
                  <a:srgbClr val="FF8C00"/>
                </a:solidFill>
              </a:rPr>
              <a:t> </a:t>
            </a:r>
            <a:r>
              <a:rPr lang="en-US" sz="2000" b="1" dirty="0" err="1">
                <a:solidFill>
                  <a:srgbClr val="FF8C00"/>
                </a:solidFill>
              </a:rPr>
              <a:t>biến</a:t>
            </a:r>
            <a:r>
              <a:rPr lang="en-US" sz="2000" b="1" dirty="0">
                <a:solidFill>
                  <a:srgbClr val="FF8C00"/>
                </a:solidFill>
              </a:rPr>
              <a:t> </a:t>
            </a:r>
            <a:r>
              <a:rPr lang="en-US" sz="2000" b="1" dirty="0" err="1">
                <a:solidFill>
                  <a:srgbClr val="FF8C00"/>
                </a:solidFill>
              </a:rPr>
              <a:t>và</a:t>
            </a:r>
            <a:r>
              <a:rPr lang="en-US" sz="2000" b="1" dirty="0">
                <a:solidFill>
                  <a:srgbClr val="FF8C00"/>
                </a:solidFill>
              </a:rPr>
              <a:t> </a:t>
            </a:r>
            <a:r>
              <a:rPr lang="en-US" sz="2000" b="1" dirty="0" err="1">
                <a:solidFill>
                  <a:srgbClr val="FF8C00"/>
                </a:solidFill>
              </a:rPr>
              <a:t>phân</a:t>
            </a:r>
            <a:r>
              <a:rPr lang="en-US" sz="2000" b="1" dirty="0">
                <a:solidFill>
                  <a:srgbClr val="FF8C00"/>
                </a:solidFill>
              </a:rPr>
              <a:t> </a:t>
            </a:r>
            <a:r>
              <a:rPr lang="en-US" sz="2000" b="1" dirty="0" err="1">
                <a:solidFill>
                  <a:srgbClr val="FF8C00"/>
                </a:solidFill>
              </a:rPr>
              <a:t>loại</a:t>
            </a:r>
            <a:endParaRPr lang="en-US" sz="2000" b="1" dirty="0">
              <a:solidFill>
                <a:srgbClr val="000000"/>
              </a:solidFill>
            </a:endParaRPr>
          </a:p>
          <a:p>
            <a:pPr>
              <a:buFont typeface="Arial" panose="020B0604020202020204" pitchFamily="34" charset="0"/>
              <a:buChar char="•"/>
            </a:pPr>
            <a:r>
              <a:rPr lang="en-US" sz="2000" dirty="0" err="1">
                <a:solidFill>
                  <a:srgbClr val="2086BF"/>
                </a:solidFill>
                <a:hlinkClick r:id="rId33"/>
              </a:rPr>
              <a:t>Phạm</a:t>
            </a:r>
            <a:r>
              <a:rPr lang="en-US" sz="2000" dirty="0">
                <a:solidFill>
                  <a:srgbClr val="2086BF"/>
                </a:solidFill>
                <a:hlinkClick r:id="rId33"/>
              </a:rPr>
              <a:t> vi </a:t>
            </a:r>
            <a:r>
              <a:rPr lang="en-US" sz="2000" dirty="0" err="1">
                <a:solidFill>
                  <a:srgbClr val="2086BF"/>
                </a:solidFill>
                <a:hlinkClick r:id="rId33"/>
              </a:rPr>
              <a:t>hiệu</a:t>
            </a:r>
            <a:r>
              <a:rPr lang="en-US" sz="2000" dirty="0">
                <a:solidFill>
                  <a:srgbClr val="2086BF"/>
                </a:solidFill>
                <a:hlinkClick r:id="rId33"/>
              </a:rPr>
              <a:t> </a:t>
            </a:r>
            <a:r>
              <a:rPr lang="en-US" sz="2000" dirty="0" err="1">
                <a:solidFill>
                  <a:srgbClr val="2086BF"/>
                </a:solidFill>
                <a:hlinkClick r:id="rId33"/>
              </a:rPr>
              <a:t>lực</a:t>
            </a:r>
            <a:r>
              <a:rPr lang="en-US" sz="2000" dirty="0">
                <a:solidFill>
                  <a:srgbClr val="2086BF"/>
                </a:solidFill>
                <a:hlinkClick r:id="rId33"/>
              </a:rPr>
              <a:t> </a:t>
            </a:r>
            <a:r>
              <a:rPr lang="en-US" sz="2000" dirty="0" err="1">
                <a:solidFill>
                  <a:srgbClr val="2086BF"/>
                </a:solidFill>
                <a:hlinkClick r:id="rId33"/>
              </a:rPr>
              <a:t>của</a:t>
            </a:r>
            <a:r>
              <a:rPr lang="en-US" sz="2000" dirty="0">
                <a:solidFill>
                  <a:srgbClr val="2086BF"/>
                </a:solidFill>
                <a:hlinkClick r:id="rId33"/>
              </a:rPr>
              <a:t> </a:t>
            </a:r>
            <a:r>
              <a:rPr lang="en-US" sz="2000" dirty="0" err="1">
                <a:solidFill>
                  <a:srgbClr val="2086BF"/>
                </a:solidFill>
                <a:hlinkClick r:id="rId33"/>
              </a:rPr>
              <a:t>biến</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34"/>
              </a:rPr>
              <a:t>static - </a:t>
            </a:r>
            <a:r>
              <a:rPr lang="en-US" sz="2000" dirty="0" err="1">
                <a:solidFill>
                  <a:srgbClr val="FFFFFF"/>
                </a:solidFill>
                <a:hlinkClick r:id="rId34"/>
              </a:rPr>
              <a:t>biến</a:t>
            </a:r>
            <a:r>
              <a:rPr lang="en-US" sz="2000" dirty="0">
                <a:solidFill>
                  <a:srgbClr val="FFFFFF"/>
                </a:solidFill>
                <a:hlinkClick r:id="rId34"/>
              </a:rPr>
              <a:t> </a:t>
            </a:r>
            <a:r>
              <a:rPr lang="en-US" sz="2000" dirty="0" err="1">
                <a:solidFill>
                  <a:srgbClr val="FFFFFF"/>
                </a:solidFill>
                <a:hlinkClick r:id="rId34"/>
              </a:rPr>
              <a:t>tĩnh</a:t>
            </a:r>
            <a:endParaRPr lang="en-US" sz="2000" dirty="0">
              <a:solidFill>
                <a:srgbClr val="262626"/>
              </a:solidFill>
            </a:endParaRPr>
          </a:p>
          <a:p>
            <a:pPr>
              <a:buFont typeface="Arial" panose="020B0604020202020204" pitchFamily="34" charset="0"/>
              <a:buChar char="•"/>
            </a:pPr>
            <a:r>
              <a:rPr lang="en-US" sz="2000" dirty="0" err="1">
                <a:solidFill>
                  <a:srgbClr val="FFFFFF"/>
                </a:solidFill>
                <a:hlinkClick r:id="rId35"/>
              </a:rPr>
              <a:t>const</a:t>
            </a:r>
            <a:r>
              <a:rPr lang="en-US" sz="2000" dirty="0">
                <a:solidFill>
                  <a:srgbClr val="FFFFFF"/>
                </a:solidFill>
                <a:hlinkClick r:id="rId35"/>
              </a:rPr>
              <a:t> - </a:t>
            </a:r>
            <a:r>
              <a:rPr lang="en-US" sz="2000" dirty="0" err="1">
                <a:solidFill>
                  <a:srgbClr val="FFFFFF"/>
                </a:solidFill>
                <a:hlinkClick r:id="rId35"/>
              </a:rPr>
              <a:t>biến</a:t>
            </a:r>
            <a:r>
              <a:rPr lang="en-US" sz="2000" dirty="0">
                <a:solidFill>
                  <a:srgbClr val="FFFFFF"/>
                </a:solidFill>
                <a:hlinkClick r:id="rId35"/>
              </a:rPr>
              <a:t> </a:t>
            </a:r>
            <a:r>
              <a:rPr lang="en-US" sz="2000" dirty="0" err="1">
                <a:solidFill>
                  <a:srgbClr val="FFFFFF"/>
                </a:solidFill>
                <a:hlinkClick r:id="rId35"/>
              </a:rPr>
              <a:t>hằng</a:t>
            </a:r>
            <a:endParaRPr lang="en-US" sz="2000" dirty="0">
              <a:solidFill>
                <a:srgbClr val="262626"/>
              </a:solidFill>
            </a:endParaRPr>
          </a:p>
          <a:p>
            <a:pPr>
              <a:buFont typeface="Arial" panose="020B0604020202020204" pitchFamily="34" charset="0"/>
              <a:buChar char="•"/>
            </a:pPr>
            <a:r>
              <a:rPr lang="en-US" sz="2000" dirty="0">
                <a:solidFill>
                  <a:srgbClr val="FFFFFF"/>
                </a:solidFill>
                <a:hlinkClick r:id="rId36"/>
              </a:rPr>
              <a:t>volatile</a:t>
            </a:r>
            <a:endParaRPr lang="en-US" sz="2000" dirty="0">
              <a:solidFill>
                <a:srgbClr val="262626"/>
              </a:solidFill>
            </a:endParaRPr>
          </a:p>
          <a:p>
            <a:r>
              <a:rPr lang="en-US" sz="2000" b="1" dirty="0" err="1">
                <a:solidFill>
                  <a:srgbClr val="FF8C00"/>
                </a:solidFill>
              </a:rPr>
              <a:t>Hàm</a:t>
            </a:r>
            <a:r>
              <a:rPr lang="en-US" sz="2000" b="1" dirty="0">
                <a:solidFill>
                  <a:srgbClr val="FF8C00"/>
                </a:solidFill>
              </a:rPr>
              <a:t> </a:t>
            </a:r>
            <a:r>
              <a:rPr lang="en-US" sz="2000" b="1" dirty="0" err="1">
                <a:solidFill>
                  <a:srgbClr val="FF8C00"/>
                </a:solidFill>
              </a:rPr>
              <a:t>hỗ</a:t>
            </a:r>
            <a:r>
              <a:rPr lang="en-US" sz="2000" b="1" dirty="0">
                <a:solidFill>
                  <a:srgbClr val="FF8C00"/>
                </a:solidFill>
              </a:rPr>
              <a:t> </a:t>
            </a:r>
            <a:r>
              <a:rPr lang="en-US" sz="2000" b="1" dirty="0" err="1">
                <a:solidFill>
                  <a:srgbClr val="FF8C00"/>
                </a:solidFill>
              </a:rPr>
              <a:t>trợ</a:t>
            </a:r>
            <a:endParaRPr lang="en-US" sz="2000" b="1" dirty="0">
              <a:solidFill>
                <a:srgbClr val="000000"/>
              </a:solidFill>
            </a:endParaRPr>
          </a:p>
          <a:p>
            <a:pPr>
              <a:buFont typeface="Arial" panose="020B0604020202020204" pitchFamily="34" charset="0"/>
              <a:buChar char="•"/>
            </a:pPr>
            <a:r>
              <a:rPr lang="en-US" sz="2000" dirty="0" err="1">
                <a:solidFill>
                  <a:srgbClr val="FFFFFF"/>
                </a:solidFill>
                <a:hlinkClick r:id="rId37"/>
              </a:rPr>
              <a:t>sizeof</a:t>
            </a:r>
            <a:r>
              <a:rPr lang="en-US" sz="2000" dirty="0">
                <a:solidFill>
                  <a:srgbClr val="FFFFFF"/>
                </a:solidFill>
                <a:hlinkClick r:id="rId37"/>
              </a:rPr>
              <a:t>()</a:t>
            </a:r>
            <a:endParaRPr lang="en-US" sz="2000" b="0" i="0" dirty="0">
              <a:solidFill>
                <a:srgbClr val="262626"/>
              </a:solidFill>
              <a:effectLst/>
            </a:endParaRPr>
          </a:p>
        </p:txBody>
      </p:sp>
    </p:spTree>
    <p:extLst>
      <p:ext uri="{BB962C8B-B14F-4D97-AF65-F5344CB8AC3E}">
        <p14:creationId xmlns:p14="http://schemas.microsoft.com/office/powerpoint/2010/main" val="1444988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793D-3F5D-E12F-65F8-07C6D84B9D79}"/>
              </a:ext>
            </a:extLst>
          </p:cNvPr>
          <p:cNvSpPr>
            <a:spLocks noGrp="1"/>
          </p:cNvSpPr>
          <p:nvPr>
            <p:ph type="title"/>
          </p:nvPr>
        </p:nvSpPr>
        <p:spPr/>
        <p:txBody>
          <a:bodyPr/>
          <a:lstStyle/>
          <a:p>
            <a:r>
              <a:rPr lang="en-US" dirty="0"/>
              <a:t>1.5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chạy</a:t>
            </a:r>
            <a:r>
              <a:rPr lang="en-US" sz="2800" dirty="0"/>
              <a:t> </a:t>
            </a:r>
            <a:r>
              <a:rPr lang="en-US" sz="2800" dirty="0" err="1"/>
              <a:t>chương</a:t>
            </a:r>
            <a:r>
              <a:rPr lang="en-US" sz="2800" dirty="0"/>
              <a:t> </a:t>
            </a:r>
            <a:r>
              <a:rPr lang="en-US" sz="2800" dirty="0" err="1"/>
              <a:t>trình</a:t>
            </a:r>
            <a:r>
              <a:rPr lang="en-US" sz="2800" dirty="0"/>
              <a:t> </a:t>
            </a:r>
            <a:r>
              <a:rPr lang="en-US" sz="2800" dirty="0" err="1"/>
              <a:t>với</a:t>
            </a:r>
            <a:r>
              <a:rPr lang="en-US" sz="2800" dirty="0"/>
              <a:t> Arduino</a:t>
            </a:r>
            <a:endParaRPr lang="en-US" dirty="0"/>
          </a:p>
        </p:txBody>
      </p:sp>
      <p:sp>
        <p:nvSpPr>
          <p:cNvPr id="4" name="Slide Number Placeholder 3">
            <a:extLst>
              <a:ext uri="{FF2B5EF4-FFF2-40B4-BE49-F238E27FC236}">
                <a16:creationId xmlns:a16="http://schemas.microsoft.com/office/drawing/2014/main" id="{DFD15316-0385-2CA1-C094-B20B8694839F}"/>
              </a:ext>
            </a:extLst>
          </p:cNvPr>
          <p:cNvSpPr>
            <a:spLocks noGrp="1"/>
          </p:cNvSpPr>
          <p:nvPr>
            <p:ph type="sldNum" sz="quarter" idx="12"/>
          </p:nvPr>
        </p:nvSpPr>
        <p:spPr/>
        <p:txBody>
          <a:bodyPr/>
          <a:lstStyle/>
          <a:p>
            <a:fld id="{834A3715-FC91-284B-8702-1BAEDE956EBF}" type="slidenum">
              <a:rPr lang="en-US" smtClean="0"/>
              <a:pPr/>
              <a:t>32</a:t>
            </a:fld>
            <a:endParaRPr lang="en-US"/>
          </a:p>
        </p:txBody>
      </p:sp>
      <p:sp>
        <p:nvSpPr>
          <p:cNvPr id="16" name="Rectangle 15">
            <a:extLst>
              <a:ext uri="{FF2B5EF4-FFF2-40B4-BE49-F238E27FC236}">
                <a16:creationId xmlns:a16="http://schemas.microsoft.com/office/drawing/2014/main" id="{61021741-60E7-E925-DDB9-B4C88F3E4F2B}"/>
              </a:ext>
            </a:extLst>
          </p:cNvPr>
          <p:cNvSpPr/>
          <p:nvPr/>
        </p:nvSpPr>
        <p:spPr>
          <a:xfrm>
            <a:off x="386861" y="821495"/>
            <a:ext cx="2452592" cy="5078313"/>
          </a:xfrm>
          <a:prstGeom prst="rect">
            <a:avLst/>
          </a:prstGeom>
        </p:spPr>
        <p:txBody>
          <a:bodyPr wrap="square">
            <a:spAutoFit/>
          </a:bodyPr>
          <a:lstStyle/>
          <a:p>
            <a:r>
              <a:rPr lang="vi-VN" b="1" dirty="0">
                <a:solidFill>
                  <a:srgbClr val="FF8C00"/>
                </a:solidFill>
              </a:rPr>
              <a:t>Nhập xuất Digital </a:t>
            </a:r>
            <a:endParaRPr lang="en-US" b="1" dirty="0">
              <a:solidFill>
                <a:srgbClr val="FF8C00"/>
              </a:solidFill>
            </a:endParaRPr>
          </a:p>
          <a:p>
            <a:r>
              <a:rPr lang="vi-VN" b="1" i="1" dirty="0">
                <a:solidFill>
                  <a:srgbClr val="FF8C00"/>
                </a:solidFill>
              </a:rPr>
              <a:t>(Digital I/O)</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3"/>
              </a:rPr>
              <a:t>pinMode()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
              </a:rPr>
              <a:t>digitalWrite()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
              </a:rPr>
              <a:t>digitalRead()</a:t>
            </a:r>
            <a:endParaRPr lang="vi-VN" dirty="0">
              <a:solidFill>
                <a:srgbClr val="262626"/>
              </a:solidFill>
              <a:latin typeface="Segoe UI" panose="020B0502040204020203" pitchFamily="34" charset="0"/>
            </a:endParaRPr>
          </a:p>
          <a:p>
            <a:endParaRPr lang="en-US" b="1" dirty="0">
              <a:solidFill>
                <a:srgbClr val="FF8C00"/>
              </a:solidFill>
            </a:endParaRPr>
          </a:p>
          <a:p>
            <a:r>
              <a:rPr lang="vi-VN" b="1" dirty="0">
                <a:solidFill>
                  <a:srgbClr val="FF8C00"/>
                </a:solidFill>
              </a:rPr>
              <a:t>Nhập xuất Analog </a:t>
            </a:r>
            <a:endParaRPr lang="en-US" b="1" dirty="0">
              <a:solidFill>
                <a:srgbClr val="FF8C00"/>
              </a:solidFill>
            </a:endParaRPr>
          </a:p>
          <a:p>
            <a:r>
              <a:rPr lang="vi-VN" b="1" i="1" dirty="0">
                <a:solidFill>
                  <a:srgbClr val="FF8C00"/>
                </a:solidFill>
              </a:rPr>
              <a:t>(Analog I/O)</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6"/>
              </a:rPr>
              <a:t>analogReference()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7"/>
              </a:rPr>
              <a:t>analogRead()</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8"/>
              </a:rPr>
              <a:t>analogWrite()</a:t>
            </a:r>
            <a:r>
              <a:rPr lang="vi-VN" dirty="0">
                <a:solidFill>
                  <a:srgbClr val="262626"/>
                </a:solidFill>
                <a:latin typeface="Segoe UI" panose="020B0502040204020203" pitchFamily="34" charset="0"/>
              </a:rPr>
              <a:t> - </a:t>
            </a:r>
            <a:r>
              <a:rPr lang="vi-VN" dirty="0">
                <a:solidFill>
                  <a:srgbClr val="FFFFFF"/>
                </a:solidFill>
                <a:latin typeface="Segoe UI" panose="020B0502040204020203" pitchFamily="34" charset="0"/>
                <a:hlinkClick r:id="rId9"/>
              </a:rPr>
              <a:t>PWM</a:t>
            </a:r>
            <a:r>
              <a:rPr lang="vi-VN" dirty="0">
                <a:solidFill>
                  <a:srgbClr val="262626"/>
                </a:solidFill>
                <a:latin typeface="Segoe UI" panose="020B0502040204020203" pitchFamily="34" charset="0"/>
              </a:rPr>
              <a:t> - </a:t>
            </a:r>
            <a:r>
              <a:rPr lang="vi-VN" dirty="0">
                <a:solidFill>
                  <a:srgbClr val="FFFFFF"/>
                </a:solidFill>
                <a:latin typeface="Segoe UI" panose="020B0502040204020203" pitchFamily="34" charset="0"/>
                <a:hlinkClick r:id="rId10"/>
              </a:rPr>
              <a:t>PPM</a:t>
            </a:r>
            <a:endParaRPr lang="vi-VN" dirty="0">
              <a:solidFill>
                <a:srgbClr val="262626"/>
              </a:solidFill>
              <a:latin typeface="Segoe UI" panose="020B0502040204020203" pitchFamily="34" charset="0"/>
            </a:endParaRPr>
          </a:p>
          <a:p>
            <a:endParaRPr lang="en-US" b="1" dirty="0">
              <a:solidFill>
                <a:srgbClr val="FF8C00"/>
              </a:solidFill>
            </a:endParaRPr>
          </a:p>
          <a:p>
            <a:r>
              <a:rPr lang="vi-VN" b="1" dirty="0">
                <a:solidFill>
                  <a:srgbClr val="FF8C00"/>
                </a:solidFill>
              </a:rPr>
              <a:t>Hàm thời gian</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11"/>
              </a:rPr>
              <a:t>millis()</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2"/>
              </a:rPr>
              <a:t>micros()</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3"/>
              </a:rPr>
              <a:t>delay()</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4"/>
              </a:rPr>
              <a:t>delayMicroseconds()</a:t>
            </a:r>
            <a:endParaRPr lang="vi-VN" dirty="0">
              <a:solidFill>
                <a:srgbClr val="262626"/>
              </a:solidFill>
              <a:latin typeface="Segoe UI" panose="020B0502040204020203" pitchFamily="34" charset="0"/>
            </a:endParaRPr>
          </a:p>
        </p:txBody>
      </p:sp>
      <p:sp>
        <p:nvSpPr>
          <p:cNvPr id="17" name="Rectangle 16">
            <a:extLst>
              <a:ext uri="{FF2B5EF4-FFF2-40B4-BE49-F238E27FC236}">
                <a16:creationId xmlns:a16="http://schemas.microsoft.com/office/drawing/2014/main" id="{2D0863EA-8DBC-0F8B-CF58-9B6AE5604992}"/>
              </a:ext>
            </a:extLst>
          </p:cNvPr>
          <p:cNvSpPr/>
          <p:nvPr/>
        </p:nvSpPr>
        <p:spPr>
          <a:xfrm>
            <a:off x="2644386" y="858912"/>
            <a:ext cx="2059766" cy="5355312"/>
          </a:xfrm>
          <a:prstGeom prst="rect">
            <a:avLst/>
          </a:prstGeom>
        </p:spPr>
        <p:txBody>
          <a:bodyPr wrap="square">
            <a:spAutoFit/>
          </a:bodyPr>
          <a:lstStyle/>
          <a:p>
            <a:r>
              <a:rPr lang="vi-VN" b="1" dirty="0">
                <a:solidFill>
                  <a:srgbClr val="FF8C00"/>
                </a:solidFill>
              </a:rPr>
              <a:t>Hàm toán học</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15"/>
              </a:rPr>
              <a:t>min()</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6"/>
              </a:rPr>
              <a:t>max()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7"/>
              </a:rPr>
              <a:t>abs()</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8"/>
              </a:rPr>
              <a:t>map()</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19"/>
              </a:rPr>
              <a:t>pow()</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0"/>
              </a:rPr>
              <a:t>sqrt()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1"/>
              </a:rPr>
              <a:t>sq()</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2"/>
              </a:rPr>
              <a:t>isnan()</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3"/>
              </a:rPr>
              <a:t>constrain()</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4"/>
              </a:rPr>
              <a:t>exp(x)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5"/>
              </a:rPr>
              <a:t>frexp(x, int *exp)</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6"/>
              </a:rPr>
              <a:t>ldexp(x, int exp)</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7"/>
              </a:rPr>
              <a:t>log(x)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8"/>
              </a:rPr>
              <a:t>log10(x)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29"/>
              </a:rPr>
              <a:t>modf(x, *i)</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0"/>
              </a:rPr>
              <a:t>ceil(x)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1"/>
              </a:rPr>
              <a:t>floor(x)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2"/>
              </a:rPr>
              <a:t>atoi(a[])</a:t>
            </a:r>
            <a:endParaRPr lang="vi-VN" dirty="0">
              <a:solidFill>
                <a:srgbClr val="262626"/>
              </a:solidFill>
              <a:latin typeface="Segoe UI" panose="020B0502040204020203" pitchFamily="34" charset="0"/>
            </a:endParaRPr>
          </a:p>
        </p:txBody>
      </p:sp>
      <p:sp>
        <p:nvSpPr>
          <p:cNvPr id="19" name="TextBox 18">
            <a:extLst>
              <a:ext uri="{FF2B5EF4-FFF2-40B4-BE49-F238E27FC236}">
                <a16:creationId xmlns:a16="http://schemas.microsoft.com/office/drawing/2014/main" id="{D44D032B-98C8-78F8-C933-5EF3EEDD493A}"/>
              </a:ext>
            </a:extLst>
          </p:cNvPr>
          <p:cNvSpPr txBox="1"/>
          <p:nvPr/>
        </p:nvSpPr>
        <p:spPr>
          <a:xfrm>
            <a:off x="4474944" y="856927"/>
            <a:ext cx="2486733" cy="5632311"/>
          </a:xfrm>
          <a:prstGeom prst="rect">
            <a:avLst/>
          </a:prstGeom>
          <a:noFill/>
        </p:spPr>
        <p:txBody>
          <a:bodyPr wrap="square">
            <a:spAutoFit/>
          </a:bodyPr>
          <a:lstStyle/>
          <a:p>
            <a:r>
              <a:rPr lang="vi-VN" b="1" dirty="0">
                <a:solidFill>
                  <a:srgbClr val="FF8C00"/>
                </a:solidFill>
              </a:rPr>
              <a:t>Hàm lượng giác</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33"/>
              </a:rPr>
              <a:t>cos()</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4"/>
              </a:rPr>
              <a:t>sin()</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5"/>
              </a:rPr>
              <a:t>tan()</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6"/>
              </a:rPr>
              <a:t>asin(x)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7"/>
              </a:rPr>
              <a:t>acos(x)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8"/>
              </a:rPr>
              <a:t>atan(x)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39"/>
              </a:rPr>
              <a:t>atan2(x, y)</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0"/>
              </a:rPr>
              <a:t>cosh(x)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1"/>
              </a:rPr>
              <a:t>sinh(x)</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2"/>
              </a:rPr>
              <a:t>tanh(x)</a:t>
            </a:r>
            <a:endParaRPr lang="vi-VN" dirty="0">
              <a:solidFill>
                <a:srgbClr val="262626"/>
              </a:solidFill>
              <a:latin typeface="Segoe UI" panose="020B0502040204020203" pitchFamily="34" charset="0"/>
            </a:endParaRPr>
          </a:p>
          <a:p>
            <a:r>
              <a:rPr lang="vi-VN" b="1" dirty="0">
                <a:solidFill>
                  <a:srgbClr val="FF8C00"/>
                </a:solidFill>
              </a:rPr>
              <a:t>Sinh số ngẫu nhiên</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43"/>
              </a:rPr>
              <a:t>randomSeed()</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4"/>
              </a:rPr>
              <a:t>random()</a:t>
            </a:r>
            <a:endParaRPr lang="vi-VN" dirty="0">
              <a:solidFill>
                <a:srgbClr val="262626"/>
              </a:solidFill>
              <a:latin typeface="Segoe UI" panose="020B0502040204020203" pitchFamily="34" charset="0"/>
            </a:endParaRPr>
          </a:p>
          <a:p>
            <a:r>
              <a:rPr lang="vi-VN" b="1" dirty="0">
                <a:solidFill>
                  <a:srgbClr val="FF8C00"/>
                </a:solidFill>
              </a:rPr>
              <a:t>Nhập xuất nâng cao </a:t>
            </a:r>
            <a:endParaRPr lang="en-US" b="1" dirty="0">
              <a:solidFill>
                <a:srgbClr val="FF8C00"/>
              </a:solidFill>
            </a:endParaRPr>
          </a:p>
          <a:p>
            <a:r>
              <a:rPr lang="vi-VN" dirty="0">
                <a:solidFill>
                  <a:srgbClr val="FFFFFF"/>
                </a:solidFill>
                <a:latin typeface="Segoe UI" panose="020B0502040204020203" pitchFamily="34" charset="0"/>
                <a:hlinkClick r:id="rId45"/>
              </a:rPr>
              <a:t>tone()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6"/>
              </a:rPr>
              <a:t>noTone()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47"/>
              </a:rPr>
              <a:t>shiftOut()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262626"/>
                </a:solidFill>
                <a:latin typeface="Segoe UI" panose="020B0502040204020203" pitchFamily="34" charset="0"/>
              </a:rPr>
              <a:t>shiftIn()</a:t>
            </a:r>
          </a:p>
          <a:p>
            <a:pPr>
              <a:buFont typeface="Arial" panose="020B0604020202020204" pitchFamily="34" charset="0"/>
              <a:buChar char="•"/>
            </a:pPr>
            <a:r>
              <a:rPr lang="vi-VN" dirty="0">
                <a:solidFill>
                  <a:srgbClr val="FFFFFF"/>
                </a:solidFill>
                <a:latin typeface="Segoe UI" panose="020B0502040204020203" pitchFamily="34" charset="0"/>
                <a:hlinkClick r:id="rId48"/>
              </a:rPr>
              <a:t>pulseIn()</a:t>
            </a:r>
            <a:endParaRPr lang="vi-VN" dirty="0">
              <a:solidFill>
                <a:srgbClr val="262626"/>
              </a:solidFill>
              <a:latin typeface="Segoe UI" panose="020B0502040204020203" pitchFamily="34" charset="0"/>
            </a:endParaRPr>
          </a:p>
        </p:txBody>
      </p:sp>
      <p:sp>
        <p:nvSpPr>
          <p:cNvPr id="20" name="Rectangle 19">
            <a:extLst>
              <a:ext uri="{FF2B5EF4-FFF2-40B4-BE49-F238E27FC236}">
                <a16:creationId xmlns:a16="http://schemas.microsoft.com/office/drawing/2014/main" id="{20D48243-FDA8-84E8-C60A-B30263D3A423}"/>
              </a:ext>
            </a:extLst>
          </p:cNvPr>
          <p:cNvSpPr/>
          <p:nvPr/>
        </p:nvSpPr>
        <p:spPr>
          <a:xfrm>
            <a:off x="6867130" y="858912"/>
            <a:ext cx="2376373" cy="4524315"/>
          </a:xfrm>
          <a:prstGeom prst="rect">
            <a:avLst/>
          </a:prstGeom>
        </p:spPr>
        <p:txBody>
          <a:bodyPr wrap="square">
            <a:spAutoFit/>
          </a:bodyPr>
          <a:lstStyle/>
          <a:p>
            <a:r>
              <a:rPr lang="vi-VN" b="1" dirty="0">
                <a:solidFill>
                  <a:srgbClr val="FF8C00"/>
                </a:solidFill>
              </a:rPr>
              <a:t>Xử lý chuỗi</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49"/>
              </a:rPr>
              <a:t>isAscii()</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0"/>
              </a:rPr>
              <a:t>isWhitespace()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1"/>
              </a:rPr>
              <a:t>isAlpha()</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2"/>
              </a:rPr>
              <a:t>isAlphaNumeric()</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3"/>
              </a:rPr>
              <a:t>isControl()</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4"/>
              </a:rPr>
              <a:t>isDigit()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5"/>
              </a:rPr>
              <a:t>isGraph()</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6"/>
              </a:rPr>
              <a:t>isLowerCase()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7"/>
              </a:rPr>
              <a:t>isPrintable()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8"/>
              </a:rPr>
              <a:t>isPunct()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59"/>
              </a:rPr>
              <a:t>isSpace()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0"/>
              </a:rPr>
              <a:t>isUpperCase()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2086BF"/>
                </a:solidFill>
                <a:latin typeface="Segoe UI" panose="020B0502040204020203" pitchFamily="34" charset="0"/>
                <a:hlinkClick r:id="rId61"/>
              </a:rPr>
              <a:t>isHexadecimalDigit()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2"/>
              </a:rPr>
              <a:t>tolower()</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3"/>
              </a:rPr>
              <a:t>toupper()</a:t>
            </a:r>
            <a:endParaRPr lang="vi-VN" dirty="0">
              <a:solidFill>
                <a:srgbClr val="262626"/>
              </a:solidFill>
              <a:latin typeface="Segoe UI" panose="020B0502040204020203" pitchFamily="34" charset="0"/>
            </a:endParaRPr>
          </a:p>
        </p:txBody>
      </p:sp>
      <p:sp>
        <p:nvSpPr>
          <p:cNvPr id="21" name="Rectangle 20">
            <a:extLst>
              <a:ext uri="{FF2B5EF4-FFF2-40B4-BE49-F238E27FC236}">
                <a16:creationId xmlns:a16="http://schemas.microsoft.com/office/drawing/2014/main" id="{3C1F7E99-7C71-BBF8-1EB1-1F4CC26D1749}"/>
              </a:ext>
            </a:extLst>
          </p:cNvPr>
          <p:cNvSpPr/>
          <p:nvPr/>
        </p:nvSpPr>
        <p:spPr>
          <a:xfrm>
            <a:off x="9243503" y="869074"/>
            <a:ext cx="2058357" cy="4247317"/>
          </a:xfrm>
          <a:prstGeom prst="rect">
            <a:avLst/>
          </a:prstGeom>
        </p:spPr>
        <p:txBody>
          <a:bodyPr wrap="square">
            <a:spAutoFit/>
          </a:bodyPr>
          <a:lstStyle/>
          <a:p>
            <a:r>
              <a:rPr lang="vi-VN" b="1" dirty="0">
                <a:solidFill>
                  <a:srgbClr val="FF8C00"/>
                </a:solidFill>
              </a:rPr>
              <a:t>Bits và Bytes</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64"/>
              </a:rPr>
              <a:t>lowByte()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5"/>
              </a:rPr>
              <a:t>highByte()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6"/>
              </a:rPr>
              <a:t>bitRead()</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7"/>
              </a:rPr>
              <a:t>bitWrite()</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8"/>
              </a:rPr>
              <a:t>bitSet()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69"/>
              </a:rPr>
              <a:t>bitClear()</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70"/>
              </a:rPr>
              <a:t>bit()</a:t>
            </a:r>
            <a:endParaRPr lang="vi-VN" dirty="0">
              <a:solidFill>
                <a:srgbClr val="262626"/>
              </a:solidFill>
              <a:latin typeface="Segoe UI" panose="020B0502040204020203" pitchFamily="34" charset="0"/>
            </a:endParaRPr>
          </a:p>
          <a:p>
            <a:r>
              <a:rPr lang="vi-VN" b="1" dirty="0">
                <a:solidFill>
                  <a:srgbClr val="FF8C00"/>
                </a:solidFill>
              </a:rPr>
              <a:t>Ngắt (interrupt)</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71"/>
              </a:rPr>
              <a:t>attachInterrupt()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72"/>
              </a:rPr>
              <a:t>detachInterrupt()</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73"/>
              </a:rPr>
              <a:t>interrupts()</a:t>
            </a:r>
            <a:endParaRPr lang="vi-VN" dirty="0">
              <a:solidFill>
                <a:srgbClr val="262626"/>
              </a:solidFill>
              <a:latin typeface="Segoe UI" panose="020B0502040204020203" pitchFamily="34" charset="0"/>
            </a:endParaRPr>
          </a:p>
          <a:p>
            <a:pPr>
              <a:buFont typeface="Arial" panose="020B0604020202020204" pitchFamily="34" charset="0"/>
              <a:buChar char="•"/>
            </a:pPr>
            <a:r>
              <a:rPr lang="vi-VN" dirty="0">
                <a:solidFill>
                  <a:srgbClr val="FFFFFF"/>
                </a:solidFill>
                <a:latin typeface="Segoe UI" panose="020B0502040204020203" pitchFamily="34" charset="0"/>
                <a:hlinkClick r:id="rId74"/>
              </a:rPr>
              <a:t>noInterrupts()</a:t>
            </a:r>
            <a:endParaRPr lang="vi-VN" dirty="0">
              <a:solidFill>
                <a:srgbClr val="262626"/>
              </a:solidFill>
              <a:latin typeface="Segoe UI" panose="020B0502040204020203" pitchFamily="34" charset="0"/>
            </a:endParaRPr>
          </a:p>
          <a:p>
            <a:r>
              <a:rPr lang="vi-VN" b="1" dirty="0">
                <a:solidFill>
                  <a:srgbClr val="FF8C00"/>
                </a:solidFill>
              </a:rPr>
              <a:t>Giao tiếp</a:t>
            </a:r>
            <a:endParaRPr lang="vi-VN" b="1" dirty="0">
              <a:solidFill>
                <a:srgbClr val="000000"/>
              </a:solidFill>
            </a:endParaRPr>
          </a:p>
          <a:p>
            <a:pPr>
              <a:buFont typeface="Arial" panose="020B0604020202020204" pitchFamily="34" charset="0"/>
              <a:buChar char="•"/>
            </a:pPr>
            <a:r>
              <a:rPr lang="vi-VN" dirty="0">
                <a:solidFill>
                  <a:srgbClr val="FFFFFF"/>
                </a:solidFill>
                <a:latin typeface="Segoe UI" panose="020B0502040204020203" pitchFamily="34" charset="0"/>
                <a:hlinkClick r:id="rId75"/>
              </a:rPr>
              <a:t>Serial</a:t>
            </a:r>
            <a:endParaRPr lang="vi-VN" b="0" i="0" dirty="0">
              <a:solidFill>
                <a:srgbClr val="262626"/>
              </a:solidFill>
              <a:effectLst/>
              <a:latin typeface="Segoe UI" panose="020B0502040204020203" pitchFamily="34" charset="0"/>
            </a:endParaRPr>
          </a:p>
        </p:txBody>
      </p:sp>
    </p:spTree>
    <p:extLst>
      <p:ext uri="{BB962C8B-B14F-4D97-AF65-F5344CB8AC3E}">
        <p14:creationId xmlns:p14="http://schemas.microsoft.com/office/powerpoint/2010/main" val="2895628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804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0DB98491-D68E-C542-BD0C-027E3DFACF52}" vid="{DA9A954A-E898-704B-8431-9833A31518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2280</TotalTime>
  <Words>3034</Words>
  <Application>Microsoft Office PowerPoint</Application>
  <PresentationFormat>Widescreen</PresentationFormat>
  <Paragraphs>402</Paragraphs>
  <Slides>33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Segoe UI</vt:lpstr>
      <vt:lpstr>Office Theme</vt:lpstr>
      <vt:lpstr>CSE703023. Kiến trúc máy tính</vt:lpstr>
      <vt:lpstr>Nội dung</vt:lpstr>
      <vt:lpstr>1.1 Giới thiệu về Arduino</vt:lpstr>
      <vt:lpstr>1.1 Giới thiệu về Arduino</vt:lpstr>
      <vt:lpstr>1.1 Giới thiệu về Arduino</vt:lpstr>
      <vt:lpstr>1.2 Cấu trúc Bảng mạch Arduino</vt:lpstr>
      <vt:lpstr>1.2 Cấu trúc Bảng mạch Arduino</vt:lpstr>
      <vt:lpstr>1.2 Cấu trúc Bảng mạch Arduino</vt:lpstr>
      <vt:lpstr>1.2 Cấu trúc Bảng mạch Arduino</vt:lpstr>
      <vt:lpstr>1.2 Cấu trúc Bảng mạch Arduino</vt:lpstr>
      <vt:lpstr>1.2 Cấu trúc Bảng mạch Arduino</vt:lpstr>
      <vt:lpstr>1.2 Cấu trúc Bảng mạch Arduino</vt:lpstr>
      <vt:lpstr>1.2 Cấu trúc Bảng mạch Arduino</vt:lpstr>
      <vt:lpstr>1.3 Hướng dẫn cài đặt và sử dụng Arduino IDE</vt:lpstr>
      <vt:lpstr>1.3 Hướng dẫn cài đặt và sử dụng Arduino IDE</vt:lpstr>
      <vt:lpstr>1.3 Hướng dẫn cài đặt và sử dụng Arduino IDE</vt:lpstr>
      <vt:lpstr>1.3 Hướng dẫn cài đặt và sử dụng Arduino IDE</vt:lpstr>
      <vt:lpstr>1.3 Hướng dẫn cài đặt và sử dụng Arduino IDE</vt:lpstr>
      <vt:lpstr>1.3 Hướng dẫn cài đặt và sử dụng Arduino IDE</vt:lpstr>
      <vt:lpstr>1.3 Hướng dẫn cài đặt và sử dụng Arduino IDE</vt:lpstr>
      <vt:lpstr>1.4 Hướng dẫn sử dụng phần mềm mô phỏng Proteus</vt:lpstr>
      <vt:lpstr>1.4 Hướng dẫn sử dụng phần mềm mô phỏng Proteus</vt:lpstr>
      <vt:lpstr>1.4 Hướng dẫn sử dụng phần mềm mô phỏng Proteus</vt:lpstr>
      <vt:lpstr>1.4 Hướng dẫn sử dụng phần mềm mô phỏng Proteus</vt:lpstr>
      <vt:lpstr>1.4 Hướng dẫn sử dụng phần mềm mô phỏng Proteus</vt:lpstr>
      <vt:lpstr>1.5 Lập trình và chạy chương trình với Arduino</vt:lpstr>
      <vt:lpstr>1.5 Lập trình và chạy chương trình với Arduino</vt:lpstr>
      <vt:lpstr>1.5 Lập trình và chạy chương trình với Arduino</vt:lpstr>
      <vt:lpstr>1.5 Lập trình và chạy chương trình với Arduino</vt:lpstr>
      <vt:lpstr>1.5 Lập trình và chạy chương trình với Arduino</vt:lpstr>
      <vt:lpstr>1.5 Lập trình và chạy chương trình với Arduino</vt:lpstr>
      <vt:lpstr>1.5 Lập trình và chạy chương trình với Arduino</vt:lpstr>
      <vt:lpstr>PowerPoint Presentation</vt:lpstr>
    </vt:vector>
  </TitlesOfParts>
  <Manager/>
  <Company>Khoa CNTT - Trường Đại học Phenikaa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Kiến trúc máy tính</dc:subject>
  <dc:creator>Phạm Ngọc Hưng</dc:creator>
  <cp:keywords/>
  <dc:description/>
  <cp:lastModifiedBy>Vu Van Quang</cp:lastModifiedBy>
  <cp:revision>251</cp:revision>
  <dcterms:created xsi:type="dcterms:W3CDTF">2023-02-22T02:37:07Z</dcterms:created>
  <dcterms:modified xsi:type="dcterms:W3CDTF">2025-05-10T10:08:09Z</dcterms:modified>
  <cp:category/>
</cp:coreProperties>
</file>